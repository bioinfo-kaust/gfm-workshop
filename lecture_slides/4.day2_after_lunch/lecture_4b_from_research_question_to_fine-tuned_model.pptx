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8" r:id="rId5"/>
    <p:sldId id="375" r:id="rId6"/>
    <p:sldId id="397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6" r:id="rId16"/>
    <p:sldId id="394" r:id="rId17"/>
    <p:sldId id="393" r:id="rId18"/>
    <p:sldId id="387" r:id="rId19"/>
    <p:sldId id="388" r:id="rId20"/>
    <p:sldId id="391" r:id="rId21"/>
    <p:sldId id="392" r:id="rId22"/>
    <p:sldId id="389" r:id="rId23"/>
    <p:sldId id="390" r:id="rId24"/>
    <p:sldId id="395" r:id="rId25"/>
    <p:sldId id="398" r:id="rId26"/>
    <p:sldId id="359" r:id="rId27"/>
    <p:sldId id="39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AF"/>
    <a:srgbClr val="009193"/>
    <a:srgbClr val="F89500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54" autoAdjust="0"/>
    <p:restoredTop sz="80408" autoAdjust="0"/>
  </p:normalViewPr>
  <p:slideViewPr>
    <p:cSldViewPr snapToGrid="0">
      <p:cViewPr varScale="1">
        <p:scale>
          <a:sx n="102" d="100"/>
          <a:sy n="102" d="100"/>
        </p:scale>
        <p:origin x="512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E602FE-2993-BC4D-8BF9-45A14418ADA6}" type="doc">
      <dgm:prSet loTypeId="urn:microsoft.com/office/officeart/2005/8/layout/hList7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F403046-09B8-FB4E-9D4F-DA6F6ED337C5}">
      <dgm:prSet phldrT="[Text]" custT="1"/>
      <dgm:spPr/>
      <dgm:t>
        <a:bodyPr/>
        <a:lstStyle/>
        <a:p>
          <a:pPr rtl="0"/>
          <a:r>
            <a:rPr lang="en-US" sz="1500" b="0" dirty="0"/>
            <a:t>Translate a biological research question into a GFM task definition</a:t>
          </a:r>
        </a:p>
      </dgm:t>
    </dgm:pt>
    <dgm:pt modelId="{2AA0CFE1-FDEE-AA4B-B1E0-B9E95AF49049}" type="parTrans" cxnId="{3B6FDF09-D537-E24A-86A0-C3203FCDFEF0}">
      <dgm:prSet/>
      <dgm:spPr/>
      <dgm:t>
        <a:bodyPr/>
        <a:lstStyle/>
        <a:p>
          <a:endParaRPr lang="en-US" sz="1500" b="0"/>
        </a:p>
      </dgm:t>
    </dgm:pt>
    <dgm:pt modelId="{C15A8954-945E-564E-B098-94257461E872}" type="sibTrans" cxnId="{3B6FDF09-D537-E24A-86A0-C3203FCDFEF0}">
      <dgm:prSet/>
      <dgm:spPr/>
      <dgm:t>
        <a:bodyPr/>
        <a:lstStyle/>
        <a:p>
          <a:endParaRPr lang="en-US" sz="1500" b="0"/>
        </a:p>
      </dgm:t>
    </dgm:pt>
    <dgm:pt modelId="{FBB3D880-4397-864E-A2C3-5567E873CCC3}">
      <dgm:prSet custT="1"/>
      <dgm:spPr/>
      <dgm:t>
        <a:bodyPr/>
        <a:lstStyle/>
        <a:p>
          <a:r>
            <a:rPr lang="en-US" sz="1500" b="0" dirty="0"/>
            <a:t>Select an appropriate model and fine-tuning strategy</a:t>
          </a:r>
        </a:p>
      </dgm:t>
    </dgm:pt>
    <dgm:pt modelId="{3DF8E7CD-5126-A84C-B587-FC52D9671419}" type="parTrans" cxnId="{1BE2A50A-974B-0741-8160-A05AEEECAABB}">
      <dgm:prSet/>
      <dgm:spPr/>
      <dgm:t>
        <a:bodyPr/>
        <a:lstStyle/>
        <a:p>
          <a:endParaRPr lang="en-US" sz="1500" b="0"/>
        </a:p>
      </dgm:t>
    </dgm:pt>
    <dgm:pt modelId="{4843706A-5515-F44D-BA70-87CB24BADDB2}" type="sibTrans" cxnId="{1BE2A50A-974B-0741-8160-A05AEEECAABB}">
      <dgm:prSet/>
      <dgm:spPr/>
      <dgm:t>
        <a:bodyPr/>
        <a:lstStyle/>
        <a:p>
          <a:endParaRPr lang="en-US" sz="1500" b="0"/>
        </a:p>
      </dgm:t>
    </dgm:pt>
    <dgm:pt modelId="{A95E1C81-1C98-4F4C-9EB2-D5BEE7EDC0A6}">
      <dgm:prSet custT="1"/>
      <dgm:spPr/>
      <dgm:t>
        <a:bodyPr/>
        <a:lstStyle/>
        <a:p>
          <a:r>
            <a:rPr lang="en-US" sz="1500" b="0" dirty="0"/>
            <a:t>Prepare and split data in biologically and statistically robust ways</a:t>
          </a:r>
        </a:p>
      </dgm:t>
    </dgm:pt>
    <dgm:pt modelId="{168D88BC-C65F-FC49-9E7C-F4522F16B635}" type="parTrans" cxnId="{3BE2FB1F-03FA-6D47-BEB2-A164F212BA95}">
      <dgm:prSet/>
      <dgm:spPr/>
      <dgm:t>
        <a:bodyPr/>
        <a:lstStyle/>
        <a:p>
          <a:endParaRPr lang="en-US" sz="1500" b="0"/>
        </a:p>
      </dgm:t>
    </dgm:pt>
    <dgm:pt modelId="{63023D6B-7A2E-A54B-A8BB-787248D6E3BC}" type="sibTrans" cxnId="{3BE2FB1F-03FA-6D47-BEB2-A164F212BA95}">
      <dgm:prSet/>
      <dgm:spPr/>
      <dgm:t>
        <a:bodyPr/>
        <a:lstStyle/>
        <a:p>
          <a:endParaRPr lang="en-US" sz="1500" b="0"/>
        </a:p>
      </dgm:t>
    </dgm:pt>
    <dgm:pt modelId="{BC75DE28-0B3E-3D49-9013-FA039E57B7F7}">
      <dgm:prSet custT="1"/>
      <dgm:spPr/>
      <dgm:t>
        <a:bodyPr/>
        <a:lstStyle/>
        <a:p>
          <a:r>
            <a:rPr lang="en-US" sz="1500" b="0" dirty="0"/>
            <a:t>Use the model’s native tokenization + preprocessing correctly</a:t>
          </a:r>
        </a:p>
      </dgm:t>
    </dgm:pt>
    <dgm:pt modelId="{1115BBD2-DC16-5B49-B44E-235F9057CF87}" type="parTrans" cxnId="{5899661D-4312-C246-8A36-BEBBFB26EF6B}">
      <dgm:prSet/>
      <dgm:spPr/>
      <dgm:t>
        <a:bodyPr/>
        <a:lstStyle/>
        <a:p>
          <a:endParaRPr lang="en-US" sz="1500" b="0"/>
        </a:p>
      </dgm:t>
    </dgm:pt>
    <dgm:pt modelId="{4B2704DC-E04C-A24E-8809-E744CAF6B49F}" type="sibTrans" cxnId="{5899661D-4312-C246-8A36-BEBBFB26EF6B}">
      <dgm:prSet/>
      <dgm:spPr/>
      <dgm:t>
        <a:bodyPr/>
        <a:lstStyle/>
        <a:p>
          <a:endParaRPr lang="en-US" sz="1500" b="0"/>
        </a:p>
      </dgm:t>
    </dgm:pt>
    <dgm:pt modelId="{B9A4B8E0-4420-2A4C-9D3D-D59403F9F523}">
      <dgm:prSet custT="1"/>
      <dgm:spPr/>
      <dgm:t>
        <a:bodyPr/>
        <a:lstStyle/>
        <a:p>
          <a:r>
            <a:rPr lang="en-US" sz="1500" b="0" dirty="0"/>
            <a:t>Design experiments with valid metrics and evaluation protocols</a:t>
          </a:r>
        </a:p>
      </dgm:t>
    </dgm:pt>
    <dgm:pt modelId="{3C15B770-02AC-7F42-888B-CBC9A806939F}" type="parTrans" cxnId="{F4EAB34A-6E0D-1946-B0A2-E2AF2FEF7E19}">
      <dgm:prSet/>
      <dgm:spPr/>
      <dgm:t>
        <a:bodyPr/>
        <a:lstStyle/>
        <a:p>
          <a:endParaRPr lang="en-US" sz="1500" b="0"/>
        </a:p>
      </dgm:t>
    </dgm:pt>
    <dgm:pt modelId="{CC6EAE93-79D7-A548-93F5-EBE68DDDCB6A}" type="sibTrans" cxnId="{F4EAB34A-6E0D-1946-B0A2-E2AF2FEF7E19}">
      <dgm:prSet/>
      <dgm:spPr/>
      <dgm:t>
        <a:bodyPr/>
        <a:lstStyle/>
        <a:p>
          <a:endParaRPr lang="en-US" sz="1500" b="0"/>
        </a:p>
      </dgm:t>
    </dgm:pt>
    <dgm:pt modelId="{62E2655D-231F-294B-92FB-5009C3249E34}" type="pres">
      <dgm:prSet presAssocID="{C8E602FE-2993-BC4D-8BF9-45A14418ADA6}" presName="Name0" presStyleCnt="0">
        <dgm:presLayoutVars>
          <dgm:dir/>
          <dgm:resizeHandles val="exact"/>
        </dgm:presLayoutVars>
      </dgm:prSet>
      <dgm:spPr/>
    </dgm:pt>
    <dgm:pt modelId="{892EF54C-9BE8-3240-8058-89952F88CB93}" type="pres">
      <dgm:prSet presAssocID="{C8E602FE-2993-BC4D-8BF9-45A14418ADA6}" presName="fgShape" presStyleLbl="fgShp" presStyleIdx="0" presStyleCnt="1"/>
      <dgm:spPr>
        <a:prstGeom prst="rightArrow">
          <a:avLst/>
        </a:prstGeom>
      </dgm:spPr>
    </dgm:pt>
    <dgm:pt modelId="{85109C8C-B421-4C42-B3CC-41DFC1FE4B56}" type="pres">
      <dgm:prSet presAssocID="{C8E602FE-2993-BC4D-8BF9-45A14418ADA6}" presName="linComp" presStyleCnt="0"/>
      <dgm:spPr/>
    </dgm:pt>
    <dgm:pt modelId="{3A28B232-9EBB-C44E-ADCD-1625626B1140}" type="pres">
      <dgm:prSet presAssocID="{EF403046-09B8-FB4E-9D4F-DA6F6ED337C5}" presName="compNode" presStyleCnt="0"/>
      <dgm:spPr/>
    </dgm:pt>
    <dgm:pt modelId="{D4DF8908-FDBD-1E49-9EAC-9AC14206F43A}" type="pres">
      <dgm:prSet presAssocID="{EF403046-09B8-FB4E-9D4F-DA6F6ED337C5}" presName="bkgdShape" presStyleLbl="node1" presStyleIdx="0" presStyleCnt="5"/>
      <dgm:spPr/>
    </dgm:pt>
    <dgm:pt modelId="{27BA0868-143A-CA4A-A16D-EA1803E3C614}" type="pres">
      <dgm:prSet presAssocID="{EF403046-09B8-FB4E-9D4F-DA6F6ED337C5}" presName="nodeTx" presStyleLbl="node1" presStyleIdx="0" presStyleCnt="5">
        <dgm:presLayoutVars>
          <dgm:bulletEnabled val="1"/>
        </dgm:presLayoutVars>
      </dgm:prSet>
      <dgm:spPr/>
    </dgm:pt>
    <dgm:pt modelId="{CAEBE70F-7AD4-D541-A95D-6BFEB05B835F}" type="pres">
      <dgm:prSet presAssocID="{EF403046-09B8-FB4E-9D4F-DA6F6ED337C5}" presName="invisiNode" presStyleLbl="node1" presStyleIdx="0" presStyleCnt="5"/>
      <dgm:spPr/>
    </dgm:pt>
    <dgm:pt modelId="{1D81FD89-AC53-564B-BC32-3C2CEF3A4EE0}" type="pres">
      <dgm:prSet presAssocID="{EF403046-09B8-FB4E-9D4F-DA6F6ED337C5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 outline"/>
        </a:ext>
      </dgm:extLst>
    </dgm:pt>
    <dgm:pt modelId="{20434088-BE77-7D4C-8302-36810CD20309}" type="pres">
      <dgm:prSet presAssocID="{C15A8954-945E-564E-B098-94257461E872}" presName="sibTrans" presStyleLbl="sibTrans2D1" presStyleIdx="0" presStyleCnt="0"/>
      <dgm:spPr/>
    </dgm:pt>
    <dgm:pt modelId="{4D50ED61-EDB5-0349-891E-1E071D5ACE31}" type="pres">
      <dgm:prSet presAssocID="{FBB3D880-4397-864E-A2C3-5567E873CCC3}" presName="compNode" presStyleCnt="0"/>
      <dgm:spPr/>
    </dgm:pt>
    <dgm:pt modelId="{4A549B10-8409-0B4B-8DBF-4ABB7D87217B}" type="pres">
      <dgm:prSet presAssocID="{FBB3D880-4397-864E-A2C3-5567E873CCC3}" presName="bkgdShape" presStyleLbl="node1" presStyleIdx="1" presStyleCnt="5"/>
      <dgm:spPr/>
    </dgm:pt>
    <dgm:pt modelId="{33B2C928-115B-7846-8F3B-3FFAA1EB1743}" type="pres">
      <dgm:prSet presAssocID="{FBB3D880-4397-864E-A2C3-5567E873CCC3}" presName="nodeTx" presStyleLbl="node1" presStyleIdx="1" presStyleCnt="5">
        <dgm:presLayoutVars>
          <dgm:bulletEnabled val="1"/>
        </dgm:presLayoutVars>
      </dgm:prSet>
      <dgm:spPr/>
    </dgm:pt>
    <dgm:pt modelId="{6D2C899A-4606-284D-8657-5FD9820A42F2}" type="pres">
      <dgm:prSet presAssocID="{FBB3D880-4397-864E-A2C3-5567E873CCC3}" presName="invisiNode" presStyleLbl="node1" presStyleIdx="1" presStyleCnt="5"/>
      <dgm:spPr/>
    </dgm:pt>
    <dgm:pt modelId="{407BB15F-73B7-6A4C-B032-B39EEEDE2A84}" type="pres">
      <dgm:prSet presAssocID="{FBB3D880-4397-864E-A2C3-5567E873CCC3}" presName="imagNode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 outline"/>
        </a:ext>
      </dgm:extLst>
    </dgm:pt>
    <dgm:pt modelId="{754C1FBB-CC94-864B-9C20-AC0C63688738}" type="pres">
      <dgm:prSet presAssocID="{4843706A-5515-F44D-BA70-87CB24BADDB2}" presName="sibTrans" presStyleLbl="sibTrans2D1" presStyleIdx="0" presStyleCnt="0"/>
      <dgm:spPr/>
    </dgm:pt>
    <dgm:pt modelId="{39B82361-3ED1-9B46-8061-D367C92157EE}" type="pres">
      <dgm:prSet presAssocID="{A95E1C81-1C98-4F4C-9EB2-D5BEE7EDC0A6}" presName="compNode" presStyleCnt="0"/>
      <dgm:spPr/>
    </dgm:pt>
    <dgm:pt modelId="{854A6557-1970-644F-B17E-527689E488FB}" type="pres">
      <dgm:prSet presAssocID="{A95E1C81-1C98-4F4C-9EB2-D5BEE7EDC0A6}" presName="bkgdShape" presStyleLbl="node1" presStyleIdx="2" presStyleCnt="5"/>
      <dgm:spPr/>
    </dgm:pt>
    <dgm:pt modelId="{DC4EF2DA-3279-5746-8837-0509DE312344}" type="pres">
      <dgm:prSet presAssocID="{A95E1C81-1C98-4F4C-9EB2-D5BEE7EDC0A6}" presName="nodeTx" presStyleLbl="node1" presStyleIdx="2" presStyleCnt="5">
        <dgm:presLayoutVars>
          <dgm:bulletEnabled val="1"/>
        </dgm:presLayoutVars>
      </dgm:prSet>
      <dgm:spPr/>
    </dgm:pt>
    <dgm:pt modelId="{AAD435BD-2DFA-D34A-8056-C6F9D0B52A4A}" type="pres">
      <dgm:prSet presAssocID="{A95E1C81-1C98-4F4C-9EB2-D5BEE7EDC0A6}" presName="invisiNode" presStyleLbl="node1" presStyleIdx="2" presStyleCnt="5"/>
      <dgm:spPr/>
    </dgm:pt>
    <dgm:pt modelId="{D57836B1-D49E-A14C-83B5-F1923B8F12DF}" type="pres">
      <dgm:prSet presAssocID="{A95E1C81-1C98-4F4C-9EB2-D5BEE7EDC0A6}" presName="imagNode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lder Search outline"/>
        </a:ext>
      </dgm:extLst>
    </dgm:pt>
    <dgm:pt modelId="{4136E9BB-3D20-1244-A066-DDEE14D127DC}" type="pres">
      <dgm:prSet presAssocID="{63023D6B-7A2E-A54B-A8BB-787248D6E3BC}" presName="sibTrans" presStyleLbl="sibTrans2D1" presStyleIdx="0" presStyleCnt="0"/>
      <dgm:spPr/>
    </dgm:pt>
    <dgm:pt modelId="{C1696A4D-7737-2041-BC0F-AA2E8E3E574F}" type="pres">
      <dgm:prSet presAssocID="{BC75DE28-0B3E-3D49-9013-FA039E57B7F7}" presName="compNode" presStyleCnt="0"/>
      <dgm:spPr/>
    </dgm:pt>
    <dgm:pt modelId="{C23613CF-A1BF-4B41-B85F-12DF5D554E87}" type="pres">
      <dgm:prSet presAssocID="{BC75DE28-0B3E-3D49-9013-FA039E57B7F7}" presName="bkgdShape" presStyleLbl="node1" presStyleIdx="3" presStyleCnt="5"/>
      <dgm:spPr/>
    </dgm:pt>
    <dgm:pt modelId="{C6BE37F1-BA08-6344-BD41-EFBB9D6DD115}" type="pres">
      <dgm:prSet presAssocID="{BC75DE28-0B3E-3D49-9013-FA039E57B7F7}" presName="nodeTx" presStyleLbl="node1" presStyleIdx="3" presStyleCnt="5">
        <dgm:presLayoutVars>
          <dgm:bulletEnabled val="1"/>
        </dgm:presLayoutVars>
      </dgm:prSet>
      <dgm:spPr/>
    </dgm:pt>
    <dgm:pt modelId="{65B58EFE-F1C8-F04E-A3DB-205E122D0B50}" type="pres">
      <dgm:prSet presAssocID="{BC75DE28-0B3E-3D49-9013-FA039E57B7F7}" presName="invisiNode" presStyleLbl="node1" presStyleIdx="3" presStyleCnt="5"/>
      <dgm:spPr/>
    </dgm:pt>
    <dgm:pt modelId="{70EF76DE-A30C-7142-81C9-2D3C9B0B66E3}" type="pres">
      <dgm:prSet presAssocID="{BC75DE28-0B3E-3D49-9013-FA039E57B7F7}" presName="imagNode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 outline"/>
        </a:ext>
      </dgm:extLst>
    </dgm:pt>
    <dgm:pt modelId="{D04994E4-21C5-634E-AF68-D405EC4BB66D}" type="pres">
      <dgm:prSet presAssocID="{4B2704DC-E04C-A24E-8809-E744CAF6B49F}" presName="sibTrans" presStyleLbl="sibTrans2D1" presStyleIdx="0" presStyleCnt="0"/>
      <dgm:spPr/>
    </dgm:pt>
    <dgm:pt modelId="{3BB1F617-A508-3C49-A273-B80FC24BD145}" type="pres">
      <dgm:prSet presAssocID="{B9A4B8E0-4420-2A4C-9D3D-D59403F9F523}" presName="compNode" presStyleCnt="0"/>
      <dgm:spPr/>
    </dgm:pt>
    <dgm:pt modelId="{06A4134D-71E0-5248-915D-D6E49D7BB7BA}" type="pres">
      <dgm:prSet presAssocID="{B9A4B8E0-4420-2A4C-9D3D-D59403F9F523}" presName="bkgdShape" presStyleLbl="node1" presStyleIdx="4" presStyleCnt="5"/>
      <dgm:spPr/>
    </dgm:pt>
    <dgm:pt modelId="{34F7EF2D-67E9-1C4D-8EC4-CDD0D1FE26C4}" type="pres">
      <dgm:prSet presAssocID="{B9A4B8E0-4420-2A4C-9D3D-D59403F9F523}" presName="nodeTx" presStyleLbl="node1" presStyleIdx="4" presStyleCnt="5">
        <dgm:presLayoutVars>
          <dgm:bulletEnabled val="1"/>
        </dgm:presLayoutVars>
      </dgm:prSet>
      <dgm:spPr/>
    </dgm:pt>
    <dgm:pt modelId="{F08AC0B4-3580-084A-9E29-CECFF6152FDC}" type="pres">
      <dgm:prSet presAssocID="{B9A4B8E0-4420-2A4C-9D3D-D59403F9F523}" presName="invisiNode" presStyleLbl="node1" presStyleIdx="4" presStyleCnt="5"/>
      <dgm:spPr/>
    </dgm:pt>
    <dgm:pt modelId="{359FD1B9-BED5-1A41-A0D5-2C4FCEFE8599}" type="pres">
      <dgm:prSet presAssocID="{B9A4B8E0-4420-2A4C-9D3D-D59403F9F523}" presName="imagNode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outline"/>
        </a:ext>
      </dgm:extLst>
    </dgm:pt>
  </dgm:ptLst>
  <dgm:cxnLst>
    <dgm:cxn modelId="{3B6FDF09-D537-E24A-86A0-C3203FCDFEF0}" srcId="{C8E602FE-2993-BC4D-8BF9-45A14418ADA6}" destId="{EF403046-09B8-FB4E-9D4F-DA6F6ED337C5}" srcOrd="0" destOrd="0" parTransId="{2AA0CFE1-FDEE-AA4B-B1E0-B9E95AF49049}" sibTransId="{C15A8954-945E-564E-B098-94257461E872}"/>
    <dgm:cxn modelId="{1BE2A50A-974B-0741-8160-A05AEEECAABB}" srcId="{C8E602FE-2993-BC4D-8BF9-45A14418ADA6}" destId="{FBB3D880-4397-864E-A2C3-5567E873CCC3}" srcOrd="1" destOrd="0" parTransId="{3DF8E7CD-5126-A84C-B587-FC52D9671419}" sibTransId="{4843706A-5515-F44D-BA70-87CB24BADDB2}"/>
    <dgm:cxn modelId="{5899661D-4312-C246-8A36-BEBBFB26EF6B}" srcId="{C8E602FE-2993-BC4D-8BF9-45A14418ADA6}" destId="{BC75DE28-0B3E-3D49-9013-FA039E57B7F7}" srcOrd="3" destOrd="0" parTransId="{1115BBD2-DC16-5B49-B44E-235F9057CF87}" sibTransId="{4B2704DC-E04C-A24E-8809-E744CAF6B49F}"/>
    <dgm:cxn modelId="{3BE2FB1F-03FA-6D47-BEB2-A164F212BA95}" srcId="{C8E602FE-2993-BC4D-8BF9-45A14418ADA6}" destId="{A95E1C81-1C98-4F4C-9EB2-D5BEE7EDC0A6}" srcOrd="2" destOrd="0" parTransId="{168D88BC-C65F-FC49-9E7C-F4522F16B635}" sibTransId="{63023D6B-7A2E-A54B-A8BB-787248D6E3BC}"/>
    <dgm:cxn modelId="{44939321-B0D4-674E-988C-B2B4AD3B7A36}" type="presOf" srcId="{4B2704DC-E04C-A24E-8809-E744CAF6B49F}" destId="{D04994E4-21C5-634E-AF68-D405EC4BB66D}" srcOrd="0" destOrd="0" presId="urn:microsoft.com/office/officeart/2005/8/layout/hList7"/>
    <dgm:cxn modelId="{C6921F34-26C0-C943-9E58-AC4E6620C015}" type="presOf" srcId="{4843706A-5515-F44D-BA70-87CB24BADDB2}" destId="{754C1FBB-CC94-864B-9C20-AC0C63688738}" srcOrd="0" destOrd="0" presId="urn:microsoft.com/office/officeart/2005/8/layout/hList7"/>
    <dgm:cxn modelId="{D09BF737-D59E-5B4B-86DC-64A139DE56DE}" type="presOf" srcId="{C8E602FE-2993-BC4D-8BF9-45A14418ADA6}" destId="{62E2655D-231F-294B-92FB-5009C3249E34}" srcOrd="0" destOrd="0" presId="urn:microsoft.com/office/officeart/2005/8/layout/hList7"/>
    <dgm:cxn modelId="{68E30F44-FD10-0E41-8BEC-5E7BEEECA522}" type="presOf" srcId="{EF403046-09B8-FB4E-9D4F-DA6F6ED337C5}" destId="{27BA0868-143A-CA4A-A16D-EA1803E3C614}" srcOrd="1" destOrd="0" presId="urn:microsoft.com/office/officeart/2005/8/layout/hList7"/>
    <dgm:cxn modelId="{05F54147-E972-6448-BDE8-AEADC26C17AD}" type="presOf" srcId="{BC75DE28-0B3E-3D49-9013-FA039E57B7F7}" destId="{C23613CF-A1BF-4B41-B85F-12DF5D554E87}" srcOrd="0" destOrd="0" presId="urn:microsoft.com/office/officeart/2005/8/layout/hList7"/>
    <dgm:cxn modelId="{F4EAB34A-6E0D-1946-B0A2-E2AF2FEF7E19}" srcId="{C8E602FE-2993-BC4D-8BF9-45A14418ADA6}" destId="{B9A4B8E0-4420-2A4C-9D3D-D59403F9F523}" srcOrd="4" destOrd="0" parTransId="{3C15B770-02AC-7F42-888B-CBC9A806939F}" sibTransId="{CC6EAE93-79D7-A548-93F5-EBE68DDDCB6A}"/>
    <dgm:cxn modelId="{0FD5E155-6900-9042-8289-B8C7EFA0E2BC}" type="presOf" srcId="{A95E1C81-1C98-4F4C-9EB2-D5BEE7EDC0A6}" destId="{854A6557-1970-644F-B17E-527689E488FB}" srcOrd="0" destOrd="0" presId="urn:microsoft.com/office/officeart/2005/8/layout/hList7"/>
    <dgm:cxn modelId="{DA00785D-D66A-A447-AAAD-AD5B8BCFC970}" type="presOf" srcId="{FBB3D880-4397-864E-A2C3-5567E873CCC3}" destId="{4A549B10-8409-0B4B-8DBF-4ABB7D87217B}" srcOrd="0" destOrd="0" presId="urn:microsoft.com/office/officeart/2005/8/layout/hList7"/>
    <dgm:cxn modelId="{05625876-313A-5D48-981E-01B23FCB16FD}" type="presOf" srcId="{B9A4B8E0-4420-2A4C-9D3D-D59403F9F523}" destId="{34F7EF2D-67E9-1C4D-8EC4-CDD0D1FE26C4}" srcOrd="1" destOrd="0" presId="urn:microsoft.com/office/officeart/2005/8/layout/hList7"/>
    <dgm:cxn modelId="{E24F608F-1377-5B4E-AFF9-E50AA713DF08}" type="presOf" srcId="{63023D6B-7A2E-A54B-A8BB-787248D6E3BC}" destId="{4136E9BB-3D20-1244-A066-DDEE14D127DC}" srcOrd="0" destOrd="0" presId="urn:microsoft.com/office/officeart/2005/8/layout/hList7"/>
    <dgm:cxn modelId="{868DB09C-E328-9A4E-A320-AEBE4EFBE558}" type="presOf" srcId="{EF403046-09B8-FB4E-9D4F-DA6F6ED337C5}" destId="{D4DF8908-FDBD-1E49-9EAC-9AC14206F43A}" srcOrd="0" destOrd="0" presId="urn:microsoft.com/office/officeart/2005/8/layout/hList7"/>
    <dgm:cxn modelId="{D794FE9F-CCF7-A748-8FEA-F0254922BD35}" type="presOf" srcId="{C15A8954-945E-564E-B098-94257461E872}" destId="{20434088-BE77-7D4C-8302-36810CD20309}" srcOrd="0" destOrd="0" presId="urn:microsoft.com/office/officeart/2005/8/layout/hList7"/>
    <dgm:cxn modelId="{69B00FA0-1D36-4B48-9F41-78A04D74A898}" type="presOf" srcId="{FBB3D880-4397-864E-A2C3-5567E873CCC3}" destId="{33B2C928-115B-7846-8F3B-3FFAA1EB1743}" srcOrd="1" destOrd="0" presId="urn:microsoft.com/office/officeart/2005/8/layout/hList7"/>
    <dgm:cxn modelId="{0965DAC5-4EAA-484D-81AC-216E9F006F5F}" type="presOf" srcId="{BC75DE28-0B3E-3D49-9013-FA039E57B7F7}" destId="{C6BE37F1-BA08-6344-BD41-EFBB9D6DD115}" srcOrd="1" destOrd="0" presId="urn:microsoft.com/office/officeart/2005/8/layout/hList7"/>
    <dgm:cxn modelId="{D653B0DB-894A-C848-9F1E-59047E103029}" type="presOf" srcId="{B9A4B8E0-4420-2A4C-9D3D-D59403F9F523}" destId="{06A4134D-71E0-5248-915D-D6E49D7BB7BA}" srcOrd="0" destOrd="0" presId="urn:microsoft.com/office/officeart/2005/8/layout/hList7"/>
    <dgm:cxn modelId="{AB66FFDF-CA32-9244-9423-EB872A6D83DF}" type="presOf" srcId="{A95E1C81-1C98-4F4C-9EB2-D5BEE7EDC0A6}" destId="{DC4EF2DA-3279-5746-8837-0509DE312344}" srcOrd="1" destOrd="0" presId="urn:microsoft.com/office/officeart/2005/8/layout/hList7"/>
    <dgm:cxn modelId="{706B4368-13CD-9A47-A137-5D434941AB27}" type="presParOf" srcId="{62E2655D-231F-294B-92FB-5009C3249E34}" destId="{892EF54C-9BE8-3240-8058-89952F88CB93}" srcOrd="0" destOrd="0" presId="urn:microsoft.com/office/officeart/2005/8/layout/hList7"/>
    <dgm:cxn modelId="{F5F4FD71-3BB2-524B-89AD-94F7BFABAA75}" type="presParOf" srcId="{62E2655D-231F-294B-92FB-5009C3249E34}" destId="{85109C8C-B421-4C42-B3CC-41DFC1FE4B56}" srcOrd="1" destOrd="0" presId="urn:microsoft.com/office/officeart/2005/8/layout/hList7"/>
    <dgm:cxn modelId="{6D22466E-897C-8F49-9AD0-4017551F6FE4}" type="presParOf" srcId="{85109C8C-B421-4C42-B3CC-41DFC1FE4B56}" destId="{3A28B232-9EBB-C44E-ADCD-1625626B1140}" srcOrd="0" destOrd="0" presId="urn:microsoft.com/office/officeart/2005/8/layout/hList7"/>
    <dgm:cxn modelId="{921F8BF2-B610-E949-8691-2738EF258779}" type="presParOf" srcId="{3A28B232-9EBB-C44E-ADCD-1625626B1140}" destId="{D4DF8908-FDBD-1E49-9EAC-9AC14206F43A}" srcOrd="0" destOrd="0" presId="urn:microsoft.com/office/officeart/2005/8/layout/hList7"/>
    <dgm:cxn modelId="{A9398F58-F1AA-574C-BB4E-9CBABAEC8AEC}" type="presParOf" srcId="{3A28B232-9EBB-C44E-ADCD-1625626B1140}" destId="{27BA0868-143A-CA4A-A16D-EA1803E3C614}" srcOrd="1" destOrd="0" presId="urn:microsoft.com/office/officeart/2005/8/layout/hList7"/>
    <dgm:cxn modelId="{78A3F6BF-ED2F-6047-95FD-7C0FBDBA2604}" type="presParOf" srcId="{3A28B232-9EBB-C44E-ADCD-1625626B1140}" destId="{CAEBE70F-7AD4-D541-A95D-6BFEB05B835F}" srcOrd="2" destOrd="0" presId="urn:microsoft.com/office/officeart/2005/8/layout/hList7"/>
    <dgm:cxn modelId="{7B2FF3E8-AC94-0F45-ACC9-3C69ED618C7A}" type="presParOf" srcId="{3A28B232-9EBB-C44E-ADCD-1625626B1140}" destId="{1D81FD89-AC53-564B-BC32-3C2CEF3A4EE0}" srcOrd="3" destOrd="0" presId="urn:microsoft.com/office/officeart/2005/8/layout/hList7"/>
    <dgm:cxn modelId="{5EF7E02B-AA1D-6848-86B5-E1436BCFB98E}" type="presParOf" srcId="{85109C8C-B421-4C42-B3CC-41DFC1FE4B56}" destId="{20434088-BE77-7D4C-8302-36810CD20309}" srcOrd="1" destOrd="0" presId="urn:microsoft.com/office/officeart/2005/8/layout/hList7"/>
    <dgm:cxn modelId="{4630C845-505C-FF40-8B92-9C718AA2F47F}" type="presParOf" srcId="{85109C8C-B421-4C42-B3CC-41DFC1FE4B56}" destId="{4D50ED61-EDB5-0349-891E-1E071D5ACE31}" srcOrd="2" destOrd="0" presId="urn:microsoft.com/office/officeart/2005/8/layout/hList7"/>
    <dgm:cxn modelId="{F2A69A9F-4FEA-B049-BE97-888B99081AA5}" type="presParOf" srcId="{4D50ED61-EDB5-0349-891E-1E071D5ACE31}" destId="{4A549B10-8409-0B4B-8DBF-4ABB7D87217B}" srcOrd="0" destOrd="0" presId="urn:microsoft.com/office/officeart/2005/8/layout/hList7"/>
    <dgm:cxn modelId="{8C13F975-B2D4-8A42-A19C-8FBAB9720BBA}" type="presParOf" srcId="{4D50ED61-EDB5-0349-891E-1E071D5ACE31}" destId="{33B2C928-115B-7846-8F3B-3FFAA1EB1743}" srcOrd="1" destOrd="0" presId="urn:microsoft.com/office/officeart/2005/8/layout/hList7"/>
    <dgm:cxn modelId="{177CFFBA-FFEA-694F-87B7-48C18E54EE14}" type="presParOf" srcId="{4D50ED61-EDB5-0349-891E-1E071D5ACE31}" destId="{6D2C899A-4606-284D-8657-5FD9820A42F2}" srcOrd="2" destOrd="0" presId="urn:microsoft.com/office/officeart/2005/8/layout/hList7"/>
    <dgm:cxn modelId="{34E29026-6EDD-FD4E-9CC1-1142E37118F6}" type="presParOf" srcId="{4D50ED61-EDB5-0349-891E-1E071D5ACE31}" destId="{407BB15F-73B7-6A4C-B032-B39EEEDE2A84}" srcOrd="3" destOrd="0" presId="urn:microsoft.com/office/officeart/2005/8/layout/hList7"/>
    <dgm:cxn modelId="{17F4332B-5135-6C44-91AE-6E742CA05D0D}" type="presParOf" srcId="{85109C8C-B421-4C42-B3CC-41DFC1FE4B56}" destId="{754C1FBB-CC94-864B-9C20-AC0C63688738}" srcOrd="3" destOrd="0" presId="urn:microsoft.com/office/officeart/2005/8/layout/hList7"/>
    <dgm:cxn modelId="{DFCFBF85-3B70-374D-BE4B-7744CA89906F}" type="presParOf" srcId="{85109C8C-B421-4C42-B3CC-41DFC1FE4B56}" destId="{39B82361-3ED1-9B46-8061-D367C92157EE}" srcOrd="4" destOrd="0" presId="urn:microsoft.com/office/officeart/2005/8/layout/hList7"/>
    <dgm:cxn modelId="{26893DDF-DE23-3847-9912-F70BF76AA4A8}" type="presParOf" srcId="{39B82361-3ED1-9B46-8061-D367C92157EE}" destId="{854A6557-1970-644F-B17E-527689E488FB}" srcOrd="0" destOrd="0" presId="urn:microsoft.com/office/officeart/2005/8/layout/hList7"/>
    <dgm:cxn modelId="{9AE9899D-D950-1043-8C98-2BA31FD6E9DB}" type="presParOf" srcId="{39B82361-3ED1-9B46-8061-D367C92157EE}" destId="{DC4EF2DA-3279-5746-8837-0509DE312344}" srcOrd="1" destOrd="0" presId="urn:microsoft.com/office/officeart/2005/8/layout/hList7"/>
    <dgm:cxn modelId="{0A39841C-2DFE-3543-81D9-DF94D6EAE75C}" type="presParOf" srcId="{39B82361-3ED1-9B46-8061-D367C92157EE}" destId="{AAD435BD-2DFA-D34A-8056-C6F9D0B52A4A}" srcOrd="2" destOrd="0" presId="urn:microsoft.com/office/officeart/2005/8/layout/hList7"/>
    <dgm:cxn modelId="{B52733C4-A583-254D-BC0D-FC983CD2138C}" type="presParOf" srcId="{39B82361-3ED1-9B46-8061-D367C92157EE}" destId="{D57836B1-D49E-A14C-83B5-F1923B8F12DF}" srcOrd="3" destOrd="0" presId="urn:microsoft.com/office/officeart/2005/8/layout/hList7"/>
    <dgm:cxn modelId="{7D50E2BE-0ACF-6945-A9E9-E42B83C46BD1}" type="presParOf" srcId="{85109C8C-B421-4C42-B3CC-41DFC1FE4B56}" destId="{4136E9BB-3D20-1244-A066-DDEE14D127DC}" srcOrd="5" destOrd="0" presId="urn:microsoft.com/office/officeart/2005/8/layout/hList7"/>
    <dgm:cxn modelId="{51FCB606-0A62-5143-B9DA-BBF846585BAD}" type="presParOf" srcId="{85109C8C-B421-4C42-B3CC-41DFC1FE4B56}" destId="{C1696A4D-7737-2041-BC0F-AA2E8E3E574F}" srcOrd="6" destOrd="0" presId="urn:microsoft.com/office/officeart/2005/8/layout/hList7"/>
    <dgm:cxn modelId="{0A576711-4BC3-104C-A9E7-2C09956D543C}" type="presParOf" srcId="{C1696A4D-7737-2041-BC0F-AA2E8E3E574F}" destId="{C23613CF-A1BF-4B41-B85F-12DF5D554E87}" srcOrd="0" destOrd="0" presId="urn:microsoft.com/office/officeart/2005/8/layout/hList7"/>
    <dgm:cxn modelId="{03F56626-5958-1142-8E17-2BD018EF1027}" type="presParOf" srcId="{C1696A4D-7737-2041-BC0F-AA2E8E3E574F}" destId="{C6BE37F1-BA08-6344-BD41-EFBB9D6DD115}" srcOrd="1" destOrd="0" presId="urn:microsoft.com/office/officeart/2005/8/layout/hList7"/>
    <dgm:cxn modelId="{8A5CC77A-AED9-7142-A6CD-46CBB7A8773B}" type="presParOf" srcId="{C1696A4D-7737-2041-BC0F-AA2E8E3E574F}" destId="{65B58EFE-F1C8-F04E-A3DB-205E122D0B50}" srcOrd="2" destOrd="0" presId="urn:microsoft.com/office/officeart/2005/8/layout/hList7"/>
    <dgm:cxn modelId="{7740B2F7-2F58-6240-A933-00DF65506F01}" type="presParOf" srcId="{C1696A4D-7737-2041-BC0F-AA2E8E3E574F}" destId="{70EF76DE-A30C-7142-81C9-2D3C9B0B66E3}" srcOrd="3" destOrd="0" presId="urn:microsoft.com/office/officeart/2005/8/layout/hList7"/>
    <dgm:cxn modelId="{CBAE573E-2E27-1149-8A00-3E30602453EC}" type="presParOf" srcId="{85109C8C-B421-4C42-B3CC-41DFC1FE4B56}" destId="{D04994E4-21C5-634E-AF68-D405EC4BB66D}" srcOrd="7" destOrd="0" presId="urn:microsoft.com/office/officeart/2005/8/layout/hList7"/>
    <dgm:cxn modelId="{FCC823A2-03BE-D545-9CE9-1C962561D3FA}" type="presParOf" srcId="{85109C8C-B421-4C42-B3CC-41DFC1FE4B56}" destId="{3BB1F617-A508-3C49-A273-B80FC24BD145}" srcOrd="8" destOrd="0" presId="urn:microsoft.com/office/officeart/2005/8/layout/hList7"/>
    <dgm:cxn modelId="{D8A1E18A-8352-5D4B-B8AD-92D9BA902696}" type="presParOf" srcId="{3BB1F617-A508-3C49-A273-B80FC24BD145}" destId="{06A4134D-71E0-5248-915D-D6E49D7BB7BA}" srcOrd="0" destOrd="0" presId="urn:microsoft.com/office/officeart/2005/8/layout/hList7"/>
    <dgm:cxn modelId="{BB1A3329-29D4-BC4F-BD05-B47934C941E3}" type="presParOf" srcId="{3BB1F617-A508-3C49-A273-B80FC24BD145}" destId="{34F7EF2D-67E9-1C4D-8EC4-CDD0D1FE26C4}" srcOrd="1" destOrd="0" presId="urn:microsoft.com/office/officeart/2005/8/layout/hList7"/>
    <dgm:cxn modelId="{CE87F486-E5B3-A642-A5B5-9FB33D258E19}" type="presParOf" srcId="{3BB1F617-A508-3C49-A273-B80FC24BD145}" destId="{F08AC0B4-3580-084A-9E29-CECFF6152FDC}" srcOrd="2" destOrd="0" presId="urn:microsoft.com/office/officeart/2005/8/layout/hList7"/>
    <dgm:cxn modelId="{44515BFA-CD8E-D14D-AE91-9F43B5A75C12}" type="presParOf" srcId="{3BB1F617-A508-3C49-A273-B80FC24BD145}" destId="{359FD1B9-BED5-1A41-A0D5-2C4FCEFE8599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CFC957-90B9-D943-85BB-B380E55B38CC}" type="doc">
      <dgm:prSet loTypeId="urn:microsoft.com/office/officeart/2005/8/layout/process4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CC7990-FADD-B94E-8BDB-C12604013875}">
      <dgm:prSet phldrT="[Text]"/>
      <dgm:spPr/>
      <dgm:t>
        <a:bodyPr/>
        <a:lstStyle/>
        <a:p>
          <a:pPr rtl="0"/>
          <a:r>
            <a:rPr lang="en-US" dirty="0"/>
            <a:t>Define the biological question</a:t>
          </a:r>
        </a:p>
      </dgm:t>
    </dgm:pt>
    <dgm:pt modelId="{31BA89F3-6D5D-464B-9D7E-5ED4511564EC}" type="parTrans" cxnId="{CDD7E485-BD73-DF4E-8583-FF3C3CFD8805}">
      <dgm:prSet/>
      <dgm:spPr/>
      <dgm:t>
        <a:bodyPr/>
        <a:lstStyle/>
        <a:p>
          <a:endParaRPr lang="en-US"/>
        </a:p>
      </dgm:t>
    </dgm:pt>
    <dgm:pt modelId="{8863C540-C067-AF48-84E7-AC22A6B40EFC}" type="sibTrans" cxnId="{CDD7E485-BD73-DF4E-8583-FF3C3CFD8805}">
      <dgm:prSet/>
      <dgm:spPr/>
      <dgm:t>
        <a:bodyPr/>
        <a:lstStyle/>
        <a:p>
          <a:endParaRPr lang="en-US"/>
        </a:p>
      </dgm:t>
    </dgm:pt>
    <dgm:pt modelId="{33459371-7B61-574E-A728-BD59241A73CF}">
      <dgm:prSet phldrT="[Text]"/>
      <dgm:spPr/>
      <dgm:t>
        <a:bodyPr/>
        <a:lstStyle/>
        <a:p>
          <a:r>
            <a:rPr lang="en-US" dirty="0"/>
            <a:t>Select the model family &amp; relevant constraints + baselines</a:t>
          </a:r>
        </a:p>
      </dgm:t>
    </dgm:pt>
    <dgm:pt modelId="{E6F98382-741C-054E-89C0-D2902AA54BCD}" type="parTrans" cxnId="{9E741983-74E0-F84F-8647-7F962808EEE9}">
      <dgm:prSet/>
      <dgm:spPr/>
      <dgm:t>
        <a:bodyPr/>
        <a:lstStyle/>
        <a:p>
          <a:endParaRPr lang="en-US"/>
        </a:p>
      </dgm:t>
    </dgm:pt>
    <dgm:pt modelId="{521653E7-4750-AE49-9ED1-295B0A921DC1}" type="sibTrans" cxnId="{9E741983-74E0-F84F-8647-7F962808EEE9}">
      <dgm:prSet/>
      <dgm:spPr/>
      <dgm:t>
        <a:bodyPr/>
        <a:lstStyle/>
        <a:p>
          <a:endParaRPr lang="en-US"/>
        </a:p>
      </dgm:t>
    </dgm:pt>
    <dgm:pt modelId="{FDA56CCB-DFE4-E840-B7C0-264EE54705A4}">
      <dgm:prSet phldrT="[Text]"/>
      <dgm:spPr/>
      <dgm:t>
        <a:bodyPr/>
        <a:lstStyle/>
        <a:p>
          <a:pPr rtl="0"/>
          <a:r>
            <a:rPr lang="en-US" dirty="0"/>
            <a:t>Decide on fine-tuning strategy</a:t>
          </a:r>
        </a:p>
      </dgm:t>
    </dgm:pt>
    <dgm:pt modelId="{E63CE34C-3B19-AA47-84FA-B954DA312296}" type="parTrans" cxnId="{141EA98B-2426-5444-8C55-E0AB3698D727}">
      <dgm:prSet/>
      <dgm:spPr/>
      <dgm:t>
        <a:bodyPr/>
        <a:lstStyle/>
        <a:p>
          <a:endParaRPr lang="en-US"/>
        </a:p>
      </dgm:t>
    </dgm:pt>
    <dgm:pt modelId="{439B3942-B4C1-3046-9FD6-955101351625}" type="sibTrans" cxnId="{141EA98B-2426-5444-8C55-E0AB3698D727}">
      <dgm:prSet/>
      <dgm:spPr/>
      <dgm:t>
        <a:bodyPr/>
        <a:lstStyle/>
        <a:p>
          <a:endParaRPr lang="en-US"/>
        </a:p>
      </dgm:t>
    </dgm:pt>
    <dgm:pt modelId="{3F7259B3-2693-CE47-B776-44543F0B997C}">
      <dgm:prSet phldrT="[Text]"/>
      <dgm:spPr/>
      <dgm:t>
        <a:bodyPr/>
        <a:lstStyle/>
        <a:p>
          <a:pPr rtl="0"/>
          <a:r>
            <a:rPr lang="en-US" dirty="0"/>
            <a:t>Select and curate data &amp; splits</a:t>
          </a:r>
        </a:p>
      </dgm:t>
    </dgm:pt>
    <dgm:pt modelId="{6EEC6B6F-48C0-1447-A1FE-2D16C774C22B}" type="parTrans" cxnId="{A358416B-A0EB-0E4B-9BCC-F32A24210393}">
      <dgm:prSet/>
      <dgm:spPr/>
      <dgm:t>
        <a:bodyPr/>
        <a:lstStyle/>
        <a:p>
          <a:endParaRPr lang="en-US"/>
        </a:p>
      </dgm:t>
    </dgm:pt>
    <dgm:pt modelId="{B3BEA97B-2D68-564C-8883-D7EB016CC4B0}" type="sibTrans" cxnId="{A358416B-A0EB-0E4B-9BCC-F32A24210393}">
      <dgm:prSet/>
      <dgm:spPr/>
      <dgm:t>
        <a:bodyPr/>
        <a:lstStyle/>
        <a:p>
          <a:endParaRPr lang="en-US"/>
        </a:p>
      </dgm:t>
    </dgm:pt>
    <dgm:pt modelId="{5BCA3F7A-76F4-8248-BEAB-13C42DB28B97}">
      <dgm:prSet phldrT="[Text]"/>
      <dgm:spPr/>
      <dgm:t>
        <a:bodyPr/>
        <a:lstStyle/>
        <a:p>
          <a:pPr rtl="0"/>
          <a:r>
            <a:rPr lang="en-US" dirty="0"/>
            <a:t>Align preprocessing with task &amp; model assumptions</a:t>
          </a:r>
        </a:p>
      </dgm:t>
    </dgm:pt>
    <dgm:pt modelId="{BF1D640D-12C4-E343-ADD6-E36BA99E0D6B}" type="parTrans" cxnId="{92B3BC94-63B6-D94E-A8B5-8886B5431383}">
      <dgm:prSet/>
      <dgm:spPr/>
      <dgm:t>
        <a:bodyPr/>
        <a:lstStyle/>
        <a:p>
          <a:endParaRPr lang="en-US"/>
        </a:p>
      </dgm:t>
    </dgm:pt>
    <dgm:pt modelId="{AE7E2E67-18A2-A64A-A630-6E7C67176FA9}" type="sibTrans" cxnId="{92B3BC94-63B6-D94E-A8B5-8886B5431383}">
      <dgm:prSet/>
      <dgm:spPr/>
      <dgm:t>
        <a:bodyPr/>
        <a:lstStyle/>
        <a:p>
          <a:endParaRPr lang="en-US"/>
        </a:p>
      </dgm:t>
    </dgm:pt>
    <dgm:pt modelId="{9E06BB61-CF64-1E47-9223-A3D131F25B26}">
      <dgm:prSet phldrT="[Text]"/>
      <dgm:spPr/>
      <dgm:t>
        <a:bodyPr/>
        <a:lstStyle/>
        <a:p>
          <a:pPr rtl="0"/>
          <a:r>
            <a:rPr lang="en-US" dirty="0"/>
            <a:t>Loop back if needed</a:t>
          </a:r>
        </a:p>
      </dgm:t>
    </dgm:pt>
    <dgm:pt modelId="{CE602038-73D0-8246-BBB1-1079E2277190}" type="parTrans" cxnId="{DE595B68-C40C-BC4A-819D-DFEF1E551EC6}">
      <dgm:prSet/>
      <dgm:spPr/>
      <dgm:t>
        <a:bodyPr/>
        <a:lstStyle/>
        <a:p>
          <a:endParaRPr lang="en-US"/>
        </a:p>
      </dgm:t>
    </dgm:pt>
    <dgm:pt modelId="{CDDB0EE6-C0E4-3747-8F68-E7D3EB2AC9DE}" type="sibTrans" cxnId="{DE595B68-C40C-BC4A-819D-DFEF1E551EC6}">
      <dgm:prSet/>
      <dgm:spPr/>
      <dgm:t>
        <a:bodyPr/>
        <a:lstStyle/>
        <a:p>
          <a:endParaRPr lang="en-US"/>
        </a:p>
      </dgm:t>
    </dgm:pt>
    <dgm:pt modelId="{173E22ED-0BBD-B24D-BBF5-428F0C4BD53E}">
      <dgm:prSet phldrT="[Text]"/>
      <dgm:spPr/>
      <dgm:t>
        <a:bodyPr/>
        <a:lstStyle/>
        <a:p>
          <a:pPr rtl="0"/>
          <a:r>
            <a:rPr lang="en-US" dirty="0"/>
            <a:t>Fine-tune, evaluate, interpret</a:t>
          </a:r>
        </a:p>
      </dgm:t>
    </dgm:pt>
    <dgm:pt modelId="{D799DA9E-0F70-D64E-A703-99C3A9958F93}" type="sibTrans" cxnId="{02422AD0-EE79-EE43-B09B-21D79A808DF1}">
      <dgm:prSet/>
      <dgm:spPr/>
      <dgm:t>
        <a:bodyPr/>
        <a:lstStyle/>
        <a:p>
          <a:endParaRPr lang="en-US"/>
        </a:p>
      </dgm:t>
    </dgm:pt>
    <dgm:pt modelId="{9CAEC7F2-2841-BC46-A2C4-4884E62F35B3}" type="parTrans" cxnId="{02422AD0-EE79-EE43-B09B-21D79A808DF1}">
      <dgm:prSet/>
      <dgm:spPr/>
      <dgm:t>
        <a:bodyPr/>
        <a:lstStyle/>
        <a:p>
          <a:endParaRPr lang="en-US"/>
        </a:p>
      </dgm:t>
    </dgm:pt>
    <dgm:pt modelId="{EE4A3555-3628-274F-8066-A453C445FF6C}" type="pres">
      <dgm:prSet presAssocID="{0CCFC957-90B9-D943-85BB-B380E55B38CC}" presName="Name0" presStyleCnt="0">
        <dgm:presLayoutVars>
          <dgm:dir/>
          <dgm:animLvl val="lvl"/>
          <dgm:resizeHandles val="exact"/>
        </dgm:presLayoutVars>
      </dgm:prSet>
      <dgm:spPr/>
    </dgm:pt>
    <dgm:pt modelId="{1D7ADAB0-18D3-F141-80B9-00F4703502ED}" type="pres">
      <dgm:prSet presAssocID="{9E06BB61-CF64-1E47-9223-A3D131F25B26}" presName="boxAndChildren" presStyleCnt="0"/>
      <dgm:spPr/>
    </dgm:pt>
    <dgm:pt modelId="{80EE094B-0949-A34D-930D-5209058F9B09}" type="pres">
      <dgm:prSet presAssocID="{9E06BB61-CF64-1E47-9223-A3D131F25B26}" presName="parentTextBox" presStyleLbl="node1" presStyleIdx="0" presStyleCnt="7"/>
      <dgm:spPr/>
    </dgm:pt>
    <dgm:pt modelId="{7F1C0325-2480-5040-9176-22C084D4E4F4}" type="pres">
      <dgm:prSet presAssocID="{D799DA9E-0F70-D64E-A703-99C3A9958F93}" presName="sp" presStyleCnt="0"/>
      <dgm:spPr/>
    </dgm:pt>
    <dgm:pt modelId="{75C2EAFB-9BBA-2945-9B7E-840AC1FF1202}" type="pres">
      <dgm:prSet presAssocID="{173E22ED-0BBD-B24D-BBF5-428F0C4BD53E}" presName="arrowAndChildren" presStyleCnt="0"/>
      <dgm:spPr/>
    </dgm:pt>
    <dgm:pt modelId="{D2589BAA-639B-504A-9242-43E607209A53}" type="pres">
      <dgm:prSet presAssocID="{173E22ED-0BBD-B24D-BBF5-428F0C4BD53E}" presName="parentTextArrow" presStyleLbl="node1" presStyleIdx="1" presStyleCnt="7"/>
      <dgm:spPr/>
    </dgm:pt>
    <dgm:pt modelId="{278E52BD-BEEA-4B45-9A02-F2EEB4B91E03}" type="pres">
      <dgm:prSet presAssocID="{AE7E2E67-18A2-A64A-A630-6E7C67176FA9}" presName="sp" presStyleCnt="0"/>
      <dgm:spPr/>
    </dgm:pt>
    <dgm:pt modelId="{08A5A39C-9D6C-2540-A32D-250829B90107}" type="pres">
      <dgm:prSet presAssocID="{5BCA3F7A-76F4-8248-BEAB-13C42DB28B97}" presName="arrowAndChildren" presStyleCnt="0"/>
      <dgm:spPr/>
    </dgm:pt>
    <dgm:pt modelId="{3897490C-E2CA-8647-8A1E-44EB671BF0D2}" type="pres">
      <dgm:prSet presAssocID="{5BCA3F7A-76F4-8248-BEAB-13C42DB28B97}" presName="parentTextArrow" presStyleLbl="node1" presStyleIdx="2" presStyleCnt="7"/>
      <dgm:spPr/>
    </dgm:pt>
    <dgm:pt modelId="{7AE0073B-A0AE-B743-A421-1DBD4A8DFB54}" type="pres">
      <dgm:prSet presAssocID="{B3BEA97B-2D68-564C-8883-D7EB016CC4B0}" presName="sp" presStyleCnt="0"/>
      <dgm:spPr/>
    </dgm:pt>
    <dgm:pt modelId="{BC709D25-A0F8-1F41-A21B-CA69D21C648F}" type="pres">
      <dgm:prSet presAssocID="{3F7259B3-2693-CE47-B776-44543F0B997C}" presName="arrowAndChildren" presStyleCnt="0"/>
      <dgm:spPr/>
    </dgm:pt>
    <dgm:pt modelId="{D5E55205-B32C-D748-8BC6-29CD6344DE86}" type="pres">
      <dgm:prSet presAssocID="{3F7259B3-2693-CE47-B776-44543F0B997C}" presName="parentTextArrow" presStyleLbl="node1" presStyleIdx="3" presStyleCnt="7"/>
      <dgm:spPr/>
    </dgm:pt>
    <dgm:pt modelId="{30FA2BC6-00E9-6D49-84D0-F3339C12B90B}" type="pres">
      <dgm:prSet presAssocID="{439B3942-B4C1-3046-9FD6-955101351625}" presName="sp" presStyleCnt="0"/>
      <dgm:spPr/>
    </dgm:pt>
    <dgm:pt modelId="{6FCFF00F-296C-EA47-96B1-56DAC11CCD65}" type="pres">
      <dgm:prSet presAssocID="{FDA56CCB-DFE4-E840-B7C0-264EE54705A4}" presName="arrowAndChildren" presStyleCnt="0"/>
      <dgm:spPr/>
    </dgm:pt>
    <dgm:pt modelId="{3B087DAF-09BC-6340-951D-A99CFA6C9076}" type="pres">
      <dgm:prSet presAssocID="{FDA56CCB-DFE4-E840-B7C0-264EE54705A4}" presName="parentTextArrow" presStyleLbl="node1" presStyleIdx="4" presStyleCnt="7"/>
      <dgm:spPr/>
    </dgm:pt>
    <dgm:pt modelId="{AEB007E2-D20D-8444-A17B-9CFD4BC63106}" type="pres">
      <dgm:prSet presAssocID="{521653E7-4750-AE49-9ED1-295B0A921DC1}" presName="sp" presStyleCnt="0"/>
      <dgm:spPr/>
    </dgm:pt>
    <dgm:pt modelId="{36C57ED8-F08D-9E47-B2F1-F509F3824493}" type="pres">
      <dgm:prSet presAssocID="{33459371-7B61-574E-A728-BD59241A73CF}" presName="arrowAndChildren" presStyleCnt="0"/>
      <dgm:spPr/>
    </dgm:pt>
    <dgm:pt modelId="{F2233B8A-F01C-A94B-A05D-19D617C70416}" type="pres">
      <dgm:prSet presAssocID="{33459371-7B61-574E-A728-BD59241A73CF}" presName="parentTextArrow" presStyleLbl="node1" presStyleIdx="5" presStyleCnt="7"/>
      <dgm:spPr/>
    </dgm:pt>
    <dgm:pt modelId="{6B4D1AB2-6BAB-7A40-A2EA-F9E5DABD08E3}" type="pres">
      <dgm:prSet presAssocID="{8863C540-C067-AF48-84E7-AC22A6B40EFC}" presName="sp" presStyleCnt="0"/>
      <dgm:spPr/>
    </dgm:pt>
    <dgm:pt modelId="{0B3A8ED8-2F61-1046-8ED0-88C696402E25}" type="pres">
      <dgm:prSet presAssocID="{51CC7990-FADD-B94E-8BDB-C12604013875}" presName="arrowAndChildren" presStyleCnt="0"/>
      <dgm:spPr/>
    </dgm:pt>
    <dgm:pt modelId="{F3ECD65E-ECD3-1B47-90C1-4229C327DB22}" type="pres">
      <dgm:prSet presAssocID="{51CC7990-FADD-B94E-8BDB-C12604013875}" presName="parentTextArrow" presStyleLbl="node1" presStyleIdx="6" presStyleCnt="7"/>
      <dgm:spPr/>
    </dgm:pt>
  </dgm:ptLst>
  <dgm:cxnLst>
    <dgm:cxn modelId="{30E1920C-96CC-FF49-86F3-EBCC659DC309}" type="presOf" srcId="{FDA56CCB-DFE4-E840-B7C0-264EE54705A4}" destId="{3B087DAF-09BC-6340-951D-A99CFA6C9076}" srcOrd="0" destOrd="0" presId="urn:microsoft.com/office/officeart/2005/8/layout/process4"/>
    <dgm:cxn modelId="{5547B52D-39D8-7644-A5FA-7501CA3776A7}" type="presOf" srcId="{173E22ED-0BBD-B24D-BBF5-428F0C4BD53E}" destId="{D2589BAA-639B-504A-9242-43E607209A53}" srcOrd="0" destOrd="0" presId="urn:microsoft.com/office/officeart/2005/8/layout/process4"/>
    <dgm:cxn modelId="{DE595B68-C40C-BC4A-819D-DFEF1E551EC6}" srcId="{0CCFC957-90B9-D943-85BB-B380E55B38CC}" destId="{9E06BB61-CF64-1E47-9223-A3D131F25B26}" srcOrd="6" destOrd="0" parTransId="{CE602038-73D0-8246-BBB1-1079E2277190}" sibTransId="{CDDB0EE6-C0E4-3747-8F68-E7D3EB2AC9DE}"/>
    <dgm:cxn modelId="{A358416B-A0EB-0E4B-9BCC-F32A24210393}" srcId="{0CCFC957-90B9-D943-85BB-B380E55B38CC}" destId="{3F7259B3-2693-CE47-B776-44543F0B997C}" srcOrd="3" destOrd="0" parTransId="{6EEC6B6F-48C0-1447-A1FE-2D16C774C22B}" sibTransId="{B3BEA97B-2D68-564C-8883-D7EB016CC4B0}"/>
    <dgm:cxn modelId="{9E741983-74E0-F84F-8647-7F962808EEE9}" srcId="{0CCFC957-90B9-D943-85BB-B380E55B38CC}" destId="{33459371-7B61-574E-A728-BD59241A73CF}" srcOrd="1" destOrd="0" parTransId="{E6F98382-741C-054E-89C0-D2902AA54BCD}" sibTransId="{521653E7-4750-AE49-9ED1-295B0A921DC1}"/>
    <dgm:cxn modelId="{CDD7E485-BD73-DF4E-8583-FF3C3CFD8805}" srcId="{0CCFC957-90B9-D943-85BB-B380E55B38CC}" destId="{51CC7990-FADD-B94E-8BDB-C12604013875}" srcOrd="0" destOrd="0" parTransId="{31BA89F3-6D5D-464B-9D7E-5ED4511564EC}" sibTransId="{8863C540-C067-AF48-84E7-AC22A6B40EFC}"/>
    <dgm:cxn modelId="{BFDD148A-3EF4-B84A-B9F5-C3B761D612D1}" type="presOf" srcId="{0CCFC957-90B9-D943-85BB-B380E55B38CC}" destId="{EE4A3555-3628-274F-8066-A453C445FF6C}" srcOrd="0" destOrd="0" presId="urn:microsoft.com/office/officeart/2005/8/layout/process4"/>
    <dgm:cxn modelId="{141EA98B-2426-5444-8C55-E0AB3698D727}" srcId="{0CCFC957-90B9-D943-85BB-B380E55B38CC}" destId="{FDA56CCB-DFE4-E840-B7C0-264EE54705A4}" srcOrd="2" destOrd="0" parTransId="{E63CE34C-3B19-AA47-84FA-B954DA312296}" sibTransId="{439B3942-B4C1-3046-9FD6-955101351625}"/>
    <dgm:cxn modelId="{92B3BC94-63B6-D94E-A8B5-8886B5431383}" srcId="{0CCFC957-90B9-D943-85BB-B380E55B38CC}" destId="{5BCA3F7A-76F4-8248-BEAB-13C42DB28B97}" srcOrd="4" destOrd="0" parTransId="{BF1D640D-12C4-E343-ADD6-E36BA99E0D6B}" sibTransId="{AE7E2E67-18A2-A64A-A630-6E7C67176FA9}"/>
    <dgm:cxn modelId="{F40F3E95-B849-C44F-A10F-8B1DF73731A6}" type="presOf" srcId="{33459371-7B61-574E-A728-BD59241A73CF}" destId="{F2233B8A-F01C-A94B-A05D-19D617C70416}" srcOrd="0" destOrd="0" presId="urn:microsoft.com/office/officeart/2005/8/layout/process4"/>
    <dgm:cxn modelId="{6F3F999E-693D-2748-8E10-EB8A65A8CFEA}" type="presOf" srcId="{5BCA3F7A-76F4-8248-BEAB-13C42DB28B97}" destId="{3897490C-E2CA-8647-8A1E-44EB671BF0D2}" srcOrd="0" destOrd="0" presId="urn:microsoft.com/office/officeart/2005/8/layout/process4"/>
    <dgm:cxn modelId="{E2A898A1-E2CA-D940-A6EA-9F0485876507}" type="presOf" srcId="{9E06BB61-CF64-1E47-9223-A3D131F25B26}" destId="{80EE094B-0949-A34D-930D-5209058F9B09}" srcOrd="0" destOrd="0" presId="urn:microsoft.com/office/officeart/2005/8/layout/process4"/>
    <dgm:cxn modelId="{249818B6-8C00-E74D-B799-9F20299A1776}" type="presOf" srcId="{3F7259B3-2693-CE47-B776-44543F0B997C}" destId="{D5E55205-B32C-D748-8BC6-29CD6344DE86}" srcOrd="0" destOrd="0" presId="urn:microsoft.com/office/officeart/2005/8/layout/process4"/>
    <dgm:cxn modelId="{710632C3-DEEE-BF45-9378-9F10BA186C03}" type="presOf" srcId="{51CC7990-FADD-B94E-8BDB-C12604013875}" destId="{F3ECD65E-ECD3-1B47-90C1-4229C327DB22}" srcOrd="0" destOrd="0" presId="urn:microsoft.com/office/officeart/2005/8/layout/process4"/>
    <dgm:cxn modelId="{02422AD0-EE79-EE43-B09B-21D79A808DF1}" srcId="{0CCFC957-90B9-D943-85BB-B380E55B38CC}" destId="{173E22ED-0BBD-B24D-BBF5-428F0C4BD53E}" srcOrd="5" destOrd="0" parTransId="{9CAEC7F2-2841-BC46-A2C4-4884E62F35B3}" sibTransId="{D799DA9E-0F70-D64E-A703-99C3A9958F93}"/>
    <dgm:cxn modelId="{B8B19ACD-DA7D-3F40-8855-387BD6C87444}" type="presParOf" srcId="{EE4A3555-3628-274F-8066-A453C445FF6C}" destId="{1D7ADAB0-18D3-F141-80B9-00F4703502ED}" srcOrd="0" destOrd="0" presId="urn:microsoft.com/office/officeart/2005/8/layout/process4"/>
    <dgm:cxn modelId="{D1BA36EF-EA40-994B-A48D-F14B90E472A9}" type="presParOf" srcId="{1D7ADAB0-18D3-F141-80B9-00F4703502ED}" destId="{80EE094B-0949-A34D-930D-5209058F9B09}" srcOrd="0" destOrd="0" presId="urn:microsoft.com/office/officeart/2005/8/layout/process4"/>
    <dgm:cxn modelId="{CDDC802D-DEDF-0943-94B7-B355DEC73175}" type="presParOf" srcId="{EE4A3555-3628-274F-8066-A453C445FF6C}" destId="{7F1C0325-2480-5040-9176-22C084D4E4F4}" srcOrd="1" destOrd="0" presId="urn:microsoft.com/office/officeart/2005/8/layout/process4"/>
    <dgm:cxn modelId="{5268EF64-8734-E640-948A-DF379AD42368}" type="presParOf" srcId="{EE4A3555-3628-274F-8066-A453C445FF6C}" destId="{75C2EAFB-9BBA-2945-9B7E-840AC1FF1202}" srcOrd="2" destOrd="0" presId="urn:microsoft.com/office/officeart/2005/8/layout/process4"/>
    <dgm:cxn modelId="{B794A915-7A46-EF47-A981-DB58A059E906}" type="presParOf" srcId="{75C2EAFB-9BBA-2945-9B7E-840AC1FF1202}" destId="{D2589BAA-639B-504A-9242-43E607209A53}" srcOrd="0" destOrd="0" presId="urn:microsoft.com/office/officeart/2005/8/layout/process4"/>
    <dgm:cxn modelId="{7A334F23-D322-E548-B2EC-726AB8B0E49B}" type="presParOf" srcId="{EE4A3555-3628-274F-8066-A453C445FF6C}" destId="{278E52BD-BEEA-4B45-9A02-F2EEB4B91E03}" srcOrd="3" destOrd="0" presId="urn:microsoft.com/office/officeart/2005/8/layout/process4"/>
    <dgm:cxn modelId="{DFFCCE14-A5AA-4744-903D-7DB70AEC8C1B}" type="presParOf" srcId="{EE4A3555-3628-274F-8066-A453C445FF6C}" destId="{08A5A39C-9D6C-2540-A32D-250829B90107}" srcOrd="4" destOrd="0" presId="urn:microsoft.com/office/officeart/2005/8/layout/process4"/>
    <dgm:cxn modelId="{94BEE816-2E78-1A45-9914-71F58632FF17}" type="presParOf" srcId="{08A5A39C-9D6C-2540-A32D-250829B90107}" destId="{3897490C-E2CA-8647-8A1E-44EB671BF0D2}" srcOrd="0" destOrd="0" presId="urn:microsoft.com/office/officeart/2005/8/layout/process4"/>
    <dgm:cxn modelId="{285D8989-A23C-174F-BAC2-266EF0A0DD41}" type="presParOf" srcId="{EE4A3555-3628-274F-8066-A453C445FF6C}" destId="{7AE0073B-A0AE-B743-A421-1DBD4A8DFB54}" srcOrd="5" destOrd="0" presId="urn:microsoft.com/office/officeart/2005/8/layout/process4"/>
    <dgm:cxn modelId="{AD7169E3-67C6-6040-AD28-E43AF92D1005}" type="presParOf" srcId="{EE4A3555-3628-274F-8066-A453C445FF6C}" destId="{BC709D25-A0F8-1F41-A21B-CA69D21C648F}" srcOrd="6" destOrd="0" presId="urn:microsoft.com/office/officeart/2005/8/layout/process4"/>
    <dgm:cxn modelId="{B7D131CA-DD5D-4E43-842C-D8ED001879BE}" type="presParOf" srcId="{BC709D25-A0F8-1F41-A21B-CA69D21C648F}" destId="{D5E55205-B32C-D748-8BC6-29CD6344DE86}" srcOrd="0" destOrd="0" presId="urn:microsoft.com/office/officeart/2005/8/layout/process4"/>
    <dgm:cxn modelId="{BDFDA83F-D026-2647-8883-6BD649266414}" type="presParOf" srcId="{EE4A3555-3628-274F-8066-A453C445FF6C}" destId="{30FA2BC6-00E9-6D49-84D0-F3339C12B90B}" srcOrd="7" destOrd="0" presId="urn:microsoft.com/office/officeart/2005/8/layout/process4"/>
    <dgm:cxn modelId="{59FA52BD-934E-A44F-8048-29CF3474A49A}" type="presParOf" srcId="{EE4A3555-3628-274F-8066-A453C445FF6C}" destId="{6FCFF00F-296C-EA47-96B1-56DAC11CCD65}" srcOrd="8" destOrd="0" presId="urn:microsoft.com/office/officeart/2005/8/layout/process4"/>
    <dgm:cxn modelId="{D50A42AC-E46C-1041-A773-0F900293FC35}" type="presParOf" srcId="{6FCFF00F-296C-EA47-96B1-56DAC11CCD65}" destId="{3B087DAF-09BC-6340-951D-A99CFA6C9076}" srcOrd="0" destOrd="0" presId="urn:microsoft.com/office/officeart/2005/8/layout/process4"/>
    <dgm:cxn modelId="{CB7CC5BF-C4EB-9547-AE10-1CDA70C0BCCC}" type="presParOf" srcId="{EE4A3555-3628-274F-8066-A453C445FF6C}" destId="{AEB007E2-D20D-8444-A17B-9CFD4BC63106}" srcOrd="9" destOrd="0" presId="urn:microsoft.com/office/officeart/2005/8/layout/process4"/>
    <dgm:cxn modelId="{9D3935BD-6C55-8E47-9573-316971C4865B}" type="presParOf" srcId="{EE4A3555-3628-274F-8066-A453C445FF6C}" destId="{36C57ED8-F08D-9E47-B2F1-F509F3824493}" srcOrd="10" destOrd="0" presId="urn:microsoft.com/office/officeart/2005/8/layout/process4"/>
    <dgm:cxn modelId="{7F1CC6FA-B8CD-6F44-9F0A-327B71C98BA9}" type="presParOf" srcId="{36C57ED8-F08D-9E47-B2F1-F509F3824493}" destId="{F2233B8A-F01C-A94B-A05D-19D617C70416}" srcOrd="0" destOrd="0" presId="urn:microsoft.com/office/officeart/2005/8/layout/process4"/>
    <dgm:cxn modelId="{30C3976C-C175-4641-8A98-F031A89F945A}" type="presParOf" srcId="{EE4A3555-3628-274F-8066-A453C445FF6C}" destId="{6B4D1AB2-6BAB-7A40-A2EA-F9E5DABD08E3}" srcOrd="11" destOrd="0" presId="urn:microsoft.com/office/officeart/2005/8/layout/process4"/>
    <dgm:cxn modelId="{3067A362-C132-594E-8661-5B0D4AA81DC6}" type="presParOf" srcId="{EE4A3555-3628-274F-8066-A453C445FF6C}" destId="{0B3A8ED8-2F61-1046-8ED0-88C696402E25}" srcOrd="12" destOrd="0" presId="urn:microsoft.com/office/officeart/2005/8/layout/process4"/>
    <dgm:cxn modelId="{05C02517-0DBA-5D4C-84ED-744C16CD9822}" type="presParOf" srcId="{0B3A8ED8-2F61-1046-8ED0-88C696402E25}" destId="{F3ECD65E-ECD3-1B47-90C1-4229C327DB2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A7F98D-7590-DF4C-9F34-3CADC992ED3D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E2D4EF-62B4-3348-9E08-16DC1868FBCB}">
      <dgm:prSet phldrT="[Text]"/>
      <dgm:spPr/>
      <dgm:t>
        <a:bodyPr/>
        <a:lstStyle/>
        <a:p>
          <a:pPr>
            <a:buNone/>
          </a:pPr>
          <a:r>
            <a:rPr lang="en-US" b="1" i="0" dirty="0"/>
            <a:t>Encoder-only (BERT-like)</a:t>
          </a:r>
          <a:endParaRPr lang="en-US" dirty="0"/>
        </a:p>
      </dgm:t>
    </dgm:pt>
    <dgm:pt modelId="{E73DE81A-D514-5444-A3BE-5B7788FF6391}" type="parTrans" cxnId="{35377D52-DDE9-5441-9AAE-38345F3A0551}">
      <dgm:prSet/>
      <dgm:spPr/>
      <dgm:t>
        <a:bodyPr/>
        <a:lstStyle/>
        <a:p>
          <a:endParaRPr lang="en-US"/>
        </a:p>
      </dgm:t>
    </dgm:pt>
    <dgm:pt modelId="{39D85282-B2D8-3645-8083-A3A2BE4ABBE7}" type="sibTrans" cxnId="{35377D52-DDE9-5441-9AAE-38345F3A0551}">
      <dgm:prSet/>
      <dgm:spPr/>
      <dgm:t>
        <a:bodyPr/>
        <a:lstStyle/>
        <a:p>
          <a:endParaRPr lang="en-US"/>
        </a:p>
      </dgm:t>
    </dgm:pt>
    <dgm:pt modelId="{A1CF34BF-585C-F44E-B793-F105B1C5CA7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Learn contextual </a:t>
          </a:r>
          <a:r>
            <a:rPr lang="en-US" b="1" i="0" dirty="0"/>
            <a:t>representations</a:t>
          </a:r>
          <a:r>
            <a:rPr lang="en-US" b="0" i="0" dirty="0"/>
            <a:t> for downstream tasks</a:t>
          </a:r>
          <a:endParaRPr lang="en-US" dirty="0"/>
        </a:p>
      </dgm:t>
    </dgm:pt>
    <dgm:pt modelId="{8344F9BB-EDDF-EB47-AE27-E3CF91E607E6}" type="parTrans" cxnId="{92A9BBE5-C9FF-9748-8A8E-CFC223F7576F}">
      <dgm:prSet/>
      <dgm:spPr/>
      <dgm:t>
        <a:bodyPr/>
        <a:lstStyle/>
        <a:p>
          <a:endParaRPr lang="en-US"/>
        </a:p>
      </dgm:t>
    </dgm:pt>
    <dgm:pt modelId="{A28EED2F-1D10-3247-B2D8-C958B460222E}" type="sibTrans" cxnId="{92A9BBE5-C9FF-9748-8A8E-CFC223F7576F}">
      <dgm:prSet/>
      <dgm:spPr/>
      <dgm:t>
        <a:bodyPr/>
        <a:lstStyle/>
        <a:p>
          <a:endParaRPr lang="en-US"/>
        </a:p>
      </dgm:t>
    </dgm:pt>
    <dgm:pt modelId="{09F5BD59-AC65-6C42-9CEA-FFEC9CCFA610}">
      <dgm:prSet phldrT="[Text]"/>
      <dgm:spPr/>
      <dgm:t>
        <a:bodyPr/>
        <a:lstStyle/>
        <a:p>
          <a:pPr>
            <a:buNone/>
          </a:pPr>
          <a:r>
            <a:rPr lang="en-US" b="1" i="0" dirty="0"/>
            <a:t>Decoder-only (GPT-like)</a:t>
          </a:r>
          <a:endParaRPr lang="en-US" dirty="0"/>
        </a:p>
      </dgm:t>
    </dgm:pt>
    <dgm:pt modelId="{346D4CCA-8A33-7F41-B0BE-32D5F4E0006F}" type="parTrans" cxnId="{2B77D5F2-2813-5848-8758-9168F5A00042}">
      <dgm:prSet/>
      <dgm:spPr/>
      <dgm:t>
        <a:bodyPr/>
        <a:lstStyle/>
        <a:p>
          <a:endParaRPr lang="en-US"/>
        </a:p>
      </dgm:t>
    </dgm:pt>
    <dgm:pt modelId="{B2B5EBE6-C7AC-B948-96A1-B2BDE3262B93}" type="sibTrans" cxnId="{2B77D5F2-2813-5848-8758-9168F5A00042}">
      <dgm:prSet/>
      <dgm:spPr/>
      <dgm:t>
        <a:bodyPr/>
        <a:lstStyle/>
        <a:p>
          <a:endParaRPr lang="en-US"/>
        </a:p>
      </dgm:t>
    </dgm:pt>
    <dgm:pt modelId="{75481C57-8F5E-3B4F-8857-CE58698A823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Autoregressive </a:t>
          </a:r>
          <a:r>
            <a:rPr lang="en-US" b="1" i="0" dirty="0"/>
            <a:t>generation</a:t>
          </a:r>
          <a:r>
            <a:rPr lang="en-US" b="0" i="0" dirty="0"/>
            <a:t> and likelihood scoring</a:t>
          </a:r>
          <a:endParaRPr lang="en-US" dirty="0"/>
        </a:p>
      </dgm:t>
    </dgm:pt>
    <dgm:pt modelId="{08134BF3-7586-9A4A-BFB9-1C92D78E3715}" type="parTrans" cxnId="{E9E7AA94-D303-104A-AE8A-0C95F7D6B077}">
      <dgm:prSet/>
      <dgm:spPr/>
      <dgm:t>
        <a:bodyPr/>
        <a:lstStyle/>
        <a:p>
          <a:endParaRPr lang="en-US"/>
        </a:p>
      </dgm:t>
    </dgm:pt>
    <dgm:pt modelId="{2D54B268-C8F8-1544-8B2D-97EE615F3654}" type="sibTrans" cxnId="{E9E7AA94-D303-104A-AE8A-0C95F7D6B077}">
      <dgm:prSet/>
      <dgm:spPr/>
      <dgm:t>
        <a:bodyPr/>
        <a:lstStyle/>
        <a:p>
          <a:endParaRPr lang="en-US"/>
        </a:p>
      </dgm:t>
    </dgm:pt>
    <dgm:pt modelId="{ACAF0333-6651-0B47-B8A5-BD801AF35E3A}">
      <dgm:prSet phldrT="[Text]"/>
      <dgm:spPr/>
      <dgm:t>
        <a:bodyPr/>
        <a:lstStyle/>
        <a:p>
          <a:pPr>
            <a:buNone/>
          </a:pPr>
          <a:r>
            <a:rPr lang="en-US" b="1" i="0" dirty="0"/>
            <a:t>Hybrid (CNN + Transformer)</a:t>
          </a:r>
          <a:endParaRPr lang="en-US" dirty="0"/>
        </a:p>
      </dgm:t>
    </dgm:pt>
    <dgm:pt modelId="{433D2CE9-B1EE-5E48-BFF7-1DA88C362DAD}" type="parTrans" cxnId="{299B084A-6DD5-F545-B63E-4A85693F1154}">
      <dgm:prSet/>
      <dgm:spPr/>
      <dgm:t>
        <a:bodyPr/>
        <a:lstStyle/>
        <a:p>
          <a:endParaRPr lang="en-US"/>
        </a:p>
      </dgm:t>
    </dgm:pt>
    <dgm:pt modelId="{F87710B1-EFAB-7247-9651-5225BCAD5E30}" type="sibTrans" cxnId="{299B084A-6DD5-F545-B63E-4A85693F1154}">
      <dgm:prSet/>
      <dgm:spPr/>
      <dgm:t>
        <a:bodyPr/>
        <a:lstStyle/>
        <a:p>
          <a:endParaRPr lang="en-US"/>
        </a:p>
      </dgm:t>
    </dgm:pt>
    <dgm:pt modelId="{7A01D657-ABF3-4848-8455-28C4C879951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Sequence → </a:t>
          </a:r>
          <a:r>
            <a:rPr lang="en-US" b="1" i="0"/>
            <a:t>signal tracks</a:t>
          </a:r>
          <a:r>
            <a:rPr lang="en-US" b="0" i="0"/>
            <a:t> (epigenomics / expression proxies)</a:t>
          </a:r>
          <a:endParaRPr lang="en-US" dirty="0"/>
        </a:p>
      </dgm:t>
    </dgm:pt>
    <dgm:pt modelId="{9960B417-EEEE-BD48-BE26-75D720C7B6F3}" type="parTrans" cxnId="{20510991-01BB-0E4D-ABF5-E85DAAA35B36}">
      <dgm:prSet/>
      <dgm:spPr/>
      <dgm:t>
        <a:bodyPr/>
        <a:lstStyle/>
        <a:p>
          <a:endParaRPr lang="en-US"/>
        </a:p>
      </dgm:t>
    </dgm:pt>
    <dgm:pt modelId="{39CE26AC-F718-F345-BE03-5A14CBA9D688}" type="sibTrans" cxnId="{20510991-01BB-0E4D-ABF5-E85DAAA35B36}">
      <dgm:prSet/>
      <dgm:spPr/>
      <dgm:t>
        <a:bodyPr/>
        <a:lstStyle/>
        <a:p>
          <a:endParaRPr lang="en-US"/>
        </a:p>
      </dgm:t>
    </dgm:pt>
    <dgm:pt modelId="{6E4FFA90-70B6-E846-865E-2E856050CB4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Strong for classification/regression with a small task head</a:t>
          </a:r>
        </a:p>
      </dgm:t>
    </dgm:pt>
    <dgm:pt modelId="{C4008814-9DC0-784D-9897-218953219008}" type="parTrans" cxnId="{DB8321DE-BEA7-3A42-8253-83BDD91F9175}">
      <dgm:prSet/>
      <dgm:spPr/>
      <dgm:t>
        <a:bodyPr/>
        <a:lstStyle/>
        <a:p>
          <a:endParaRPr lang="en-US"/>
        </a:p>
      </dgm:t>
    </dgm:pt>
    <dgm:pt modelId="{2A38261A-1094-5941-8B4E-142BB29A78B2}" type="sibTrans" cxnId="{DB8321DE-BEA7-3A42-8253-83BDD91F9175}">
      <dgm:prSet/>
      <dgm:spPr/>
      <dgm:t>
        <a:bodyPr/>
        <a:lstStyle/>
        <a:p>
          <a:endParaRPr lang="en-US"/>
        </a:p>
      </dgm:t>
    </dgm:pt>
    <dgm:pt modelId="{F719B65D-1E5B-3A41-AC48-DC34C5B7E1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Useful for sequence design and long-range dependencies</a:t>
          </a:r>
        </a:p>
      </dgm:t>
    </dgm:pt>
    <dgm:pt modelId="{0037B233-E9E4-C440-892B-C0C43215D79E}" type="parTrans" cxnId="{4F1B85E1-9949-CA46-82A9-94B88A975EBD}">
      <dgm:prSet/>
      <dgm:spPr/>
      <dgm:t>
        <a:bodyPr/>
        <a:lstStyle/>
        <a:p>
          <a:endParaRPr lang="en-US"/>
        </a:p>
      </dgm:t>
    </dgm:pt>
    <dgm:pt modelId="{E425B1CF-4DD3-744D-A50C-09763C3D4B95}" type="sibTrans" cxnId="{4F1B85E1-9949-CA46-82A9-94B88A975EBD}">
      <dgm:prSet/>
      <dgm:spPr/>
      <dgm:t>
        <a:bodyPr/>
        <a:lstStyle/>
        <a:p>
          <a:endParaRPr lang="en-US"/>
        </a:p>
      </dgm:t>
    </dgm:pt>
    <dgm:pt modelId="{21F8C5A2-CC79-924E-B7D7-8D94DC7FBCF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Designed for genome-wide prediction with long receptive fields</a:t>
          </a:r>
        </a:p>
      </dgm:t>
    </dgm:pt>
    <dgm:pt modelId="{597AE664-E04F-474C-817F-E48A5B8D0BD9}" type="parTrans" cxnId="{E6D18F4D-A35A-A540-939B-944119398F19}">
      <dgm:prSet/>
      <dgm:spPr/>
      <dgm:t>
        <a:bodyPr/>
        <a:lstStyle/>
        <a:p>
          <a:endParaRPr lang="en-US"/>
        </a:p>
      </dgm:t>
    </dgm:pt>
    <dgm:pt modelId="{168BDA90-BC76-4C42-8741-2F02434C30CF}" type="sibTrans" cxnId="{E6D18F4D-A35A-A540-939B-944119398F19}">
      <dgm:prSet/>
      <dgm:spPr/>
      <dgm:t>
        <a:bodyPr/>
        <a:lstStyle/>
        <a:p>
          <a:endParaRPr lang="en-US"/>
        </a:p>
      </dgm:t>
    </dgm:pt>
    <dgm:pt modelId="{097D6C56-2A9D-CC47-9C9E-F1F83239054E}">
      <dgm:prSet/>
      <dgm:spPr/>
      <dgm:t>
        <a:bodyPr/>
        <a:lstStyle/>
        <a:p>
          <a:pPr>
            <a:buNone/>
          </a:pPr>
          <a:r>
            <a:rPr lang="en-US" b="1" i="0" dirty="0"/>
            <a:t>Long-context operators (Hyena)</a:t>
          </a:r>
          <a:endParaRPr lang="en-US" b="0" i="0" dirty="0"/>
        </a:p>
      </dgm:t>
    </dgm:pt>
    <dgm:pt modelId="{4D6F416A-27CF-BF40-8267-4A84960AE08F}" type="parTrans" cxnId="{89EE0325-F228-7B43-BE3A-C26A1D319FED}">
      <dgm:prSet/>
      <dgm:spPr/>
      <dgm:t>
        <a:bodyPr/>
        <a:lstStyle/>
        <a:p>
          <a:endParaRPr lang="en-US"/>
        </a:p>
      </dgm:t>
    </dgm:pt>
    <dgm:pt modelId="{CAE6012A-0433-8446-85B3-249BBC1C014B}" type="sibTrans" cxnId="{89EE0325-F228-7B43-BE3A-C26A1D319FED}">
      <dgm:prSet/>
      <dgm:spPr/>
      <dgm:t>
        <a:bodyPr/>
        <a:lstStyle/>
        <a:p>
          <a:endParaRPr lang="en-US"/>
        </a:p>
      </dgm:t>
    </dgm:pt>
    <dgm:pt modelId="{C3B3D0CC-EC36-0140-8CB0-63E61E88176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Efficient modeling of </a:t>
          </a:r>
          <a:r>
            <a:rPr lang="en-US" b="1" i="0"/>
            <a:t>very long DNA sequences</a:t>
          </a:r>
          <a:r>
            <a:rPr lang="en-US" b="0" i="0"/>
            <a:t> (≫10 kb)</a:t>
          </a:r>
          <a:endParaRPr lang="en-US" b="0" i="0" dirty="0"/>
        </a:p>
      </dgm:t>
    </dgm:pt>
    <dgm:pt modelId="{ADC88F8E-F8C9-8A43-8FC0-F96581701496}" type="parTrans" cxnId="{465A50E9-2A2C-B44F-8F06-9331F35798BD}">
      <dgm:prSet/>
      <dgm:spPr/>
      <dgm:t>
        <a:bodyPr/>
        <a:lstStyle/>
        <a:p>
          <a:endParaRPr lang="en-US"/>
        </a:p>
      </dgm:t>
    </dgm:pt>
    <dgm:pt modelId="{0AC4F9B1-2B64-4F44-AC77-07904F3D2C6A}" type="sibTrans" cxnId="{465A50E9-2A2C-B44F-8F06-9331F35798BD}">
      <dgm:prSet/>
      <dgm:spPr/>
      <dgm:t>
        <a:bodyPr/>
        <a:lstStyle/>
        <a:p>
          <a:endParaRPr lang="en-US"/>
        </a:p>
      </dgm:t>
    </dgm:pt>
    <dgm:pt modelId="{E767CB28-E209-214C-A7F7-E1C0E558E10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Good when regulatory context spans large genomic neighborhoods</a:t>
          </a:r>
        </a:p>
      </dgm:t>
    </dgm:pt>
    <dgm:pt modelId="{1B5813AC-E774-1E45-8CBB-81CB6BB8798D}" type="parTrans" cxnId="{C1D3E60A-0D46-2B4D-A62E-1656DA80055B}">
      <dgm:prSet/>
      <dgm:spPr/>
      <dgm:t>
        <a:bodyPr/>
        <a:lstStyle/>
        <a:p>
          <a:endParaRPr lang="en-US"/>
        </a:p>
      </dgm:t>
    </dgm:pt>
    <dgm:pt modelId="{AC65229B-6B61-3A4D-939B-E3CA274FF7AE}" type="sibTrans" cxnId="{C1D3E60A-0D46-2B4D-A62E-1656DA80055B}">
      <dgm:prSet/>
      <dgm:spPr/>
      <dgm:t>
        <a:bodyPr/>
        <a:lstStyle/>
        <a:p>
          <a:endParaRPr lang="en-US"/>
        </a:p>
      </dgm:t>
    </dgm:pt>
    <dgm:pt modelId="{EB93BE41-DB24-0B45-851A-06289C79A78F}" type="pres">
      <dgm:prSet presAssocID="{E7A7F98D-7590-DF4C-9F34-3CADC992ED3D}" presName="linear" presStyleCnt="0">
        <dgm:presLayoutVars>
          <dgm:dir/>
          <dgm:animLvl val="lvl"/>
          <dgm:resizeHandles val="exact"/>
        </dgm:presLayoutVars>
      </dgm:prSet>
      <dgm:spPr/>
    </dgm:pt>
    <dgm:pt modelId="{08066036-5FD6-AD4F-A254-E87A37EB0B92}" type="pres">
      <dgm:prSet presAssocID="{55E2D4EF-62B4-3348-9E08-16DC1868FBCB}" presName="parentLin" presStyleCnt="0"/>
      <dgm:spPr/>
    </dgm:pt>
    <dgm:pt modelId="{0F8709B1-9A70-4146-868D-2C1D7C7DF036}" type="pres">
      <dgm:prSet presAssocID="{55E2D4EF-62B4-3348-9E08-16DC1868FBCB}" presName="parentLeftMargin" presStyleLbl="node1" presStyleIdx="0" presStyleCnt="4"/>
      <dgm:spPr/>
    </dgm:pt>
    <dgm:pt modelId="{5074AAD6-3DB9-8246-B824-86440B2BEDC1}" type="pres">
      <dgm:prSet presAssocID="{55E2D4EF-62B4-3348-9E08-16DC1868FB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E2C335-6F7B-D541-B3FF-9606D359DD5E}" type="pres">
      <dgm:prSet presAssocID="{55E2D4EF-62B4-3348-9E08-16DC1868FBCB}" presName="negativeSpace" presStyleCnt="0"/>
      <dgm:spPr/>
    </dgm:pt>
    <dgm:pt modelId="{2697ACE6-CBB9-6541-B9A5-9E304C197B9B}" type="pres">
      <dgm:prSet presAssocID="{55E2D4EF-62B4-3348-9E08-16DC1868FBCB}" presName="childText" presStyleLbl="conFgAcc1" presStyleIdx="0" presStyleCnt="4">
        <dgm:presLayoutVars>
          <dgm:bulletEnabled val="1"/>
        </dgm:presLayoutVars>
      </dgm:prSet>
      <dgm:spPr/>
    </dgm:pt>
    <dgm:pt modelId="{C190E2D6-7D3B-2B4F-9632-AF709052079C}" type="pres">
      <dgm:prSet presAssocID="{39D85282-B2D8-3645-8083-A3A2BE4ABBE7}" presName="spaceBetweenRectangles" presStyleCnt="0"/>
      <dgm:spPr/>
    </dgm:pt>
    <dgm:pt modelId="{7845421D-9E9A-8149-979D-EB044E6647A1}" type="pres">
      <dgm:prSet presAssocID="{09F5BD59-AC65-6C42-9CEA-FFEC9CCFA610}" presName="parentLin" presStyleCnt="0"/>
      <dgm:spPr/>
    </dgm:pt>
    <dgm:pt modelId="{E06E44C9-016E-0140-AA5C-9E86CB2C5C3E}" type="pres">
      <dgm:prSet presAssocID="{09F5BD59-AC65-6C42-9CEA-FFEC9CCFA610}" presName="parentLeftMargin" presStyleLbl="node1" presStyleIdx="0" presStyleCnt="4"/>
      <dgm:spPr/>
    </dgm:pt>
    <dgm:pt modelId="{850CBE88-8E50-0C44-BFA6-D81846B95CEF}" type="pres">
      <dgm:prSet presAssocID="{09F5BD59-AC65-6C42-9CEA-FFEC9CCFA61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EB9F08-1E0D-6B4F-966B-6D603C98BEEC}" type="pres">
      <dgm:prSet presAssocID="{09F5BD59-AC65-6C42-9CEA-FFEC9CCFA610}" presName="negativeSpace" presStyleCnt="0"/>
      <dgm:spPr/>
    </dgm:pt>
    <dgm:pt modelId="{98FCDC00-05E7-5C45-B73F-6EFC0ECC36CA}" type="pres">
      <dgm:prSet presAssocID="{09F5BD59-AC65-6C42-9CEA-FFEC9CCFA610}" presName="childText" presStyleLbl="conFgAcc1" presStyleIdx="1" presStyleCnt="4">
        <dgm:presLayoutVars>
          <dgm:bulletEnabled val="1"/>
        </dgm:presLayoutVars>
      </dgm:prSet>
      <dgm:spPr/>
    </dgm:pt>
    <dgm:pt modelId="{22713545-3B70-E347-9769-C0AEA354EC15}" type="pres">
      <dgm:prSet presAssocID="{B2B5EBE6-C7AC-B948-96A1-B2BDE3262B93}" presName="spaceBetweenRectangles" presStyleCnt="0"/>
      <dgm:spPr/>
    </dgm:pt>
    <dgm:pt modelId="{3C71A9C1-1AE1-4B4E-AFB2-33E772885321}" type="pres">
      <dgm:prSet presAssocID="{ACAF0333-6651-0B47-B8A5-BD801AF35E3A}" presName="parentLin" presStyleCnt="0"/>
      <dgm:spPr/>
    </dgm:pt>
    <dgm:pt modelId="{7886159E-F3F3-7140-AB86-6A2928C4460D}" type="pres">
      <dgm:prSet presAssocID="{ACAF0333-6651-0B47-B8A5-BD801AF35E3A}" presName="parentLeftMargin" presStyleLbl="node1" presStyleIdx="1" presStyleCnt="4"/>
      <dgm:spPr/>
    </dgm:pt>
    <dgm:pt modelId="{C075EE60-5A8C-E349-A2CF-10B4D0BDAB2E}" type="pres">
      <dgm:prSet presAssocID="{ACAF0333-6651-0B47-B8A5-BD801AF35E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F791B3-F537-9642-BC7F-70CA08C8B528}" type="pres">
      <dgm:prSet presAssocID="{ACAF0333-6651-0B47-B8A5-BD801AF35E3A}" presName="negativeSpace" presStyleCnt="0"/>
      <dgm:spPr/>
    </dgm:pt>
    <dgm:pt modelId="{B2B37ABB-5FC3-7E49-AAE7-AD7ED2209609}" type="pres">
      <dgm:prSet presAssocID="{ACAF0333-6651-0B47-B8A5-BD801AF35E3A}" presName="childText" presStyleLbl="conFgAcc1" presStyleIdx="2" presStyleCnt="4">
        <dgm:presLayoutVars>
          <dgm:bulletEnabled val="1"/>
        </dgm:presLayoutVars>
      </dgm:prSet>
      <dgm:spPr/>
    </dgm:pt>
    <dgm:pt modelId="{886222BC-8D7C-614B-B52D-7D7C2F426866}" type="pres">
      <dgm:prSet presAssocID="{F87710B1-EFAB-7247-9651-5225BCAD5E30}" presName="spaceBetweenRectangles" presStyleCnt="0"/>
      <dgm:spPr/>
    </dgm:pt>
    <dgm:pt modelId="{67A61987-333A-D84D-B963-37C43B0AB777}" type="pres">
      <dgm:prSet presAssocID="{097D6C56-2A9D-CC47-9C9E-F1F83239054E}" presName="parentLin" presStyleCnt="0"/>
      <dgm:spPr/>
    </dgm:pt>
    <dgm:pt modelId="{17A22676-2058-ED4F-BAC8-B783C32608A4}" type="pres">
      <dgm:prSet presAssocID="{097D6C56-2A9D-CC47-9C9E-F1F83239054E}" presName="parentLeftMargin" presStyleLbl="node1" presStyleIdx="2" presStyleCnt="4"/>
      <dgm:spPr/>
    </dgm:pt>
    <dgm:pt modelId="{2092F69A-266E-5F4E-BDD7-9A3E01BE1A1B}" type="pres">
      <dgm:prSet presAssocID="{097D6C56-2A9D-CC47-9C9E-F1F83239054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DE1B88D-B4BE-C643-AADC-5BF51CB567BE}" type="pres">
      <dgm:prSet presAssocID="{097D6C56-2A9D-CC47-9C9E-F1F83239054E}" presName="negativeSpace" presStyleCnt="0"/>
      <dgm:spPr/>
    </dgm:pt>
    <dgm:pt modelId="{1DEE69E3-F756-B347-A5EE-A201EA524ADE}" type="pres">
      <dgm:prSet presAssocID="{097D6C56-2A9D-CC47-9C9E-F1F83239054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3991908-8028-AA47-B315-7EC04A4B5144}" type="presOf" srcId="{21F8C5A2-CC79-924E-B7D7-8D94DC7FBCF8}" destId="{B2B37ABB-5FC3-7E49-AAE7-AD7ED2209609}" srcOrd="0" destOrd="1" presId="urn:microsoft.com/office/officeart/2005/8/layout/list1"/>
    <dgm:cxn modelId="{C1D3E60A-0D46-2B4D-A62E-1656DA80055B}" srcId="{097D6C56-2A9D-CC47-9C9E-F1F83239054E}" destId="{E767CB28-E209-214C-A7F7-E1C0E558E104}" srcOrd="1" destOrd="0" parTransId="{1B5813AC-E774-1E45-8CBB-81CB6BB8798D}" sibTransId="{AC65229B-6B61-3A4D-939B-E3CA274FF7AE}"/>
    <dgm:cxn modelId="{7DB8E71D-C448-6D41-8FB5-E6492578D3FB}" type="presOf" srcId="{F719B65D-1E5B-3A41-AC48-DC34C5B7E1F1}" destId="{98FCDC00-05E7-5C45-B73F-6EFC0ECC36CA}" srcOrd="0" destOrd="1" presId="urn:microsoft.com/office/officeart/2005/8/layout/list1"/>
    <dgm:cxn modelId="{250E5223-807A-CC42-B7EA-21C99205731E}" type="presOf" srcId="{ACAF0333-6651-0B47-B8A5-BD801AF35E3A}" destId="{C075EE60-5A8C-E349-A2CF-10B4D0BDAB2E}" srcOrd="1" destOrd="0" presId="urn:microsoft.com/office/officeart/2005/8/layout/list1"/>
    <dgm:cxn modelId="{89EE0325-F228-7B43-BE3A-C26A1D319FED}" srcId="{E7A7F98D-7590-DF4C-9F34-3CADC992ED3D}" destId="{097D6C56-2A9D-CC47-9C9E-F1F83239054E}" srcOrd="3" destOrd="0" parTransId="{4D6F416A-27CF-BF40-8267-4A84960AE08F}" sibTransId="{CAE6012A-0433-8446-85B3-249BBC1C014B}"/>
    <dgm:cxn modelId="{C0D1E131-A657-5C40-9A96-2D62FFF1D150}" type="presOf" srcId="{A1CF34BF-585C-F44E-B793-F105B1C5CA77}" destId="{2697ACE6-CBB9-6541-B9A5-9E304C197B9B}" srcOrd="0" destOrd="0" presId="urn:microsoft.com/office/officeart/2005/8/layout/list1"/>
    <dgm:cxn modelId="{299B084A-6DD5-F545-B63E-4A85693F1154}" srcId="{E7A7F98D-7590-DF4C-9F34-3CADC992ED3D}" destId="{ACAF0333-6651-0B47-B8A5-BD801AF35E3A}" srcOrd="2" destOrd="0" parTransId="{433D2CE9-B1EE-5E48-BFF7-1DA88C362DAD}" sibTransId="{F87710B1-EFAB-7247-9651-5225BCAD5E30}"/>
    <dgm:cxn modelId="{E6D18F4D-A35A-A540-939B-944119398F19}" srcId="{ACAF0333-6651-0B47-B8A5-BD801AF35E3A}" destId="{21F8C5A2-CC79-924E-B7D7-8D94DC7FBCF8}" srcOrd="1" destOrd="0" parTransId="{597AE664-E04F-474C-817F-E48A5B8D0BD9}" sibTransId="{168BDA90-BC76-4C42-8741-2F02434C30CF}"/>
    <dgm:cxn modelId="{35377D52-DDE9-5441-9AAE-38345F3A0551}" srcId="{E7A7F98D-7590-DF4C-9F34-3CADC992ED3D}" destId="{55E2D4EF-62B4-3348-9E08-16DC1868FBCB}" srcOrd="0" destOrd="0" parTransId="{E73DE81A-D514-5444-A3BE-5B7788FF6391}" sibTransId="{39D85282-B2D8-3645-8083-A3A2BE4ABBE7}"/>
    <dgm:cxn modelId="{24329C55-87F7-7C47-B115-1FE6EC7121F6}" type="presOf" srcId="{75481C57-8F5E-3B4F-8857-CE58698A8237}" destId="{98FCDC00-05E7-5C45-B73F-6EFC0ECC36CA}" srcOrd="0" destOrd="0" presId="urn:microsoft.com/office/officeart/2005/8/layout/list1"/>
    <dgm:cxn modelId="{EA39FD5D-9245-604D-8A21-326780821CD1}" type="presOf" srcId="{6E4FFA90-70B6-E846-865E-2E856050CB4D}" destId="{2697ACE6-CBB9-6541-B9A5-9E304C197B9B}" srcOrd="0" destOrd="1" presId="urn:microsoft.com/office/officeart/2005/8/layout/list1"/>
    <dgm:cxn modelId="{6740DE70-6905-5644-B02B-990CA306F840}" type="presOf" srcId="{09F5BD59-AC65-6C42-9CEA-FFEC9CCFA610}" destId="{850CBE88-8E50-0C44-BFA6-D81846B95CEF}" srcOrd="1" destOrd="0" presId="urn:microsoft.com/office/officeart/2005/8/layout/list1"/>
    <dgm:cxn modelId="{16B15A7F-8F66-7049-B745-B17ADA06ABCC}" type="presOf" srcId="{C3B3D0CC-EC36-0140-8CB0-63E61E881764}" destId="{1DEE69E3-F756-B347-A5EE-A201EA524ADE}" srcOrd="0" destOrd="0" presId="urn:microsoft.com/office/officeart/2005/8/layout/list1"/>
    <dgm:cxn modelId="{9A4AD581-AFFE-FE47-A393-15A23EA2E526}" type="presOf" srcId="{55E2D4EF-62B4-3348-9E08-16DC1868FBCB}" destId="{5074AAD6-3DB9-8246-B824-86440B2BEDC1}" srcOrd="1" destOrd="0" presId="urn:microsoft.com/office/officeart/2005/8/layout/list1"/>
    <dgm:cxn modelId="{2C383484-6738-1449-A8C2-F894649DE543}" type="presOf" srcId="{E7A7F98D-7590-DF4C-9F34-3CADC992ED3D}" destId="{EB93BE41-DB24-0B45-851A-06289C79A78F}" srcOrd="0" destOrd="0" presId="urn:microsoft.com/office/officeart/2005/8/layout/list1"/>
    <dgm:cxn modelId="{20510991-01BB-0E4D-ABF5-E85DAAA35B36}" srcId="{ACAF0333-6651-0B47-B8A5-BD801AF35E3A}" destId="{7A01D657-ABF3-4848-8455-28C4C8799515}" srcOrd="0" destOrd="0" parTransId="{9960B417-EEEE-BD48-BE26-75D720C7B6F3}" sibTransId="{39CE26AC-F718-F345-BE03-5A14CBA9D688}"/>
    <dgm:cxn modelId="{E9E7AA94-D303-104A-AE8A-0C95F7D6B077}" srcId="{09F5BD59-AC65-6C42-9CEA-FFEC9CCFA610}" destId="{75481C57-8F5E-3B4F-8857-CE58698A8237}" srcOrd="0" destOrd="0" parTransId="{08134BF3-7586-9A4A-BFB9-1C92D78E3715}" sibTransId="{2D54B268-C8F8-1544-8B2D-97EE615F3654}"/>
    <dgm:cxn modelId="{32F1D994-C54C-1C41-A42D-843F4A43475C}" type="presOf" srcId="{097D6C56-2A9D-CC47-9C9E-F1F83239054E}" destId="{17A22676-2058-ED4F-BAC8-B783C32608A4}" srcOrd="0" destOrd="0" presId="urn:microsoft.com/office/officeart/2005/8/layout/list1"/>
    <dgm:cxn modelId="{855CA9AA-3518-5742-AE71-2983A7B00C1B}" type="presOf" srcId="{ACAF0333-6651-0B47-B8A5-BD801AF35E3A}" destId="{7886159E-F3F3-7140-AB86-6A2928C4460D}" srcOrd="0" destOrd="0" presId="urn:microsoft.com/office/officeart/2005/8/layout/list1"/>
    <dgm:cxn modelId="{7264BFB9-C7B0-0943-B1C5-A5C580EB40CE}" type="presOf" srcId="{09F5BD59-AC65-6C42-9CEA-FFEC9CCFA610}" destId="{E06E44C9-016E-0140-AA5C-9E86CB2C5C3E}" srcOrd="0" destOrd="0" presId="urn:microsoft.com/office/officeart/2005/8/layout/list1"/>
    <dgm:cxn modelId="{EE5268BD-E5DB-5543-80F1-6C7EA6264839}" type="presOf" srcId="{E767CB28-E209-214C-A7F7-E1C0E558E104}" destId="{1DEE69E3-F756-B347-A5EE-A201EA524ADE}" srcOrd="0" destOrd="1" presId="urn:microsoft.com/office/officeart/2005/8/layout/list1"/>
    <dgm:cxn modelId="{1B2665D8-FFD6-C648-A625-C70CA9451A76}" type="presOf" srcId="{097D6C56-2A9D-CC47-9C9E-F1F83239054E}" destId="{2092F69A-266E-5F4E-BDD7-9A3E01BE1A1B}" srcOrd="1" destOrd="0" presId="urn:microsoft.com/office/officeart/2005/8/layout/list1"/>
    <dgm:cxn modelId="{09D372D8-8CCB-2F47-B9E3-24E8F593A504}" type="presOf" srcId="{55E2D4EF-62B4-3348-9E08-16DC1868FBCB}" destId="{0F8709B1-9A70-4146-868D-2C1D7C7DF036}" srcOrd="0" destOrd="0" presId="urn:microsoft.com/office/officeart/2005/8/layout/list1"/>
    <dgm:cxn modelId="{DB8321DE-BEA7-3A42-8253-83BDD91F9175}" srcId="{55E2D4EF-62B4-3348-9E08-16DC1868FBCB}" destId="{6E4FFA90-70B6-E846-865E-2E856050CB4D}" srcOrd="1" destOrd="0" parTransId="{C4008814-9DC0-784D-9897-218953219008}" sibTransId="{2A38261A-1094-5941-8B4E-142BB29A78B2}"/>
    <dgm:cxn modelId="{4F1B85E1-9949-CA46-82A9-94B88A975EBD}" srcId="{09F5BD59-AC65-6C42-9CEA-FFEC9CCFA610}" destId="{F719B65D-1E5B-3A41-AC48-DC34C5B7E1F1}" srcOrd="1" destOrd="0" parTransId="{0037B233-E9E4-C440-892B-C0C43215D79E}" sibTransId="{E425B1CF-4DD3-744D-A50C-09763C3D4B95}"/>
    <dgm:cxn modelId="{92A9BBE5-C9FF-9748-8A8E-CFC223F7576F}" srcId="{55E2D4EF-62B4-3348-9E08-16DC1868FBCB}" destId="{A1CF34BF-585C-F44E-B793-F105B1C5CA77}" srcOrd="0" destOrd="0" parTransId="{8344F9BB-EDDF-EB47-AE27-E3CF91E607E6}" sibTransId="{A28EED2F-1D10-3247-B2D8-C958B460222E}"/>
    <dgm:cxn modelId="{465A50E9-2A2C-B44F-8F06-9331F35798BD}" srcId="{097D6C56-2A9D-CC47-9C9E-F1F83239054E}" destId="{C3B3D0CC-EC36-0140-8CB0-63E61E881764}" srcOrd="0" destOrd="0" parTransId="{ADC88F8E-F8C9-8A43-8FC0-F96581701496}" sibTransId="{0AC4F9B1-2B64-4F44-AC77-07904F3D2C6A}"/>
    <dgm:cxn modelId="{2B77D5F2-2813-5848-8758-9168F5A00042}" srcId="{E7A7F98D-7590-DF4C-9F34-3CADC992ED3D}" destId="{09F5BD59-AC65-6C42-9CEA-FFEC9CCFA610}" srcOrd="1" destOrd="0" parTransId="{346D4CCA-8A33-7F41-B0BE-32D5F4E0006F}" sibTransId="{B2B5EBE6-C7AC-B948-96A1-B2BDE3262B93}"/>
    <dgm:cxn modelId="{1439D8F6-FDA1-8C4C-8CE2-90071C76A3E5}" type="presOf" srcId="{7A01D657-ABF3-4848-8455-28C4C8799515}" destId="{B2B37ABB-5FC3-7E49-AAE7-AD7ED2209609}" srcOrd="0" destOrd="0" presId="urn:microsoft.com/office/officeart/2005/8/layout/list1"/>
    <dgm:cxn modelId="{2E209C50-0A6C-BD47-9B1C-EAA6C8FD0A41}" type="presParOf" srcId="{EB93BE41-DB24-0B45-851A-06289C79A78F}" destId="{08066036-5FD6-AD4F-A254-E87A37EB0B92}" srcOrd="0" destOrd="0" presId="urn:microsoft.com/office/officeart/2005/8/layout/list1"/>
    <dgm:cxn modelId="{30838555-F166-594C-9932-F4C9A160E531}" type="presParOf" srcId="{08066036-5FD6-AD4F-A254-E87A37EB0B92}" destId="{0F8709B1-9A70-4146-868D-2C1D7C7DF036}" srcOrd="0" destOrd="0" presId="urn:microsoft.com/office/officeart/2005/8/layout/list1"/>
    <dgm:cxn modelId="{9E8292C1-111F-924E-8016-EE5B65AF8DB9}" type="presParOf" srcId="{08066036-5FD6-AD4F-A254-E87A37EB0B92}" destId="{5074AAD6-3DB9-8246-B824-86440B2BEDC1}" srcOrd="1" destOrd="0" presId="urn:microsoft.com/office/officeart/2005/8/layout/list1"/>
    <dgm:cxn modelId="{37A271AB-ADA3-1C44-BC14-05D2D3946341}" type="presParOf" srcId="{EB93BE41-DB24-0B45-851A-06289C79A78F}" destId="{9EE2C335-6F7B-D541-B3FF-9606D359DD5E}" srcOrd="1" destOrd="0" presId="urn:microsoft.com/office/officeart/2005/8/layout/list1"/>
    <dgm:cxn modelId="{19F84749-C40E-DE41-A955-B437CFAEB6EB}" type="presParOf" srcId="{EB93BE41-DB24-0B45-851A-06289C79A78F}" destId="{2697ACE6-CBB9-6541-B9A5-9E304C197B9B}" srcOrd="2" destOrd="0" presId="urn:microsoft.com/office/officeart/2005/8/layout/list1"/>
    <dgm:cxn modelId="{61E344B8-7F5E-1C4A-BFD3-68CA3E626908}" type="presParOf" srcId="{EB93BE41-DB24-0B45-851A-06289C79A78F}" destId="{C190E2D6-7D3B-2B4F-9632-AF709052079C}" srcOrd="3" destOrd="0" presId="urn:microsoft.com/office/officeart/2005/8/layout/list1"/>
    <dgm:cxn modelId="{A655833F-4F0A-284A-AD3E-5CF34745D34F}" type="presParOf" srcId="{EB93BE41-DB24-0B45-851A-06289C79A78F}" destId="{7845421D-9E9A-8149-979D-EB044E6647A1}" srcOrd="4" destOrd="0" presId="urn:microsoft.com/office/officeart/2005/8/layout/list1"/>
    <dgm:cxn modelId="{7B593172-CF8A-E946-8B9D-53899688A1FA}" type="presParOf" srcId="{7845421D-9E9A-8149-979D-EB044E6647A1}" destId="{E06E44C9-016E-0140-AA5C-9E86CB2C5C3E}" srcOrd="0" destOrd="0" presId="urn:microsoft.com/office/officeart/2005/8/layout/list1"/>
    <dgm:cxn modelId="{71445786-6CE9-8F40-81DD-6258C1422382}" type="presParOf" srcId="{7845421D-9E9A-8149-979D-EB044E6647A1}" destId="{850CBE88-8E50-0C44-BFA6-D81846B95CEF}" srcOrd="1" destOrd="0" presId="urn:microsoft.com/office/officeart/2005/8/layout/list1"/>
    <dgm:cxn modelId="{23635784-409C-674E-BF73-338CEC7E1A1C}" type="presParOf" srcId="{EB93BE41-DB24-0B45-851A-06289C79A78F}" destId="{CCEB9F08-1E0D-6B4F-966B-6D603C98BEEC}" srcOrd="5" destOrd="0" presId="urn:microsoft.com/office/officeart/2005/8/layout/list1"/>
    <dgm:cxn modelId="{7F47FE4C-643F-5A4F-8616-D6002C55EAA0}" type="presParOf" srcId="{EB93BE41-DB24-0B45-851A-06289C79A78F}" destId="{98FCDC00-05E7-5C45-B73F-6EFC0ECC36CA}" srcOrd="6" destOrd="0" presId="urn:microsoft.com/office/officeart/2005/8/layout/list1"/>
    <dgm:cxn modelId="{A7E22944-9F84-8C4B-A45E-A966EE4BDE53}" type="presParOf" srcId="{EB93BE41-DB24-0B45-851A-06289C79A78F}" destId="{22713545-3B70-E347-9769-C0AEA354EC15}" srcOrd="7" destOrd="0" presId="urn:microsoft.com/office/officeart/2005/8/layout/list1"/>
    <dgm:cxn modelId="{2B067864-C0BB-EF46-A497-A1255CB778CD}" type="presParOf" srcId="{EB93BE41-DB24-0B45-851A-06289C79A78F}" destId="{3C71A9C1-1AE1-4B4E-AFB2-33E772885321}" srcOrd="8" destOrd="0" presId="urn:microsoft.com/office/officeart/2005/8/layout/list1"/>
    <dgm:cxn modelId="{BF21119B-54EC-1A42-A53D-6F0DCC00D6FE}" type="presParOf" srcId="{3C71A9C1-1AE1-4B4E-AFB2-33E772885321}" destId="{7886159E-F3F3-7140-AB86-6A2928C4460D}" srcOrd="0" destOrd="0" presId="urn:microsoft.com/office/officeart/2005/8/layout/list1"/>
    <dgm:cxn modelId="{E0E36B7B-E0EA-F247-B48B-A687FC83191D}" type="presParOf" srcId="{3C71A9C1-1AE1-4B4E-AFB2-33E772885321}" destId="{C075EE60-5A8C-E349-A2CF-10B4D0BDAB2E}" srcOrd="1" destOrd="0" presId="urn:microsoft.com/office/officeart/2005/8/layout/list1"/>
    <dgm:cxn modelId="{AB8ABCFD-4B21-6841-AA12-7A549B5FAD10}" type="presParOf" srcId="{EB93BE41-DB24-0B45-851A-06289C79A78F}" destId="{C9F791B3-F537-9642-BC7F-70CA08C8B528}" srcOrd="9" destOrd="0" presId="urn:microsoft.com/office/officeart/2005/8/layout/list1"/>
    <dgm:cxn modelId="{33687710-3C76-264F-8F59-F5EABE93AB5E}" type="presParOf" srcId="{EB93BE41-DB24-0B45-851A-06289C79A78F}" destId="{B2B37ABB-5FC3-7E49-AAE7-AD7ED2209609}" srcOrd="10" destOrd="0" presId="urn:microsoft.com/office/officeart/2005/8/layout/list1"/>
    <dgm:cxn modelId="{0249841A-55D5-454A-B73E-EFEE5CDE0397}" type="presParOf" srcId="{EB93BE41-DB24-0B45-851A-06289C79A78F}" destId="{886222BC-8D7C-614B-B52D-7D7C2F426866}" srcOrd="11" destOrd="0" presId="urn:microsoft.com/office/officeart/2005/8/layout/list1"/>
    <dgm:cxn modelId="{E55A289D-5479-0042-9AAB-850A110E0D24}" type="presParOf" srcId="{EB93BE41-DB24-0B45-851A-06289C79A78F}" destId="{67A61987-333A-D84D-B963-37C43B0AB777}" srcOrd="12" destOrd="0" presId="urn:microsoft.com/office/officeart/2005/8/layout/list1"/>
    <dgm:cxn modelId="{4D3596D4-4CDF-5743-9E29-92E16CAF1583}" type="presParOf" srcId="{67A61987-333A-D84D-B963-37C43B0AB777}" destId="{17A22676-2058-ED4F-BAC8-B783C32608A4}" srcOrd="0" destOrd="0" presId="urn:microsoft.com/office/officeart/2005/8/layout/list1"/>
    <dgm:cxn modelId="{09E80E45-A01B-724D-9C65-B35E0293A6E0}" type="presParOf" srcId="{67A61987-333A-D84D-B963-37C43B0AB777}" destId="{2092F69A-266E-5F4E-BDD7-9A3E01BE1A1B}" srcOrd="1" destOrd="0" presId="urn:microsoft.com/office/officeart/2005/8/layout/list1"/>
    <dgm:cxn modelId="{748470A8-9BD7-0041-8B3B-57389B3A5831}" type="presParOf" srcId="{EB93BE41-DB24-0B45-851A-06289C79A78F}" destId="{ADE1B88D-B4BE-C643-AADC-5BF51CB567BE}" srcOrd="13" destOrd="0" presId="urn:microsoft.com/office/officeart/2005/8/layout/list1"/>
    <dgm:cxn modelId="{3253FD0B-9708-8440-93FD-82A081CA32C9}" type="presParOf" srcId="{EB93BE41-DB24-0B45-851A-06289C79A78F}" destId="{1DEE69E3-F756-B347-A5EE-A201EA524AD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CFC957-90B9-D943-85BB-B380E55B38CC}" type="doc">
      <dgm:prSet loTypeId="urn:microsoft.com/office/officeart/2005/8/layout/process4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CC7990-FADD-B94E-8BDB-C12604013875}">
      <dgm:prSet phldrT="[Text]"/>
      <dgm:spPr/>
      <dgm:t>
        <a:bodyPr/>
        <a:lstStyle/>
        <a:p>
          <a:pPr rtl="0"/>
          <a:r>
            <a:rPr lang="en-US" dirty="0"/>
            <a:t>Define the biological question</a:t>
          </a:r>
        </a:p>
      </dgm:t>
    </dgm:pt>
    <dgm:pt modelId="{31BA89F3-6D5D-464B-9D7E-5ED4511564EC}" type="parTrans" cxnId="{CDD7E485-BD73-DF4E-8583-FF3C3CFD8805}">
      <dgm:prSet/>
      <dgm:spPr/>
      <dgm:t>
        <a:bodyPr/>
        <a:lstStyle/>
        <a:p>
          <a:endParaRPr lang="en-US"/>
        </a:p>
      </dgm:t>
    </dgm:pt>
    <dgm:pt modelId="{8863C540-C067-AF48-84E7-AC22A6B40EFC}" type="sibTrans" cxnId="{CDD7E485-BD73-DF4E-8583-FF3C3CFD8805}">
      <dgm:prSet/>
      <dgm:spPr/>
      <dgm:t>
        <a:bodyPr/>
        <a:lstStyle/>
        <a:p>
          <a:endParaRPr lang="en-US"/>
        </a:p>
      </dgm:t>
    </dgm:pt>
    <dgm:pt modelId="{33459371-7B61-574E-A728-BD59241A73CF}">
      <dgm:prSet phldrT="[Text]"/>
      <dgm:spPr/>
      <dgm:t>
        <a:bodyPr/>
        <a:lstStyle/>
        <a:p>
          <a:r>
            <a:rPr lang="en-US" dirty="0"/>
            <a:t>Select the model family &amp; relevant constraints + baselines</a:t>
          </a:r>
        </a:p>
      </dgm:t>
    </dgm:pt>
    <dgm:pt modelId="{E6F98382-741C-054E-89C0-D2902AA54BCD}" type="parTrans" cxnId="{9E741983-74E0-F84F-8647-7F962808EEE9}">
      <dgm:prSet/>
      <dgm:spPr/>
      <dgm:t>
        <a:bodyPr/>
        <a:lstStyle/>
        <a:p>
          <a:endParaRPr lang="en-US"/>
        </a:p>
      </dgm:t>
    </dgm:pt>
    <dgm:pt modelId="{521653E7-4750-AE49-9ED1-295B0A921DC1}" type="sibTrans" cxnId="{9E741983-74E0-F84F-8647-7F962808EEE9}">
      <dgm:prSet/>
      <dgm:spPr/>
      <dgm:t>
        <a:bodyPr/>
        <a:lstStyle/>
        <a:p>
          <a:endParaRPr lang="en-US"/>
        </a:p>
      </dgm:t>
    </dgm:pt>
    <dgm:pt modelId="{FDA56CCB-DFE4-E840-B7C0-264EE54705A4}">
      <dgm:prSet phldrT="[Text]"/>
      <dgm:spPr/>
      <dgm:t>
        <a:bodyPr/>
        <a:lstStyle/>
        <a:p>
          <a:pPr rtl="0"/>
          <a:r>
            <a:rPr lang="en-US" dirty="0"/>
            <a:t>Decide on fine-tuning strategy</a:t>
          </a:r>
        </a:p>
      </dgm:t>
    </dgm:pt>
    <dgm:pt modelId="{E63CE34C-3B19-AA47-84FA-B954DA312296}" type="parTrans" cxnId="{141EA98B-2426-5444-8C55-E0AB3698D727}">
      <dgm:prSet/>
      <dgm:spPr/>
      <dgm:t>
        <a:bodyPr/>
        <a:lstStyle/>
        <a:p>
          <a:endParaRPr lang="en-US"/>
        </a:p>
      </dgm:t>
    </dgm:pt>
    <dgm:pt modelId="{439B3942-B4C1-3046-9FD6-955101351625}" type="sibTrans" cxnId="{141EA98B-2426-5444-8C55-E0AB3698D727}">
      <dgm:prSet/>
      <dgm:spPr/>
      <dgm:t>
        <a:bodyPr/>
        <a:lstStyle/>
        <a:p>
          <a:endParaRPr lang="en-US"/>
        </a:p>
      </dgm:t>
    </dgm:pt>
    <dgm:pt modelId="{3F7259B3-2693-CE47-B776-44543F0B997C}">
      <dgm:prSet phldrT="[Text]"/>
      <dgm:spPr/>
      <dgm:t>
        <a:bodyPr/>
        <a:lstStyle/>
        <a:p>
          <a:pPr rtl="0"/>
          <a:r>
            <a:rPr lang="en-US" dirty="0"/>
            <a:t>Select and curate data &amp; splits</a:t>
          </a:r>
        </a:p>
      </dgm:t>
    </dgm:pt>
    <dgm:pt modelId="{6EEC6B6F-48C0-1447-A1FE-2D16C774C22B}" type="parTrans" cxnId="{A358416B-A0EB-0E4B-9BCC-F32A24210393}">
      <dgm:prSet/>
      <dgm:spPr/>
      <dgm:t>
        <a:bodyPr/>
        <a:lstStyle/>
        <a:p>
          <a:endParaRPr lang="en-US"/>
        </a:p>
      </dgm:t>
    </dgm:pt>
    <dgm:pt modelId="{B3BEA97B-2D68-564C-8883-D7EB016CC4B0}" type="sibTrans" cxnId="{A358416B-A0EB-0E4B-9BCC-F32A24210393}">
      <dgm:prSet/>
      <dgm:spPr/>
      <dgm:t>
        <a:bodyPr/>
        <a:lstStyle/>
        <a:p>
          <a:endParaRPr lang="en-US"/>
        </a:p>
      </dgm:t>
    </dgm:pt>
    <dgm:pt modelId="{5BCA3F7A-76F4-8248-BEAB-13C42DB28B97}">
      <dgm:prSet phldrT="[Text]"/>
      <dgm:spPr/>
      <dgm:t>
        <a:bodyPr/>
        <a:lstStyle/>
        <a:p>
          <a:pPr rtl="0"/>
          <a:r>
            <a:rPr lang="en-US" dirty="0"/>
            <a:t>Align preprocessing with task &amp; model assumptions</a:t>
          </a:r>
        </a:p>
      </dgm:t>
    </dgm:pt>
    <dgm:pt modelId="{BF1D640D-12C4-E343-ADD6-E36BA99E0D6B}" type="parTrans" cxnId="{92B3BC94-63B6-D94E-A8B5-8886B5431383}">
      <dgm:prSet/>
      <dgm:spPr/>
      <dgm:t>
        <a:bodyPr/>
        <a:lstStyle/>
        <a:p>
          <a:endParaRPr lang="en-US"/>
        </a:p>
      </dgm:t>
    </dgm:pt>
    <dgm:pt modelId="{AE7E2E67-18A2-A64A-A630-6E7C67176FA9}" type="sibTrans" cxnId="{92B3BC94-63B6-D94E-A8B5-8886B5431383}">
      <dgm:prSet/>
      <dgm:spPr/>
      <dgm:t>
        <a:bodyPr/>
        <a:lstStyle/>
        <a:p>
          <a:endParaRPr lang="en-US"/>
        </a:p>
      </dgm:t>
    </dgm:pt>
    <dgm:pt modelId="{173E22ED-0BBD-B24D-BBF5-428F0C4BD53E}">
      <dgm:prSet phldrT="[Text]"/>
      <dgm:spPr/>
      <dgm:t>
        <a:bodyPr/>
        <a:lstStyle/>
        <a:p>
          <a:pPr rtl="0"/>
          <a:r>
            <a:rPr lang="en-US" dirty="0"/>
            <a:t>Specify experiment &amp; metrics</a:t>
          </a:r>
        </a:p>
      </dgm:t>
    </dgm:pt>
    <dgm:pt modelId="{9CAEC7F2-2841-BC46-A2C4-4884E62F35B3}" type="parTrans" cxnId="{02422AD0-EE79-EE43-B09B-21D79A808DF1}">
      <dgm:prSet/>
      <dgm:spPr/>
      <dgm:t>
        <a:bodyPr/>
        <a:lstStyle/>
        <a:p>
          <a:endParaRPr lang="en-US"/>
        </a:p>
      </dgm:t>
    </dgm:pt>
    <dgm:pt modelId="{D799DA9E-0F70-D64E-A703-99C3A9958F93}" type="sibTrans" cxnId="{02422AD0-EE79-EE43-B09B-21D79A808DF1}">
      <dgm:prSet/>
      <dgm:spPr/>
      <dgm:t>
        <a:bodyPr/>
        <a:lstStyle/>
        <a:p>
          <a:endParaRPr lang="en-US"/>
        </a:p>
      </dgm:t>
    </dgm:pt>
    <dgm:pt modelId="{9E06BB61-CF64-1E47-9223-A3D131F25B26}">
      <dgm:prSet phldrT="[Text]"/>
      <dgm:spPr/>
      <dgm:t>
        <a:bodyPr/>
        <a:lstStyle/>
        <a:p>
          <a:pPr rtl="0"/>
          <a:r>
            <a:rPr lang="en-US" dirty="0"/>
            <a:t>Fine-tune, evaluate, interpret, Loop back if evaluation failed</a:t>
          </a:r>
        </a:p>
      </dgm:t>
    </dgm:pt>
    <dgm:pt modelId="{CE602038-73D0-8246-BBB1-1079E2277190}" type="parTrans" cxnId="{DE595B68-C40C-BC4A-819D-DFEF1E551EC6}">
      <dgm:prSet/>
      <dgm:spPr/>
      <dgm:t>
        <a:bodyPr/>
        <a:lstStyle/>
        <a:p>
          <a:endParaRPr lang="en-US"/>
        </a:p>
      </dgm:t>
    </dgm:pt>
    <dgm:pt modelId="{CDDB0EE6-C0E4-3747-8F68-E7D3EB2AC9DE}" type="sibTrans" cxnId="{DE595B68-C40C-BC4A-819D-DFEF1E551EC6}">
      <dgm:prSet/>
      <dgm:spPr/>
      <dgm:t>
        <a:bodyPr/>
        <a:lstStyle/>
        <a:p>
          <a:endParaRPr lang="en-US"/>
        </a:p>
      </dgm:t>
    </dgm:pt>
    <dgm:pt modelId="{EE4A3555-3628-274F-8066-A453C445FF6C}" type="pres">
      <dgm:prSet presAssocID="{0CCFC957-90B9-D943-85BB-B380E55B38CC}" presName="Name0" presStyleCnt="0">
        <dgm:presLayoutVars>
          <dgm:dir/>
          <dgm:animLvl val="lvl"/>
          <dgm:resizeHandles val="exact"/>
        </dgm:presLayoutVars>
      </dgm:prSet>
      <dgm:spPr/>
    </dgm:pt>
    <dgm:pt modelId="{1D7ADAB0-18D3-F141-80B9-00F4703502ED}" type="pres">
      <dgm:prSet presAssocID="{9E06BB61-CF64-1E47-9223-A3D131F25B26}" presName="boxAndChildren" presStyleCnt="0"/>
      <dgm:spPr/>
    </dgm:pt>
    <dgm:pt modelId="{80EE094B-0949-A34D-930D-5209058F9B09}" type="pres">
      <dgm:prSet presAssocID="{9E06BB61-CF64-1E47-9223-A3D131F25B26}" presName="parentTextBox" presStyleLbl="node1" presStyleIdx="0" presStyleCnt="7"/>
      <dgm:spPr/>
    </dgm:pt>
    <dgm:pt modelId="{7F1C0325-2480-5040-9176-22C084D4E4F4}" type="pres">
      <dgm:prSet presAssocID="{D799DA9E-0F70-D64E-A703-99C3A9958F93}" presName="sp" presStyleCnt="0"/>
      <dgm:spPr/>
    </dgm:pt>
    <dgm:pt modelId="{75C2EAFB-9BBA-2945-9B7E-840AC1FF1202}" type="pres">
      <dgm:prSet presAssocID="{173E22ED-0BBD-B24D-BBF5-428F0C4BD53E}" presName="arrowAndChildren" presStyleCnt="0"/>
      <dgm:spPr/>
    </dgm:pt>
    <dgm:pt modelId="{D2589BAA-639B-504A-9242-43E607209A53}" type="pres">
      <dgm:prSet presAssocID="{173E22ED-0BBD-B24D-BBF5-428F0C4BD53E}" presName="parentTextArrow" presStyleLbl="node1" presStyleIdx="1" presStyleCnt="7"/>
      <dgm:spPr/>
    </dgm:pt>
    <dgm:pt modelId="{278E52BD-BEEA-4B45-9A02-F2EEB4B91E03}" type="pres">
      <dgm:prSet presAssocID="{AE7E2E67-18A2-A64A-A630-6E7C67176FA9}" presName="sp" presStyleCnt="0"/>
      <dgm:spPr/>
    </dgm:pt>
    <dgm:pt modelId="{08A5A39C-9D6C-2540-A32D-250829B90107}" type="pres">
      <dgm:prSet presAssocID="{5BCA3F7A-76F4-8248-BEAB-13C42DB28B97}" presName="arrowAndChildren" presStyleCnt="0"/>
      <dgm:spPr/>
    </dgm:pt>
    <dgm:pt modelId="{3897490C-E2CA-8647-8A1E-44EB671BF0D2}" type="pres">
      <dgm:prSet presAssocID="{5BCA3F7A-76F4-8248-BEAB-13C42DB28B97}" presName="parentTextArrow" presStyleLbl="node1" presStyleIdx="2" presStyleCnt="7"/>
      <dgm:spPr/>
    </dgm:pt>
    <dgm:pt modelId="{7AE0073B-A0AE-B743-A421-1DBD4A8DFB54}" type="pres">
      <dgm:prSet presAssocID="{B3BEA97B-2D68-564C-8883-D7EB016CC4B0}" presName="sp" presStyleCnt="0"/>
      <dgm:spPr/>
    </dgm:pt>
    <dgm:pt modelId="{BC709D25-A0F8-1F41-A21B-CA69D21C648F}" type="pres">
      <dgm:prSet presAssocID="{3F7259B3-2693-CE47-B776-44543F0B997C}" presName="arrowAndChildren" presStyleCnt="0"/>
      <dgm:spPr/>
    </dgm:pt>
    <dgm:pt modelId="{D5E55205-B32C-D748-8BC6-29CD6344DE86}" type="pres">
      <dgm:prSet presAssocID="{3F7259B3-2693-CE47-B776-44543F0B997C}" presName="parentTextArrow" presStyleLbl="node1" presStyleIdx="3" presStyleCnt="7"/>
      <dgm:spPr/>
    </dgm:pt>
    <dgm:pt modelId="{30FA2BC6-00E9-6D49-84D0-F3339C12B90B}" type="pres">
      <dgm:prSet presAssocID="{439B3942-B4C1-3046-9FD6-955101351625}" presName="sp" presStyleCnt="0"/>
      <dgm:spPr/>
    </dgm:pt>
    <dgm:pt modelId="{6FCFF00F-296C-EA47-96B1-56DAC11CCD65}" type="pres">
      <dgm:prSet presAssocID="{FDA56CCB-DFE4-E840-B7C0-264EE54705A4}" presName="arrowAndChildren" presStyleCnt="0"/>
      <dgm:spPr/>
    </dgm:pt>
    <dgm:pt modelId="{3B087DAF-09BC-6340-951D-A99CFA6C9076}" type="pres">
      <dgm:prSet presAssocID="{FDA56CCB-DFE4-E840-B7C0-264EE54705A4}" presName="parentTextArrow" presStyleLbl="node1" presStyleIdx="4" presStyleCnt="7"/>
      <dgm:spPr/>
    </dgm:pt>
    <dgm:pt modelId="{AEB007E2-D20D-8444-A17B-9CFD4BC63106}" type="pres">
      <dgm:prSet presAssocID="{521653E7-4750-AE49-9ED1-295B0A921DC1}" presName="sp" presStyleCnt="0"/>
      <dgm:spPr/>
    </dgm:pt>
    <dgm:pt modelId="{36C57ED8-F08D-9E47-B2F1-F509F3824493}" type="pres">
      <dgm:prSet presAssocID="{33459371-7B61-574E-A728-BD59241A73CF}" presName="arrowAndChildren" presStyleCnt="0"/>
      <dgm:spPr/>
    </dgm:pt>
    <dgm:pt modelId="{F2233B8A-F01C-A94B-A05D-19D617C70416}" type="pres">
      <dgm:prSet presAssocID="{33459371-7B61-574E-A728-BD59241A73CF}" presName="parentTextArrow" presStyleLbl="node1" presStyleIdx="5" presStyleCnt="7"/>
      <dgm:spPr/>
    </dgm:pt>
    <dgm:pt modelId="{6B4D1AB2-6BAB-7A40-A2EA-F9E5DABD08E3}" type="pres">
      <dgm:prSet presAssocID="{8863C540-C067-AF48-84E7-AC22A6B40EFC}" presName="sp" presStyleCnt="0"/>
      <dgm:spPr/>
    </dgm:pt>
    <dgm:pt modelId="{0B3A8ED8-2F61-1046-8ED0-88C696402E25}" type="pres">
      <dgm:prSet presAssocID="{51CC7990-FADD-B94E-8BDB-C12604013875}" presName="arrowAndChildren" presStyleCnt="0"/>
      <dgm:spPr/>
    </dgm:pt>
    <dgm:pt modelId="{F3ECD65E-ECD3-1B47-90C1-4229C327DB22}" type="pres">
      <dgm:prSet presAssocID="{51CC7990-FADD-B94E-8BDB-C12604013875}" presName="parentTextArrow" presStyleLbl="node1" presStyleIdx="6" presStyleCnt="7"/>
      <dgm:spPr/>
    </dgm:pt>
  </dgm:ptLst>
  <dgm:cxnLst>
    <dgm:cxn modelId="{30E1920C-96CC-FF49-86F3-EBCC659DC309}" type="presOf" srcId="{FDA56CCB-DFE4-E840-B7C0-264EE54705A4}" destId="{3B087DAF-09BC-6340-951D-A99CFA6C9076}" srcOrd="0" destOrd="0" presId="urn:microsoft.com/office/officeart/2005/8/layout/process4"/>
    <dgm:cxn modelId="{5547B52D-39D8-7644-A5FA-7501CA3776A7}" type="presOf" srcId="{173E22ED-0BBD-B24D-BBF5-428F0C4BD53E}" destId="{D2589BAA-639B-504A-9242-43E607209A53}" srcOrd="0" destOrd="0" presId="urn:microsoft.com/office/officeart/2005/8/layout/process4"/>
    <dgm:cxn modelId="{DE595B68-C40C-BC4A-819D-DFEF1E551EC6}" srcId="{0CCFC957-90B9-D943-85BB-B380E55B38CC}" destId="{9E06BB61-CF64-1E47-9223-A3D131F25B26}" srcOrd="6" destOrd="0" parTransId="{CE602038-73D0-8246-BBB1-1079E2277190}" sibTransId="{CDDB0EE6-C0E4-3747-8F68-E7D3EB2AC9DE}"/>
    <dgm:cxn modelId="{A358416B-A0EB-0E4B-9BCC-F32A24210393}" srcId="{0CCFC957-90B9-D943-85BB-B380E55B38CC}" destId="{3F7259B3-2693-CE47-B776-44543F0B997C}" srcOrd="3" destOrd="0" parTransId="{6EEC6B6F-48C0-1447-A1FE-2D16C774C22B}" sibTransId="{B3BEA97B-2D68-564C-8883-D7EB016CC4B0}"/>
    <dgm:cxn modelId="{9E741983-74E0-F84F-8647-7F962808EEE9}" srcId="{0CCFC957-90B9-D943-85BB-B380E55B38CC}" destId="{33459371-7B61-574E-A728-BD59241A73CF}" srcOrd="1" destOrd="0" parTransId="{E6F98382-741C-054E-89C0-D2902AA54BCD}" sibTransId="{521653E7-4750-AE49-9ED1-295B0A921DC1}"/>
    <dgm:cxn modelId="{CDD7E485-BD73-DF4E-8583-FF3C3CFD8805}" srcId="{0CCFC957-90B9-D943-85BB-B380E55B38CC}" destId="{51CC7990-FADD-B94E-8BDB-C12604013875}" srcOrd="0" destOrd="0" parTransId="{31BA89F3-6D5D-464B-9D7E-5ED4511564EC}" sibTransId="{8863C540-C067-AF48-84E7-AC22A6B40EFC}"/>
    <dgm:cxn modelId="{BFDD148A-3EF4-B84A-B9F5-C3B761D612D1}" type="presOf" srcId="{0CCFC957-90B9-D943-85BB-B380E55B38CC}" destId="{EE4A3555-3628-274F-8066-A453C445FF6C}" srcOrd="0" destOrd="0" presId="urn:microsoft.com/office/officeart/2005/8/layout/process4"/>
    <dgm:cxn modelId="{141EA98B-2426-5444-8C55-E0AB3698D727}" srcId="{0CCFC957-90B9-D943-85BB-B380E55B38CC}" destId="{FDA56CCB-DFE4-E840-B7C0-264EE54705A4}" srcOrd="2" destOrd="0" parTransId="{E63CE34C-3B19-AA47-84FA-B954DA312296}" sibTransId="{439B3942-B4C1-3046-9FD6-955101351625}"/>
    <dgm:cxn modelId="{92B3BC94-63B6-D94E-A8B5-8886B5431383}" srcId="{0CCFC957-90B9-D943-85BB-B380E55B38CC}" destId="{5BCA3F7A-76F4-8248-BEAB-13C42DB28B97}" srcOrd="4" destOrd="0" parTransId="{BF1D640D-12C4-E343-ADD6-E36BA99E0D6B}" sibTransId="{AE7E2E67-18A2-A64A-A630-6E7C67176FA9}"/>
    <dgm:cxn modelId="{F40F3E95-B849-C44F-A10F-8B1DF73731A6}" type="presOf" srcId="{33459371-7B61-574E-A728-BD59241A73CF}" destId="{F2233B8A-F01C-A94B-A05D-19D617C70416}" srcOrd="0" destOrd="0" presId="urn:microsoft.com/office/officeart/2005/8/layout/process4"/>
    <dgm:cxn modelId="{6F3F999E-693D-2748-8E10-EB8A65A8CFEA}" type="presOf" srcId="{5BCA3F7A-76F4-8248-BEAB-13C42DB28B97}" destId="{3897490C-E2CA-8647-8A1E-44EB671BF0D2}" srcOrd="0" destOrd="0" presId="urn:microsoft.com/office/officeart/2005/8/layout/process4"/>
    <dgm:cxn modelId="{E2A898A1-E2CA-D940-A6EA-9F0485876507}" type="presOf" srcId="{9E06BB61-CF64-1E47-9223-A3D131F25B26}" destId="{80EE094B-0949-A34D-930D-5209058F9B09}" srcOrd="0" destOrd="0" presId="urn:microsoft.com/office/officeart/2005/8/layout/process4"/>
    <dgm:cxn modelId="{249818B6-8C00-E74D-B799-9F20299A1776}" type="presOf" srcId="{3F7259B3-2693-CE47-B776-44543F0B997C}" destId="{D5E55205-B32C-D748-8BC6-29CD6344DE86}" srcOrd="0" destOrd="0" presId="urn:microsoft.com/office/officeart/2005/8/layout/process4"/>
    <dgm:cxn modelId="{710632C3-DEEE-BF45-9378-9F10BA186C03}" type="presOf" srcId="{51CC7990-FADD-B94E-8BDB-C12604013875}" destId="{F3ECD65E-ECD3-1B47-90C1-4229C327DB22}" srcOrd="0" destOrd="0" presId="urn:microsoft.com/office/officeart/2005/8/layout/process4"/>
    <dgm:cxn modelId="{02422AD0-EE79-EE43-B09B-21D79A808DF1}" srcId="{0CCFC957-90B9-D943-85BB-B380E55B38CC}" destId="{173E22ED-0BBD-B24D-BBF5-428F0C4BD53E}" srcOrd="5" destOrd="0" parTransId="{9CAEC7F2-2841-BC46-A2C4-4884E62F35B3}" sibTransId="{D799DA9E-0F70-D64E-A703-99C3A9958F93}"/>
    <dgm:cxn modelId="{B8B19ACD-DA7D-3F40-8855-387BD6C87444}" type="presParOf" srcId="{EE4A3555-3628-274F-8066-A453C445FF6C}" destId="{1D7ADAB0-18D3-F141-80B9-00F4703502ED}" srcOrd="0" destOrd="0" presId="urn:microsoft.com/office/officeart/2005/8/layout/process4"/>
    <dgm:cxn modelId="{D1BA36EF-EA40-994B-A48D-F14B90E472A9}" type="presParOf" srcId="{1D7ADAB0-18D3-F141-80B9-00F4703502ED}" destId="{80EE094B-0949-A34D-930D-5209058F9B09}" srcOrd="0" destOrd="0" presId="urn:microsoft.com/office/officeart/2005/8/layout/process4"/>
    <dgm:cxn modelId="{CDDC802D-DEDF-0943-94B7-B355DEC73175}" type="presParOf" srcId="{EE4A3555-3628-274F-8066-A453C445FF6C}" destId="{7F1C0325-2480-5040-9176-22C084D4E4F4}" srcOrd="1" destOrd="0" presId="urn:microsoft.com/office/officeart/2005/8/layout/process4"/>
    <dgm:cxn modelId="{5268EF64-8734-E640-948A-DF379AD42368}" type="presParOf" srcId="{EE4A3555-3628-274F-8066-A453C445FF6C}" destId="{75C2EAFB-9BBA-2945-9B7E-840AC1FF1202}" srcOrd="2" destOrd="0" presId="urn:microsoft.com/office/officeart/2005/8/layout/process4"/>
    <dgm:cxn modelId="{B794A915-7A46-EF47-A981-DB58A059E906}" type="presParOf" srcId="{75C2EAFB-9BBA-2945-9B7E-840AC1FF1202}" destId="{D2589BAA-639B-504A-9242-43E607209A53}" srcOrd="0" destOrd="0" presId="urn:microsoft.com/office/officeart/2005/8/layout/process4"/>
    <dgm:cxn modelId="{7A334F23-D322-E548-B2EC-726AB8B0E49B}" type="presParOf" srcId="{EE4A3555-3628-274F-8066-A453C445FF6C}" destId="{278E52BD-BEEA-4B45-9A02-F2EEB4B91E03}" srcOrd="3" destOrd="0" presId="urn:microsoft.com/office/officeart/2005/8/layout/process4"/>
    <dgm:cxn modelId="{DFFCCE14-A5AA-4744-903D-7DB70AEC8C1B}" type="presParOf" srcId="{EE4A3555-3628-274F-8066-A453C445FF6C}" destId="{08A5A39C-9D6C-2540-A32D-250829B90107}" srcOrd="4" destOrd="0" presId="urn:microsoft.com/office/officeart/2005/8/layout/process4"/>
    <dgm:cxn modelId="{94BEE816-2E78-1A45-9914-71F58632FF17}" type="presParOf" srcId="{08A5A39C-9D6C-2540-A32D-250829B90107}" destId="{3897490C-E2CA-8647-8A1E-44EB671BF0D2}" srcOrd="0" destOrd="0" presId="urn:microsoft.com/office/officeart/2005/8/layout/process4"/>
    <dgm:cxn modelId="{285D8989-A23C-174F-BAC2-266EF0A0DD41}" type="presParOf" srcId="{EE4A3555-3628-274F-8066-A453C445FF6C}" destId="{7AE0073B-A0AE-B743-A421-1DBD4A8DFB54}" srcOrd="5" destOrd="0" presId="urn:microsoft.com/office/officeart/2005/8/layout/process4"/>
    <dgm:cxn modelId="{AD7169E3-67C6-6040-AD28-E43AF92D1005}" type="presParOf" srcId="{EE4A3555-3628-274F-8066-A453C445FF6C}" destId="{BC709D25-A0F8-1F41-A21B-CA69D21C648F}" srcOrd="6" destOrd="0" presId="urn:microsoft.com/office/officeart/2005/8/layout/process4"/>
    <dgm:cxn modelId="{B7D131CA-DD5D-4E43-842C-D8ED001879BE}" type="presParOf" srcId="{BC709D25-A0F8-1F41-A21B-CA69D21C648F}" destId="{D5E55205-B32C-D748-8BC6-29CD6344DE86}" srcOrd="0" destOrd="0" presId="urn:microsoft.com/office/officeart/2005/8/layout/process4"/>
    <dgm:cxn modelId="{BDFDA83F-D026-2647-8883-6BD649266414}" type="presParOf" srcId="{EE4A3555-3628-274F-8066-A453C445FF6C}" destId="{30FA2BC6-00E9-6D49-84D0-F3339C12B90B}" srcOrd="7" destOrd="0" presId="urn:microsoft.com/office/officeart/2005/8/layout/process4"/>
    <dgm:cxn modelId="{59FA52BD-934E-A44F-8048-29CF3474A49A}" type="presParOf" srcId="{EE4A3555-3628-274F-8066-A453C445FF6C}" destId="{6FCFF00F-296C-EA47-96B1-56DAC11CCD65}" srcOrd="8" destOrd="0" presId="urn:microsoft.com/office/officeart/2005/8/layout/process4"/>
    <dgm:cxn modelId="{D50A42AC-E46C-1041-A773-0F900293FC35}" type="presParOf" srcId="{6FCFF00F-296C-EA47-96B1-56DAC11CCD65}" destId="{3B087DAF-09BC-6340-951D-A99CFA6C9076}" srcOrd="0" destOrd="0" presId="urn:microsoft.com/office/officeart/2005/8/layout/process4"/>
    <dgm:cxn modelId="{CB7CC5BF-C4EB-9547-AE10-1CDA70C0BCCC}" type="presParOf" srcId="{EE4A3555-3628-274F-8066-A453C445FF6C}" destId="{AEB007E2-D20D-8444-A17B-9CFD4BC63106}" srcOrd="9" destOrd="0" presId="urn:microsoft.com/office/officeart/2005/8/layout/process4"/>
    <dgm:cxn modelId="{9D3935BD-6C55-8E47-9573-316971C4865B}" type="presParOf" srcId="{EE4A3555-3628-274F-8066-A453C445FF6C}" destId="{36C57ED8-F08D-9E47-B2F1-F509F3824493}" srcOrd="10" destOrd="0" presId="urn:microsoft.com/office/officeart/2005/8/layout/process4"/>
    <dgm:cxn modelId="{7F1CC6FA-B8CD-6F44-9F0A-327B71C98BA9}" type="presParOf" srcId="{36C57ED8-F08D-9E47-B2F1-F509F3824493}" destId="{F2233B8A-F01C-A94B-A05D-19D617C70416}" srcOrd="0" destOrd="0" presId="urn:microsoft.com/office/officeart/2005/8/layout/process4"/>
    <dgm:cxn modelId="{30C3976C-C175-4641-8A98-F031A89F945A}" type="presParOf" srcId="{EE4A3555-3628-274F-8066-A453C445FF6C}" destId="{6B4D1AB2-6BAB-7A40-A2EA-F9E5DABD08E3}" srcOrd="11" destOrd="0" presId="urn:microsoft.com/office/officeart/2005/8/layout/process4"/>
    <dgm:cxn modelId="{3067A362-C132-594E-8661-5B0D4AA81DC6}" type="presParOf" srcId="{EE4A3555-3628-274F-8066-A453C445FF6C}" destId="{0B3A8ED8-2F61-1046-8ED0-88C696402E25}" srcOrd="12" destOrd="0" presId="urn:microsoft.com/office/officeart/2005/8/layout/process4"/>
    <dgm:cxn modelId="{05C02517-0DBA-5D4C-84ED-744C16CD9822}" type="presParOf" srcId="{0B3A8ED8-2F61-1046-8ED0-88C696402E25}" destId="{F3ECD65E-ECD3-1B47-90C1-4229C327DB2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F8908-FDBD-1E49-9EAC-9AC14206F43A}">
      <dsp:nvSpPr>
        <dsp:cNvPr id="0" name=""/>
        <dsp:cNvSpPr/>
      </dsp:nvSpPr>
      <dsp:spPr>
        <a:xfrm>
          <a:off x="0" y="0"/>
          <a:ext cx="1830458" cy="43498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Translate a biological research question into a GFM task definition</a:t>
          </a:r>
        </a:p>
      </dsp:txBody>
      <dsp:txXfrm>
        <a:off x="0" y="1739924"/>
        <a:ext cx="1830458" cy="1739924"/>
      </dsp:txXfrm>
    </dsp:sp>
    <dsp:sp modelId="{1D81FD89-AC53-564B-BC32-3C2CEF3A4EE0}">
      <dsp:nvSpPr>
        <dsp:cNvPr id="0" name=""/>
        <dsp:cNvSpPr/>
      </dsp:nvSpPr>
      <dsp:spPr>
        <a:xfrm>
          <a:off x="190986" y="260988"/>
          <a:ext cx="1448486" cy="144848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49B10-8409-0B4B-8DBF-4ABB7D87217B}">
      <dsp:nvSpPr>
        <dsp:cNvPr id="0" name=""/>
        <dsp:cNvSpPr/>
      </dsp:nvSpPr>
      <dsp:spPr>
        <a:xfrm>
          <a:off x="1885372" y="0"/>
          <a:ext cx="1830458" cy="43498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Select an appropriate model and fine-tuning strategy</a:t>
          </a:r>
        </a:p>
      </dsp:txBody>
      <dsp:txXfrm>
        <a:off x="1885372" y="1739924"/>
        <a:ext cx="1830458" cy="1739924"/>
      </dsp:txXfrm>
    </dsp:sp>
    <dsp:sp modelId="{407BB15F-73B7-6A4C-B032-B39EEEDE2A84}">
      <dsp:nvSpPr>
        <dsp:cNvPr id="0" name=""/>
        <dsp:cNvSpPr/>
      </dsp:nvSpPr>
      <dsp:spPr>
        <a:xfrm>
          <a:off x="2076358" y="260988"/>
          <a:ext cx="1448486" cy="144848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A6557-1970-644F-B17E-527689E488FB}">
      <dsp:nvSpPr>
        <dsp:cNvPr id="0" name=""/>
        <dsp:cNvSpPr/>
      </dsp:nvSpPr>
      <dsp:spPr>
        <a:xfrm>
          <a:off x="3770745" y="0"/>
          <a:ext cx="1830458" cy="43498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Prepare and split data in biologically and statistically robust ways</a:t>
          </a:r>
        </a:p>
      </dsp:txBody>
      <dsp:txXfrm>
        <a:off x="3770745" y="1739924"/>
        <a:ext cx="1830458" cy="1739924"/>
      </dsp:txXfrm>
    </dsp:sp>
    <dsp:sp modelId="{D57836B1-D49E-A14C-83B5-F1923B8F12DF}">
      <dsp:nvSpPr>
        <dsp:cNvPr id="0" name=""/>
        <dsp:cNvSpPr/>
      </dsp:nvSpPr>
      <dsp:spPr>
        <a:xfrm>
          <a:off x="3961731" y="260988"/>
          <a:ext cx="1448486" cy="144848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613CF-A1BF-4B41-B85F-12DF5D554E87}">
      <dsp:nvSpPr>
        <dsp:cNvPr id="0" name=""/>
        <dsp:cNvSpPr/>
      </dsp:nvSpPr>
      <dsp:spPr>
        <a:xfrm>
          <a:off x="5656117" y="0"/>
          <a:ext cx="1830458" cy="43498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Use the model’s native tokenization + preprocessing correctly</a:t>
          </a:r>
        </a:p>
      </dsp:txBody>
      <dsp:txXfrm>
        <a:off x="5656117" y="1739924"/>
        <a:ext cx="1830458" cy="1739924"/>
      </dsp:txXfrm>
    </dsp:sp>
    <dsp:sp modelId="{70EF76DE-A30C-7142-81C9-2D3C9B0B66E3}">
      <dsp:nvSpPr>
        <dsp:cNvPr id="0" name=""/>
        <dsp:cNvSpPr/>
      </dsp:nvSpPr>
      <dsp:spPr>
        <a:xfrm>
          <a:off x="5847103" y="260988"/>
          <a:ext cx="1448486" cy="1448486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4134D-71E0-5248-915D-D6E49D7BB7BA}">
      <dsp:nvSpPr>
        <dsp:cNvPr id="0" name=""/>
        <dsp:cNvSpPr/>
      </dsp:nvSpPr>
      <dsp:spPr>
        <a:xfrm>
          <a:off x="7541490" y="0"/>
          <a:ext cx="1830458" cy="434981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Design experiments with valid metrics and evaluation protocols</a:t>
          </a:r>
        </a:p>
      </dsp:txBody>
      <dsp:txXfrm>
        <a:off x="7541490" y="1739924"/>
        <a:ext cx="1830458" cy="1739924"/>
      </dsp:txXfrm>
    </dsp:sp>
    <dsp:sp modelId="{359FD1B9-BED5-1A41-A0D5-2C4FCEFE8599}">
      <dsp:nvSpPr>
        <dsp:cNvPr id="0" name=""/>
        <dsp:cNvSpPr/>
      </dsp:nvSpPr>
      <dsp:spPr>
        <a:xfrm>
          <a:off x="7732476" y="260988"/>
          <a:ext cx="1448486" cy="1448486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EF54C-9BE8-3240-8058-89952F88CB93}">
      <dsp:nvSpPr>
        <dsp:cNvPr id="0" name=""/>
        <dsp:cNvSpPr/>
      </dsp:nvSpPr>
      <dsp:spPr>
        <a:xfrm>
          <a:off x="374877" y="3479848"/>
          <a:ext cx="8622193" cy="652471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E094B-0949-A34D-930D-5209058F9B09}">
      <dsp:nvSpPr>
        <dsp:cNvPr id="0" name=""/>
        <dsp:cNvSpPr/>
      </dsp:nvSpPr>
      <dsp:spPr>
        <a:xfrm>
          <a:off x="0" y="4165269"/>
          <a:ext cx="9372600" cy="4558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Loop back if needed</a:t>
          </a:r>
        </a:p>
      </dsp:txBody>
      <dsp:txXfrm>
        <a:off x="0" y="4165269"/>
        <a:ext cx="9372600" cy="455803"/>
      </dsp:txXfrm>
    </dsp:sp>
    <dsp:sp modelId="{D2589BAA-639B-504A-9242-43E607209A53}">
      <dsp:nvSpPr>
        <dsp:cNvPr id="0" name=""/>
        <dsp:cNvSpPr/>
      </dsp:nvSpPr>
      <dsp:spPr>
        <a:xfrm rot="10800000">
          <a:off x="0" y="3471081"/>
          <a:ext cx="9372600" cy="701025"/>
        </a:xfrm>
        <a:prstGeom prst="upArrowCallout">
          <a:avLst/>
        </a:prstGeom>
        <a:solidFill>
          <a:schemeClr val="accent2">
            <a:hueOff val="-1808788"/>
            <a:satOff val="-4053"/>
            <a:lumOff val="-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Fine-tune, evaluate, interpret</a:t>
          </a:r>
        </a:p>
      </dsp:txBody>
      <dsp:txXfrm rot="10800000">
        <a:off x="0" y="3471081"/>
        <a:ext cx="9372600" cy="455505"/>
      </dsp:txXfrm>
    </dsp:sp>
    <dsp:sp modelId="{3897490C-E2CA-8647-8A1E-44EB671BF0D2}">
      <dsp:nvSpPr>
        <dsp:cNvPr id="0" name=""/>
        <dsp:cNvSpPr/>
      </dsp:nvSpPr>
      <dsp:spPr>
        <a:xfrm rot="10800000">
          <a:off x="0" y="2776893"/>
          <a:ext cx="9372600" cy="701025"/>
        </a:xfrm>
        <a:prstGeom prst="upArrowCallout">
          <a:avLst/>
        </a:prstGeom>
        <a:solidFill>
          <a:schemeClr val="accent2">
            <a:hueOff val="-3617575"/>
            <a:satOff val="-8106"/>
            <a:lumOff val="-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Align preprocessing with task &amp; model assumptions</a:t>
          </a:r>
        </a:p>
      </dsp:txBody>
      <dsp:txXfrm rot="10800000">
        <a:off x="0" y="2776893"/>
        <a:ext cx="9372600" cy="455505"/>
      </dsp:txXfrm>
    </dsp:sp>
    <dsp:sp modelId="{D5E55205-B32C-D748-8BC6-29CD6344DE86}">
      <dsp:nvSpPr>
        <dsp:cNvPr id="0" name=""/>
        <dsp:cNvSpPr/>
      </dsp:nvSpPr>
      <dsp:spPr>
        <a:xfrm rot="10800000">
          <a:off x="0" y="2082704"/>
          <a:ext cx="9372600" cy="701025"/>
        </a:xfrm>
        <a:prstGeom prst="upArrowCallout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 and curate data &amp; splits</a:t>
          </a:r>
        </a:p>
      </dsp:txBody>
      <dsp:txXfrm rot="10800000">
        <a:off x="0" y="2082704"/>
        <a:ext cx="9372600" cy="455505"/>
      </dsp:txXfrm>
    </dsp:sp>
    <dsp:sp modelId="{3B087DAF-09BC-6340-951D-A99CFA6C9076}">
      <dsp:nvSpPr>
        <dsp:cNvPr id="0" name=""/>
        <dsp:cNvSpPr/>
      </dsp:nvSpPr>
      <dsp:spPr>
        <a:xfrm rot="10800000">
          <a:off x="0" y="1388516"/>
          <a:ext cx="9372600" cy="701025"/>
        </a:xfrm>
        <a:prstGeom prst="upArrowCallout">
          <a:avLst/>
        </a:prstGeom>
        <a:solidFill>
          <a:schemeClr val="accent2">
            <a:hueOff val="-7235150"/>
            <a:satOff val="-16213"/>
            <a:lumOff val="-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Decide on fine-tuning strategy</a:t>
          </a:r>
        </a:p>
      </dsp:txBody>
      <dsp:txXfrm rot="10800000">
        <a:off x="0" y="1388516"/>
        <a:ext cx="9372600" cy="455505"/>
      </dsp:txXfrm>
    </dsp:sp>
    <dsp:sp modelId="{F2233B8A-F01C-A94B-A05D-19D617C70416}">
      <dsp:nvSpPr>
        <dsp:cNvPr id="0" name=""/>
        <dsp:cNvSpPr/>
      </dsp:nvSpPr>
      <dsp:spPr>
        <a:xfrm rot="10800000">
          <a:off x="0" y="694328"/>
          <a:ext cx="9372600" cy="701025"/>
        </a:xfrm>
        <a:prstGeom prst="upArrowCallout">
          <a:avLst/>
        </a:prstGeom>
        <a:solidFill>
          <a:schemeClr val="accent2">
            <a:hueOff val="-9043937"/>
            <a:satOff val="-20266"/>
            <a:lumOff val="-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 the model family &amp; relevant constraints + baselines</a:t>
          </a:r>
        </a:p>
      </dsp:txBody>
      <dsp:txXfrm rot="10800000">
        <a:off x="0" y="694328"/>
        <a:ext cx="9372600" cy="455505"/>
      </dsp:txXfrm>
    </dsp:sp>
    <dsp:sp modelId="{F3ECD65E-ECD3-1B47-90C1-4229C327DB22}">
      <dsp:nvSpPr>
        <dsp:cNvPr id="0" name=""/>
        <dsp:cNvSpPr/>
      </dsp:nvSpPr>
      <dsp:spPr>
        <a:xfrm rot="10800000">
          <a:off x="0" y="139"/>
          <a:ext cx="9372600" cy="701025"/>
        </a:xfrm>
        <a:prstGeom prst="upArrowCallou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Define the biological question</a:t>
          </a:r>
        </a:p>
      </dsp:txBody>
      <dsp:txXfrm rot="10800000">
        <a:off x="0" y="139"/>
        <a:ext cx="9372600" cy="455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7ACE6-CBB9-6541-B9A5-9E304C197B9B}">
      <dsp:nvSpPr>
        <dsp:cNvPr id="0" name=""/>
        <dsp:cNvSpPr/>
      </dsp:nvSpPr>
      <dsp:spPr>
        <a:xfrm>
          <a:off x="0" y="358866"/>
          <a:ext cx="937260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291592" rIns="72741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Learn contextual </a:t>
          </a:r>
          <a:r>
            <a:rPr lang="en-US" sz="1400" b="1" i="0" kern="1200" dirty="0"/>
            <a:t>representations</a:t>
          </a:r>
          <a:r>
            <a:rPr lang="en-US" sz="1400" b="0" i="0" kern="1200" dirty="0"/>
            <a:t> for downstream tasks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Strong for classification/regression with a small task head</a:t>
          </a:r>
        </a:p>
      </dsp:txBody>
      <dsp:txXfrm>
        <a:off x="0" y="358866"/>
        <a:ext cx="9372600" cy="815850"/>
      </dsp:txXfrm>
    </dsp:sp>
    <dsp:sp modelId="{5074AAD6-3DB9-8246-B824-86440B2BEDC1}">
      <dsp:nvSpPr>
        <dsp:cNvPr id="0" name=""/>
        <dsp:cNvSpPr/>
      </dsp:nvSpPr>
      <dsp:spPr>
        <a:xfrm>
          <a:off x="468630" y="152226"/>
          <a:ext cx="6560820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Encoder-only (BERT-like)</a:t>
          </a:r>
          <a:endParaRPr lang="en-US" sz="1400" kern="1200" dirty="0"/>
        </a:p>
      </dsp:txBody>
      <dsp:txXfrm>
        <a:off x="488805" y="172401"/>
        <a:ext cx="6520470" cy="372929"/>
      </dsp:txXfrm>
    </dsp:sp>
    <dsp:sp modelId="{98FCDC00-05E7-5C45-B73F-6EFC0ECC36CA}">
      <dsp:nvSpPr>
        <dsp:cNvPr id="0" name=""/>
        <dsp:cNvSpPr/>
      </dsp:nvSpPr>
      <dsp:spPr>
        <a:xfrm>
          <a:off x="0" y="1456956"/>
          <a:ext cx="937260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291592" rIns="72741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Autoregressive </a:t>
          </a:r>
          <a:r>
            <a:rPr lang="en-US" sz="1400" b="1" i="0" kern="1200" dirty="0"/>
            <a:t>generation</a:t>
          </a:r>
          <a:r>
            <a:rPr lang="en-US" sz="1400" b="0" i="0" kern="1200" dirty="0"/>
            <a:t> and likelihood scoring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Useful for sequence design and long-range dependencies</a:t>
          </a:r>
        </a:p>
      </dsp:txBody>
      <dsp:txXfrm>
        <a:off x="0" y="1456956"/>
        <a:ext cx="9372600" cy="815850"/>
      </dsp:txXfrm>
    </dsp:sp>
    <dsp:sp modelId="{850CBE88-8E50-0C44-BFA6-D81846B95CEF}">
      <dsp:nvSpPr>
        <dsp:cNvPr id="0" name=""/>
        <dsp:cNvSpPr/>
      </dsp:nvSpPr>
      <dsp:spPr>
        <a:xfrm>
          <a:off x="468630" y="1250316"/>
          <a:ext cx="6560820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Decoder-only (GPT-like)</a:t>
          </a:r>
          <a:endParaRPr lang="en-US" sz="1400" kern="1200" dirty="0"/>
        </a:p>
      </dsp:txBody>
      <dsp:txXfrm>
        <a:off x="488805" y="1270491"/>
        <a:ext cx="6520470" cy="372929"/>
      </dsp:txXfrm>
    </dsp:sp>
    <dsp:sp modelId="{B2B37ABB-5FC3-7E49-AAE7-AD7ED2209609}">
      <dsp:nvSpPr>
        <dsp:cNvPr id="0" name=""/>
        <dsp:cNvSpPr/>
      </dsp:nvSpPr>
      <dsp:spPr>
        <a:xfrm>
          <a:off x="0" y="2555046"/>
          <a:ext cx="937260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291592" rIns="72741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/>
            <a:t>Sequence → </a:t>
          </a:r>
          <a:r>
            <a:rPr lang="en-US" sz="1400" b="1" i="0" kern="1200"/>
            <a:t>signal tracks</a:t>
          </a:r>
          <a:r>
            <a:rPr lang="en-US" sz="1400" b="0" i="0" kern="1200"/>
            <a:t> (epigenomics / expression proxies)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Designed for genome-wide prediction with long receptive fields</a:t>
          </a:r>
        </a:p>
      </dsp:txBody>
      <dsp:txXfrm>
        <a:off x="0" y="2555046"/>
        <a:ext cx="9372600" cy="815850"/>
      </dsp:txXfrm>
    </dsp:sp>
    <dsp:sp modelId="{C075EE60-5A8C-E349-A2CF-10B4D0BDAB2E}">
      <dsp:nvSpPr>
        <dsp:cNvPr id="0" name=""/>
        <dsp:cNvSpPr/>
      </dsp:nvSpPr>
      <dsp:spPr>
        <a:xfrm>
          <a:off x="468630" y="2348406"/>
          <a:ext cx="6560820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Hybrid (CNN + Transformer)</a:t>
          </a:r>
          <a:endParaRPr lang="en-US" sz="1400" kern="1200" dirty="0"/>
        </a:p>
      </dsp:txBody>
      <dsp:txXfrm>
        <a:off x="488805" y="2368581"/>
        <a:ext cx="6520470" cy="372929"/>
      </dsp:txXfrm>
    </dsp:sp>
    <dsp:sp modelId="{1DEE69E3-F756-B347-A5EE-A201EA524ADE}">
      <dsp:nvSpPr>
        <dsp:cNvPr id="0" name=""/>
        <dsp:cNvSpPr/>
      </dsp:nvSpPr>
      <dsp:spPr>
        <a:xfrm>
          <a:off x="0" y="3653136"/>
          <a:ext cx="937260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291592" rIns="72741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/>
            <a:t>Efficient modeling of </a:t>
          </a:r>
          <a:r>
            <a:rPr lang="en-US" sz="1400" b="1" i="0" kern="1200"/>
            <a:t>very long DNA sequences</a:t>
          </a:r>
          <a:r>
            <a:rPr lang="en-US" sz="1400" b="0" i="0" kern="1200"/>
            <a:t> (≫10 kb)</a:t>
          </a:r>
          <a:endParaRPr lang="en-US" sz="1400" b="0" i="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/>
            <a:t>Good when regulatory context spans large genomic neighborhoods</a:t>
          </a:r>
        </a:p>
      </dsp:txBody>
      <dsp:txXfrm>
        <a:off x="0" y="3653136"/>
        <a:ext cx="9372600" cy="815850"/>
      </dsp:txXfrm>
    </dsp:sp>
    <dsp:sp modelId="{2092F69A-266E-5F4E-BDD7-9A3E01BE1A1B}">
      <dsp:nvSpPr>
        <dsp:cNvPr id="0" name=""/>
        <dsp:cNvSpPr/>
      </dsp:nvSpPr>
      <dsp:spPr>
        <a:xfrm>
          <a:off x="468630" y="3446496"/>
          <a:ext cx="6560820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Long-context operators (Hyena)</a:t>
          </a:r>
          <a:endParaRPr lang="en-US" sz="1400" b="0" i="0" kern="1200" dirty="0"/>
        </a:p>
      </dsp:txBody>
      <dsp:txXfrm>
        <a:off x="488805" y="3466671"/>
        <a:ext cx="6520470" cy="3729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E094B-0949-A34D-930D-5209058F9B09}">
      <dsp:nvSpPr>
        <dsp:cNvPr id="0" name=""/>
        <dsp:cNvSpPr/>
      </dsp:nvSpPr>
      <dsp:spPr>
        <a:xfrm>
          <a:off x="0" y="4165269"/>
          <a:ext cx="9372600" cy="4558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Fine-tune, evaluate, interpret, Loop back if evaluation failed</a:t>
          </a:r>
        </a:p>
      </dsp:txBody>
      <dsp:txXfrm>
        <a:off x="0" y="4165269"/>
        <a:ext cx="9372600" cy="455803"/>
      </dsp:txXfrm>
    </dsp:sp>
    <dsp:sp modelId="{D2589BAA-639B-504A-9242-43E607209A53}">
      <dsp:nvSpPr>
        <dsp:cNvPr id="0" name=""/>
        <dsp:cNvSpPr/>
      </dsp:nvSpPr>
      <dsp:spPr>
        <a:xfrm rot="10800000">
          <a:off x="0" y="3471081"/>
          <a:ext cx="9372600" cy="701025"/>
        </a:xfrm>
        <a:prstGeom prst="upArrowCallout">
          <a:avLst/>
        </a:prstGeom>
        <a:solidFill>
          <a:schemeClr val="accent2">
            <a:hueOff val="-1808788"/>
            <a:satOff val="-4053"/>
            <a:lumOff val="-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Specify experiment &amp; metrics</a:t>
          </a:r>
        </a:p>
      </dsp:txBody>
      <dsp:txXfrm rot="10800000">
        <a:off x="0" y="3471081"/>
        <a:ext cx="9372600" cy="455505"/>
      </dsp:txXfrm>
    </dsp:sp>
    <dsp:sp modelId="{3897490C-E2CA-8647-8A1E-44EB671BF0D2}">
      <dsp:nvSpPr>
        <dsp:cNvPr id="0" name=""/>
        <dsp:cNvSpPr/>
      </dsp:nvSpPr>
      <dsp:spPr>
        <a:xfrm rot="10800000">
          <a:off x="0" y="2776893"/>
          <a:ext cx="9372600" cy="701025"/>
        </a:xfrm>
        <a:prstGeom prst="upArrowCallout">
          <a:avLst/>
        </a:prstGeom>
        <a:solidFill>
          <a:schemeClr val="accent2">
            <a:hueOff val="-3617575"/>
            <a:satOff val="-8106"/>
            <a:lumOff val="-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Align preprocessing with task &amp; model assumptions</a:t>
          </a:r>
        </a:p>
      </dsp:txBody>
      <dsp:txXfrm rot="10800000">
        <a:off x="0" y="2776893"/>
        <a:ext cx="9372600" cy="455505"/>
      </dsp:txXfrm>
    </dsp:sp>
    <dsp:sp modelId="{D5E55205-B32C-D748-8BC6-29CD6344DE86}">
      <dsp:nvSpPr>
        <dsp:cNvPr id="0" name=""/>
        <dsp:cNvSpPr/>
      </dsp:nvSpPr>
      <dsp:spPr>
        <a:xfrm rot="10800000">
          <a:off x="0" y="2082704"/>
          <a:ext cx="9372600" cy="701025"/>
        </a:xfrm>
        <a:prstGeom prst="upArrowCallout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 and curate data &amp; splits</a:t>
          </a:r>
        </a:p>
      </dsp:txBody>
      <dsp:txXfrm rot="10800000">
        <a:off x="0" y="2082704"/>
        <a:ext cx="9372600" cy="455505"/>
      </dsp:txXfrm>
    </dsp:sp>
    <dsp:sp modelId="{3B087DAF-09BC-6340-951D-A99CFA6C9076}">
      <dsp:nvSpPr>
        <dsp:cNvPr id="0" name=""/>
        <dsp:cNvSpPr/>
      </dsp:nvSpPr>
      <dsp:spPr>
        <a:xfrm rot="10800000">
          <a:off x="0" y="1388516"/>
          <a:ext cx="9372600" cy="701025"/>
        </a:xfrm>
        <a:prstGeom prst="upArrowCallout">
          <a:avLst/>
        </a:prstGeom>
        <a:solidFill>
          <a:schemeClr val="accent2">
            <a:hueOff val="-7235150"/>
            <a:satOff val="-16213"/>
            <a:lumOff val="-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Decide on fine-tuning strategy</a:t>
          </a:r>
        </a:p>
      </dsp:txBody>
      <dsp:txXfrm rot="10800000">
        <a:off x="0" y="1388516"/>
        <a:ext cx="9372600" cy="455505"/>
      </dsp:txXfrm>
    </dsp:sp>
    <dsp:sp modelId="{F2233B8A-F01C-A94B-A05D-19D617C70416}">
      <dsp:nvSpPr>
        <dsp:cNvPr id="0" name=""/>
        <dsp:cNvSpPr/>
      </dsp:nvSpPr>
      <dsp:spPr>
        <a:xfrm rot="10800000">
          <a:off x="0" y="694328"/>
          <a:ext cx="9372600" cy="701025"/>
        </a:xfrm>
        <a:prstGeom prst="upArrowCallout">
          <a:avLst/>
        </a:prstGeom>
        <a:solidFill>
          <a:schemeClr val="accent2">
            <a:hueOff val="-9043937"/>
            <a:satOff val="-20266"/>
            <a:lumOff val="-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 the model family &amp; relevant constraints + baselines</a:t>
          </a:r>
        </a:p>
      </dsp:txBody>
      <dsp:txXfrm rot="10800000">
        <a:off x="0" y="694328"/>
        <a:ext cx="9372600" cy="455505"/>
      </dsp:txXfrm>
    </dsp:sp>
    <dsp:sp modelId="{F3ECD65E-ECD3-1B47-90C1-4229C327DB22}">
      <dsp:nvSpPr>
        <dsp:cNvPr id="0" name=""/>
        <dsp:cNvSpPr/>
      </dsp:nvSpPr>
      <dsp:spPr>
        <a:xfrm rot="10800000">
          <a:off x="0" y="139"/>
          <a:ext cx="9372600" cy="701025"/>
        </a:xfrm>
        <a:prstGeom prst="upArrowCallou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Define the biological question</a:t>
          </a:r>
        </a:p>
      </dsp:txBody>
      <dsp:txXfrm rot="10800000">
        <a:off x="0" y="139"/>
        <a:ext cx="9372600" cy="455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2/16/26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2/16/26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A" b="0" dirty="0"/>
              <a:t>Relevant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constraints (tokenizer, max length, alphabet, special tokens)</a:t>
            </a:r>
            <a:endParaRPr lang="en-S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0222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IUPAC codes represent these ambiguities with single letters:</a:t>
            </a:r>
          </a:p>
          <a:p>
            <a:endParaRPr lang="en-US" dirty="0"/>
          </a:p>
          <a:p>
            <a:r>
              <a:rPr lang="en-US" dirty="0"/>
              <a:t>Code	Meaning	Example</a:t>
            </a:r>
          </a:p>
          <a:p>
            <a:r>
              <a:rPr lang="en-US" dirty="0"/>
              <a:t>R	A or G (purine)	R at a SNP site</a:t>
            </a:r>
          </a:p>
          <a:p>
            <a:r>
              <a:rPr lang="en-US" dirty="0"/>
              <a:t>Y	C or T (pyrimidine)	Y at a methylation site</a:t>
            </a:r>
          </a:p>
          <a:p>
            <a:r>
              <a:rPr lang="en-US" dirty="0"/>
              <a:t>S	G or C	S at repetitive regions</a:t>
            </a:r>
          </a:p>
          <a:p>
            <a:r>
              <a:rPr lang="en-US" dirty="0"/>
              <a:t>W	A or T	W in enhancer motifs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79742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Some assays are strand-agnostic: Many enhancer, ATAC-seq, </a:t>
            </a:r>
            <a:r>
              <a:rPr lang="en-US" b="0" dirty="0" err="1"/>
              <a:t>ChIP</a:t>
            </a:r>
            <a:r>
              <a:rPr lang="en-US" b="0" dirty="0"/>
              <a:t>-seq signals do not depend on which DNA strand the read came from.</a:t>
            </a:r>
          </a:p>
          <a:p>
            <a:endParaRPr lang="en-S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13399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Pearson = measures linear agreement (scale matters); Spearman = measures rank/order agreement (scale ignored).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14062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Saliency maps</a:t>
                </a:r>
              </a:p>
              <a:p>
                <a:r>
                  <a:rPr lang="en-US" b="1" dirty="0"/>
                  <a:t>Goal:</a:t>
                </a:r>
                <a:r>
                  <a:rPr lang="en-US" dirty="0"/>
                  <a:t> Identify which input positions (nucleotides or amino acids) </a:t>
                </a:r>
                <a:r>
                  <a:rPr lang="en-US" b="1" dirty="0"/>
                  <a:t>most influence the model’s prediction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How it works (basic idea):</a:t>
                </a:r>
                <a:endParaRPr lang="en-US" dirty="0"/>
              </a:p>
              <a:p>
                <a:pPr lvl="1"/>
                <a:r>
                  <a:rPr lang="en-US" dirty="0"/>
                  <a:t>Compute the </a:t>
                </a:r>
                <a:r>
                  <a:rPr lang="en-US" b="1" dirty="0"/>
                  <a:t>gradient of the output </a:t>
                </a:r>
                <a:r>
                  <a:rPr lang="en-US" b="1" dirty="0" err="1"/>
                  <a:t>w.r.t.</a:t>
                </a:r>
                <a:r>
                  <a:rPr lang="en-US" b="1" dirty="0"/>
                  <a:t> each input feature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Saliency</m:t>
                          </m:r>
                        </m:e>
                        <m:sub>
                          <m:r>
                            <a:rPr lang="ar-SA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SA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SA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SA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lang="ar-SA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num>
                        <m:den>
                          <m:r>
                            <a:rPr lang="ar-SA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SA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SA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SA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SA" b="0" dirty="0"/>
              </a:p>
              <a:p>
                <a:pPr lvl="1"/>
                <a:r>
                  <a:rPr lang="en-US" dirty="0"/>
                  <a:t>High magnitude → that nucleotide strongly affects the prediction.</a:t>
                </a:r>
              </a:p>
              <a:p>
                <a:r>
                  <a:rPr lang="en-US" b="1" dirty="0"/>
                  <a:t>Use case:</a:t>
                </a:r>
                <a:endParaRPr lang="en-US" dirty="0"/>
              </a:p>
              <a:p>
                <a:pPr lvl="1"/>
                <a:r>
                  <a:rPr lang="en-US" dirty="0"/>
                  <a:t>Highlight potential </a:t>
                </a:r>
                <a:r>
                  <a:rPr lang="en-US" b="1" dirty="0"/>
                  <a:t>TF motifs</a:t>
                </a:r>
                <a:r>
                  <a:rPr lang="en-US" dirty="0"/>
                  <a:t> or regulatory elements in DNA.</a:t>
                </a:r>
              </a:p>
              <a:p>
                <a:pPr lvl="1"/>
                <a:r>
                  <a:rPr lang="en-US" dirty="0"/>
                  <a:t>Quick, easy to compute, but can be noisy.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Saliency maps</a:t>
                </a:r>
              </a:p>
              <a:p>
                <a:r>
                  <a:rPr lang="en-US" b="1" dirty="0"/>
                  <a:t>Goal:</a:t>
                </a:r>
                <a:r>
                  <a:rPr lang="en-US" dirty="0"/>
                  <a:t> Identify which input positions (nucleotides or amino acids) </a:t>
                </a:r>
                <a:r>
                  <a:rPr lang="en-US" b="1" dirty="0"/>
                  <a:t>most influence the model’s prediction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How it works (basic idea):</a:t>
                </a:r>
                <a:endParaRPr lang="en-US" dirty="0"/>
              </a:p>
              <a:p>
                <a:pPr lvl="1"/>
                <a:r>
                  <a:rPr lang="en-US" dirty="0"/>
                  <a:t>Compute the </a:t>
                </a:r>
                <a:r>
                  <a:rPr lang="en-US" b="1" dirty="0"/>
                  <a:t>gradient of the output </a:t>
                </a:r>
                <a:r>
                  <a:rPr lang="en-US" b="1" dirty="0" err="1"/>
                  <a:t>w.r.t.</a:t>
                </a:r>
                <a:r>
                  <a:rPr lang="en-US" b="1" dirty="0"/>
                  <a:t> each input feature</a:t>
                </a:r>
                <a:r>
                  <a:rPr lang="en-US" dirty="0"/>
                  <a:t>:</a:t>
                </a:r>
              </a:p>
              <a:p>
                <a:r>
                  <a:rPr lang="ar-SA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〖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US" b="0" i="0"/>
                  <a:t>Saliency</a:t>
                </a:r>
                <a:r>
                  <a:rPr lang="ar-SA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〗_</a:t>
                </a:r>
                <a:r>
                  <a:rPr lang="ar-SA" b="0" i="0"/>
                  <a:t>𝑖</a:t>
                </a:r>
                <a:r>
                  <a:rPr lang="ar-SA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=∂𝑦/(∂𝑥_𝑖 )</a:t>
                </a:r>
                <a:endParaRPr lang="ar-SA" b="0" dirty="0"/>
              </a:p>
              <a:p>
                <a:pPr lvl="1"/>
                <a:r>
                  <a:rPr lang="en-US" dirty="0"/>
                  <a:t>High magnitude → that nucleotide strongly affects the prediction.</a:t>
                </a:r>
              </a:p>
              <a:p>
                <a:r>
                  <a:rPr lang="en-US" b="1" dirty="0"/>
                  <a:t>Use case:</a:t>
                </a:r>
                <a:endParaRPr lang="en-US" dirty="0"/>
              </a:p>
              <a:p>
                <a:pPr lvl="1"/>
                <a:r>
                  <a:rPr lang="en-US" dirty="0"/>
                  <a:t>Highlight potential </a:t>
                </a:r>
                <a:r>
                  <a:rPr lang="en-US" b="1" dirty="0"/>
                  <a:t>TF motifs</a:t>
                </a:r>
                <a:r>
                  <a:rPr lang="en-US" dirty="0"/>
                  <a:t> or regulatory elements in DNA.</a:t>
                </a:r>
              </a:p>
              <a:p>
                <a:pPr lvl="1"/>
                <a:r>
                  <a:rPr lang="en-US" dirty="0"/>
                  <a:t>Quick, easy to compute, but can be noisy.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20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98576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355AC-32B9-12C4-7395-5A8F0867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23F06-CB0A-7A4F-199F-B76AD97AB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095D8-A726-DE96-83FF-3D088F05A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A" b="0" dirty="0"/>
              <a:t>Relevant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constraints (tokenizer, max length, alphabet, special tokens)</a:t>
            </a:r>
            <a:endParaRPr lang="en-SA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42D4D-CA20-D985-036F-68252A668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24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75112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2858654"/>
            <a:ext cx="484632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GFM in Practice: Solving biological problems using GFMs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Ikram Ullah, Staff Scientist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6045844" y="6607502"/>
            <a:ext cx="6146156" cy="250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0CC4-70E8-7F21-B988-814A7E83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Lecture?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58160-7D10-A713-BD0A-CB151EE17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Genomic Foundation Model usage may fail due to misjudgments at different phases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sz="2200" dirty="0"/>
              <a:t>Mis-specified biological question</a:t>
            </a:r>
          </a:p>
          <a:p>
            <a:pPr lvl="1"/>
            <a:r>
              <a:rPr lang="en-US" sz="2200" dirty="0"/>
              <a:t>Misaligned model choice</a:t>
            </a:r>
          </a:p>
          <a:p>
            <a:pPr lvl="1"/>
            <a:r>
              <a:rPr lang="en-US" sz="2200" dirty="0"/>
              <a:t>Fragile data curation / splitting</a:t>
            </a:r>
          </a:p>
          <a:p>
            <a:pPr lvl="1"/>
            <a:r>
              <a:rPr lang="en-US" sz="2200" dirty="0"/>
              <a:t>Misused tokenizer / preprocessing assumptions</a:t>
            </a:r>
          </a:p>
          <a:p>
            <a:pPr lvl="1"/>
            <a:r>
              <a:rPr lang="en-US" sz="2200" dirty="0"/>
              <a:t>Biologically invalid evaluation</a:t>
            </a:r>
            <a:endParaRPr lang="en-US" sz="2600" dirty="0"/>
          </a:p>
          <a:p>
            <a:r>
              <a:rPr lang="en-US" sz="2600" dirty="0"/>
              <a:t>In this lecture, we will go through a suggested workflow to frame a research problem and solve it using a GFM</a:t>
            </a:r>
          </a:p>
          <a:p>
            <a:r>
              <a:rPr lang="en-US" sz="2600" dirty="0"/>
              <a:t>We will use a running example that we will go through during 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359200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CBFE1-8A74-83C3-BB33-D75D8045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Workflow </a:t>
            </a:r>
            <a:endParaRPr lang="en-SA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215860D-C28D-F42A-32A5-710AC043A6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5572346"/>
              </p:ext>
            </p:extLst>
          </p:nvPr>
        </p:nvGraphicFramePr>
        <p:xfrm>
          <a:off x="1410026" y="1861456"/>
          <a:ext cx="9371949" cy="4349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458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0AD4-C036-7DC5-83A0-1DBE277E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Workflow </a:t>
            </a:r>
            <a:endParaRPr lang="en-S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2BD247-A07E-2B44-9189-4BDEA0254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6425181"/>
              </p:ext>
            </p:extLst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37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E116-8054-71B9-CAD2-12C73918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Running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7151-3DFB-DB54-DCAC-F045AA06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4451930" cy="46206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50"/>
                </a:solidFill>
              </a:rPr>
              <a:t>Can we predict enhancer activity in K562 cells from DNA sequence alone?</a:t>
            </a:r>
            <a:endParaRPr lang="en-US" sz="2400" b="1" dirty="0">
              <a:solidFill>
                <a:srgbClr val="00B050"/>
              </a:solidFill>
            </a:endParaRPr>
          </a:p>
          <a:p>
            <a:endParaRPr lang="en-US" dirty="0"/>
          </a:p>
          <a:p>
            <a:r>
              <a:rPr lang="en-US" dirty="0"/>
              <a:t>Input: 1 kb DNA sequence windows around candidate enhancers</a:t>
            </a:r>
          </a:p>
          <a:p>
            <a:r>
              <a:rPr lang="en-US" dirty="0"/>
              <a:t>Output: Continuous enhancer activity signal (from an assay, e.g., H3K27ac)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4CCC9-AF1B-2C84-55BC-82948E398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957" y="1836208"/>
            <a:ext cx="6192555" cy="345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5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E291-9987-B021-9714-9C1CFD07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Define the Biological Question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9304-B5EC-E067-A323-C9CB8D45E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9371948" cy="23185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the </a:t>
            </a:r>
            <a:r>
              <a:rPr lang="en-US" b="1" dirty="0"/>
              <a:t>biological object</a:t>
            </a:r>
            <a:r>
              <a:rPr lang="en-US" dirty="0"/>
              <a:t>?</a:t>
            </a:r>
          </a:p>
          <a:p>
            <a:pPr lvl="1"/>
            <a:r>
              <a:rPr lang="en-US" sz="2200" dirty="0"/>
              <a:t>DNA, RNA, protein, </a:t>
            </a:r>
            <a:r>
              <a:rPr lang="en-US" sz="2200" dirty="0" err="1"/>
              <a:t>multiomic</a:t>
            </a:r>
            <a:r>
              <a:rPr lang="en-US" sz="2200" dirty="0"/>
              <a:t>?</a:t>
            </a:r>
          </a:p>
          <a:p>
            <a:r>
              <a:rPr lang="en-US" dirty="0"/>
              <a:t>What is the </a:t>
            </a:r>
            <a:r>
              <a:rPr lang="en-US" b="1" dirty="0"/>
              <a:t>prediction type</a:t>
            </a:r>
            <a:r>
              <a:rPr lang="en-US" dirty="0"/>
              <a:t>?</a:t>
            </a:r>
          </a:p>
          <a:p>
            <a:pPr lvl="1"/>
            <a:r>
              <a:rPr lang="en-US" sz="2200" dirty="0"/>
              <a:t>Classification, regression, generation, ranking, denoising?</a:t>
            </a:r>
          </a:p>
          <a:p>
            <a:r>
              <a:rPr lang="en-US" dirty="0"/>
              <a:t>What is the </a:t>
            </a:r>
            <a:r>
              <a:rPr lang="en-US" b="1" dirty="0"/>
              <a:t>resolution</a:t>
            </a:r>
            <a:r>
              <a:rPr lang="en-US" dirty="0"/>
              <a:t>?</a:t>
            </a:r>
          </a:p>
          <a:p>
            <a:pPr lvl="1"/>
            <a:r>
              <a:rPr lang="en-US" sz="2200" dirty="0"/>
              <a:t>Locus-level (DNA window, e.g., 500bp/ 1kb, around candidate enhancers)</a:t>
            </a:r>
          </a:p>
          <a:p>
            <a:pPr lvl="1"/>
            <a:r>
              <a:rPr lang="en-US" sz="2200" dirty="0"/>
              <a:t>Genome-wide (scan the genome in sliding windows)</a:t>
            </a:r>
          </a:p>
          <a:p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7EC7A-DBF9-6501-6286-78F4B86A2F00}"/>
              </a:ext>
            </a:extLst>
          </p:cNvPr>
          <p:cNvSpPr txBox="1"/>
          <p:nvPr/>
        </p:nvSpPr>
        <p:spPr>
          <a:xfrm>
            <a:off x="519468" y="5840509"/>
            <a:ext cx="11152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-apple-system"/>
              </a:rPr>
              <a:t>Foundation models encode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-apple-system"/>
              </a:rPr>
              <a:t>inductive biases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-apple-system"/>
              </a:rPr>
              <a:t> — your question must match those biases.</a:t>
            </a:r>
            <a:endParaRPr lang="en-SA" sz="2400" dirty="0">
              <a:solidFill>
                <a:srgbClr val="FF000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BB613FA-0098-A401-9875-D54179E07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A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D77A358-C79D-41A5-2D7D-D53F08F450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362826"/>
              </p:ext>
            </p:extLst>
          </p:nvPr>
        </p:nvGraphicFramePr>
        <p:xfrm>
          <a:off x="1409375" y="4044134"/>
          <a:ext cx="9372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1002577106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675261956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868146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Question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Input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Output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7740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F1115"/>
                          </a:solidFill>
                          <a:effectLst/>
                        </a:rPr>
                        <a:t>Predict enhancer activity</a:t>
                      </a:r>
                      <a:endParaRPr lang="en-US" sz="1800" b="0" i="0" u="none" strike="noStrike">
                        <a:solidFill>
                          <a:srgbClr val="0F1115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DNA sequence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Continuous signal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99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F1115"/>
                          </a:solidFill>
                          <a:effectLst/>
                        </a:rPr>
                        <a:t>TF binding</a:t>
                      </a:r>
                      <a:endParaRPr lang="en-US" sz="1800" b="0" i="0" u="none" strike="noStrike">
                        <a:solidFill>
                          <a:srgbClr val="0F1115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DNA sequence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Binary / probability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637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F1115"/>
                          </a:solidFill>
                          <a:effectLst/>
                        </a:rPr>
                        <a:t>Protein function</a:t>
                      </a:r>
                      <a:endParaRPr lang="en-US" sz="1800" b="0" i="0" u="none" strike="noStrike">
                        <a:solidFill>
                          <a:srgbClr val="0F1115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AA sequence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Class / score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483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46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3B02-9497-5628-F633-81F08D52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Select Model Family</a:t>
            </a:r>
            <a:endParaRPr lang="en-S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A5DBCB-7CBE-108F-9F56-B98791404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 modality:</a:t>
            </a:r>
            <a:r>
              <a:rPr lang="en-US" dirty="0"/>
              <a:t> DNA / RNA / protein / multi-omics</a:t>
            </a:r>
          </a:p>
          <a:p>
            <a:r>
              <a:rPr lang="en-US" b="1" dirty="0"/>
              <a:t>Architecture:</a:t>
            </a:r>
            <a:r>
              <a:rPr lang="en-US" dirty="0"/>
              <a:t> encoder-only, decoder-only, SSM, hybrid (CNN + Transformer)</a:t>
            </a:r>
          </a:p>
          <a:p>
            <a:r>
              <a:rPr lang="en-US" b="1" dirty="0"/>
              <a:t>Pretraining objective:</a:t>
            </a:r>
            <a:r>
              <a:rPr lang="en-US" dirty="0"/>
              <a:t> masked LM, autoregressive</a:t>
            </a:r>
          </a:p>
          <a:p>
            <a:r>
              <a:rPr lang="en-US" b="1" dirty="0"/>
              <a:t>Sequence length support &amp; memory footprint</a:t>
            </a:r>
            <a:endParaRPr lang="en-US" dirty="0"/>
          </a:p>
          <a:p>
            <a:r>
              <a:rPr lang="en-US" b="1" dirty="0"/>
              <a:t>Available baselines:</a:t>
            </a:r>
            <a:r>
              <a:rPr lang="en-US" dirty="0"/>
              <a:t> CNNs, simple ML, published benchmarks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S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4E61D7-B68F-D10D-DB34-B7837EE208F7}"/>
              </a:ext>
            </a:extLst>
          </p:cNvPr>
          <p:cNvSpPr txBox="1"/>
          <p:nvPr/>
        </p:nvSpPr>
        <p:spPr>
          <a:xfrm>
            <a:off x="1409700" y="6077587"/>
            <a:ext cx="93719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Compare your GFM model to a reasonable baseline, not just other FMs.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E4F572A9-453E-E092-6264-7E3F7D10C7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2972356"/>
              </p:ext>
            </p:extLst>
          </p:nvPr>
        </p:nvGraphicFramePr>
        <p:xfrm>
          <a:off x="1409700" y="3876342"/>
          <a:ext cx="9372600" cy="207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3693693945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957444848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85581878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1777783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1" u="none" strike="noStrike">
                          <a:solidFill>
                            <a:schemeClr val="bg1"/>
                          </a:solidFill>
                          <a:effectLst/>
                        </a:rPr>
                        <a:t>Modality</a:t>
                      </a:r>
                      <a:endParaRPr lang="en-US" sz="2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1" u="none" strike="noStrike">
                          <a:solidFill>
                            <a:schemeClr val="bg1"/>
                          </a:solidFill>
                          <a:effectLst/>
                        </a:rPr>
                        <a:t>Architecture</a:t>
                      </a:r>
                      <a:endParaRPr lang="en-US" sz="22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Good For</a:t>
                      </a:r>
                      <a:endParaRPr 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43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 dirty="0">
                          <a:solidFill>
                            <a:srgbClr val="0F1115"/>
                          </a:solidFill>
                          <a:effectLst/>
                        </a:rPr>
                        <a:t>DNABERT</a:t>
                      </a:r>
                      <a:endParaRPr lang="en-US" sz="2200" b="0" i="0" u="none" strike="noStrike" dirty="0">
                        <a:solidFill>
                          <a:srgbClr val="0F1115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DNA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Encoder-only (BERT)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Motifs, local/regional classification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827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F1115"/>
                          </a:solidFill>
                          <a:effectLst/>
                        </a:rPr>
                        <a:t>N. Trans.</a:t>
                      </a:r>
                      <a:endParaRPr lang="en-US" sz="2200" b="0" i="0" u="none" strike="noStrike">
                        <a:solidFill>
                          <a:srgbClr val="0F1115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DNA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Encoder-only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Broad regulatory / variant tasks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380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F1115"/>
                          </a:solidFill>
                          <a:effectLst/>
                        </a:rPr>
                        <a:t>HyenaDNA</a:t>
                      </a:r>
                      <a:endParaRPr lang="en-US" sz="2200" b="0" i="0" u="none" strike="noStrike">
                        <a:solidFill>
                          <a:srgbClr val="0F1115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</a:rPr>
                        <a:t>DNA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Hyena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 long sequences, long-range dependencies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720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8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E535-750E-364A-5F4A-C96D6495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→ Use Case Mapping</a:t>
            </a:r>
            <a:endParaRPr lang="en-S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D3273AB-D53E-D3BA-5517-1AE89FB62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510288"/>
              </p:ext>
            </p:extLst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577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860D-BDE7-6BE5-AEEE-040F3D73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Choosing a Model for Our Enhancer Task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5B16-19A0-027E-39FF-06B75587F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9371948" cy="423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Predict enhancer activity in K562 from 1 kb DNA windows.</a:t>
            </a:r>
          </a:p>
          <a:p>
            <a:endParaRPr lang="en-US" b="1" dirty="0"/>
          </a:p>
          <a:p>
            <a:r>
              <a:rPr lang="en-US" b="1" dirty="0"/>
              <a:t>Nucleotide Transformer + regression head</a:t>
            </a:r>
            <a:endParaRPr lang="en-US" dirty="0"/>
          </a:p>
          <a:p>
            <a:pPr lvl="1"/>
            <a:r>
              <a:rPr lang="en-US" sz="2200" dirty="0"/>
              <a:t>Strong general-purpose DNA representations, flexible downstream task.</a:t>
            </a:r>
          </a:p>
          <a:p>
            <a:r>
              <a:rPr lang="en-US" b="1" dirty="0" err="1"/>
              <a:t>HyenaDNA</a:t>
            </a:r>
            <a:endParaRPr lang="en-US" dirty="0"/>
          </a:p>
          <a:p>
            <a:pPr lvl="1"/>
            <a:r>
              <a:rPr lang="en-US" sz="2200" dirty="0"/>
              <a:t>Efficiently models very long sequences</a:t>
            </a:r>
          </a:p>
          <a:p>
            <a:r>
              <a:rPr lang="en-US" b="1" dirty="0" err="1"/>
              <a:t>Enformer</a:t>
            </a:r>
            <a:endParaRPr lang="en-US" dirty="0"/>
          </a:p>
          <a:p>
            <a:pPr lvl="1"/>
            <a:r>
              <a:rPr lang="en-US" sz="2200" dirty="0"/>
              <a:t>Designed for sequence-to-signal prediction</a:t>
            </a:r>
          </a:p>
          <a:p>
            <a:endParaRPr lang="en-US" b="1" dirty="0"/>
          </a:p>
          <a:p>
            <a:r>
              <a:rPr lang="en-US" b="1" dirty="0"/>
              <a:t>Baseline:</a:t>
            </a:r>
            <a:r>
              <a:rPr lang="en-US" dirty="0"/>
              <a:t> Small CNN trained from scratch on the same windows.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D0C1A-E494-35F9-17B3-809336D47282}"/>
              </a:ext>
            </a:extLst>
          </p:cNvPr>
          <p:cNvSpPr txBox="1"/>
          <p:nvPr/>
        </p:nvSpPr>
        <p:spPr>
          <a:xfrm>
            <a:off x="1050797" y="5955850"/>
            <a:ext cx="10444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solidFill>
                  <a:srgbClr val="FF0000"/>
                </a:solidFill>
                <a:effectLst/>
                <a:latin typeface="Corbel" panose="020B0503020204020204" pitchFamily="34" charset="0"/>
              </a:rPr>
              <a:t>In the hands-on, we will </a:t>
            </a:r>
            <a:r>
              <a:rPr lang="en-US" sz="2400" dirty="0">
                <a:solidFill>
                  <a:srgbClr val="FF0000"/>
                </a:solidFill>
                <a:latin typeface="Corbel" panose="020B0503020204020204" pitchFamily="34" charset="0"/>
              </a:rPr>
              <a:t>use NT and </a:t>
            </a:r>
            <a:r>
              <a:rPr lang="en-US" sz="2400" dirty="0" err="1">
                <a:solidFill>
                  <a:srgbClr val="FF0000"/>
                </a:solidFill>
                <a:latin typeface="Corbel" panose="020B0503020204020204" pitchFamily="34" charset="0"/>
              </a:rPr>
              <a:t>HyenaDNA</a:t>
            </a:r>
            <a:r>
              <a:rPr lang="en-US" sz="2400" dirty="0">
                <a:solidFill>
                  <a:srgbClr val="FF0000"/>
                </a:solidFill>
                <a:latin typeface="Corbel" panose="020B0503020204020204" pitchFamily="34" charset="0"/>
              </a:rPr>
              <a:t> and compare their performance</a:t>
            </a:r>
            <a:endParaRPr lang="en-SA" sz="2400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75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C9A44-BB30-78E1-04A9-A232C5FF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Model Constraints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5ECFF-A10E-3780-3F17-3BDCFADCB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pretrained GFMs, tokenization is usually not a design choice.</a:t>
            </a:r>
          </a:p>
          <a:p>
            <a:r>
              <a:rPr lang="en-US" dirty="0"/>
              <a:t>It is a constraint inherited from the checkpoint.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 must verify</a:t>
            </a:r>
          </a:p>
          <a:p>
            <a:r>
              <a:rPr lang="en-US" b="1" dirty="0"/>
              <a:t>Tokenizer type:</a:t>
            </a:r>
            <a:r>
              <a:rPr lang="en-US" dirty="0"/>
              <a:t> base-level, k-</a:t>
            </a:r>
            <a:r>
              <a:rPr lang="en-US" dirty="0" err="1"/>
              <a:t>mer</a:t>
            </a:r>
            <a:r>
              <a:rPr lang="en-US" dirty="0"/>
              <a:t>, BPE/</a:t>
            </a:r>
            <a:r>
              <a:rPr lang="en-US" dirty="0" err="1"/>
              <a:t>subword</a:t>
            </a:r>
            <a:r>
              <a:rPr lang="en-US" dirty="0"/>
              <a:t>, AA tokens</a:t>
            </a:r>
          </a:p>
          <a:p>
            <a:r>
              <a:rPr lang="en-US" b="1" dirty="0"/>
              <a:t>Alphabet:</a:t>
            </a:r>
            <a:r>
              <a:rPr lang="en-US" dirty="0"/>
              <a:t> A/C/G/T/N vs IUPAC ambiguity codes</a:t>
            </a:r>
          </a:p>
          <a:p>
            <a:r>
              <a:rPr lang="en-US" b="1" dirty="0"/>
              <a:t>Max length:</a:t>
            </a:r>
            <a:r>
              <a:rPr lang="en-US" dirty="0"/>
              <a:t> truncation, padding conventions</a:t>
            </a:r>
          </a:p>
          <a:p>
            <a:r>
              <a:rPr lang="en-US" b="1" dirty="0"/>
              <a:t>Special tokens:</a:t>
            </a:r>
            <a:r>
              <a:rPr lang="en-US" dirty="0"/>
              <a:t> BOS/EOS/CLS/SEP, masking token behavior</a:t>
            </a:r>
          </a:p>
          <a:p>
            <a:r>
              <a:rPr lang="en-US" b="1" dirty="0"/>
              <a:t>Reverse-complement handling:</a:t>
            </a:r>
            <a:r>
              <a:rPr lang="en-US" dirty="0"/>
              <a:t> supported, assumed, or absent</a:t>
            </a:r>
          </a:p>
          <a:p>
            <a:pPr lvl="1"/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35710-83FF-1C93-4DE8-0DC592A333FA}"/>
              </a:ext>
            </a:extLst>
          </p:cNvPr>
          <p:cNvSpPr txBox="1"/>
          <p:nvPr/>
        </p:nvSpPr>
        <p:spPr>
          <a:xfrm>
            <a:off x="601436" y="5725018"/>
            <a:ext cx="10989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Corbel" panose="020B0503020204020204" pitchFamily="34" charset="0"/>
              </a:rPr>
              <a:t>If you change tokenization, you are no longer using the pretrained model as intended.</a:t>
            </a:r>
            <a:endParaRPr lang="en-SA" sz="2400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20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44C6-71EF-D606-591C-13A3A312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Constraints for Our Enhancer Task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3372-6EDC-B805-E23F-1839506A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For 1 kb DNA enhancer windows:</a:t>
            </a:r>
          </a:p>
          <a:p>
            <a:r>
              <a:rPr lang="en-US" b="1" dirty="0" err="1"/>
              <a:t>Enformer</a:t>
            </a:r>
            <a:r>
              <a:rPr lang="en-US" b="1" dirty="0"/>
              <a:t>-like model</a:t>
            </a:r>
            <a:endParaRPr lang="en-US" dirty="0"/>
          </a:p>
          <a:p>
            <a:pPr lvl="1"/>
            <a:r>
              <a:rPr lang="en-US" sz="2200" dirty="0"/>
              <a:t>Base-level one-hot DNA; fixed input length, context length 393 kb</a:t>
            </a:r>
          </a:p>
          <a:p>
            <a:r>
              <a:rPr lang="en-US" b="1" dirty="0"/>
              <a:t>Nucleotide Transformer</a:t>
            </a:r>
            <a:endParaRPr lang="en-US" dirty="0"/>
          </a:p>
          <a:p>
            <a:pPr lvl="1"/>
            <a:r>
              <a:rPr lang="en-US" sz="2200" dirty="0"/>
              <a:t>Must use its native PBE like tokenizer, context length is 2-6 kb</a:t>
            </a:r>
          </a:p>
          <a:p>
            <a:r>
              <a:rPr lang="en-US" b="1" dirty="0" err="1"/>
              <a:t>HyenaDNA</a:t>
            </a:r>
            <a:endParaRPr lang="en-US" dirty="0"/>
          </a:p>
          <a:p>
            <a:pPr lvl="1"/>
            <a:r>
              <a:rPr lang="en-US" sz="2200" dirty="0"/>
              <a:t>Uses its base level encoding; context length can be in millions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EE60E-CFEA-4296-95E5-117E2C4C40A9}"/>
              </a:ext>
            </a:extLst>
          </p:cNvPr>
          <p:cNvSpPr txBox="1"/>
          <p:nvPr/>
        </p:nvSpPr>
        <p:spPr>
          <a:xfrm>
            <a:off x="950458" y="5291999"/>
            <a:ext cx="10029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Your model choice implicitly fixes </a:t>
            </a:r>
            <a:r>
              <a:rPr lang="en-US" sz="2200" b="1" dirty="0">
                <a:solidFill>
                  <a:srgbClr val="FF0000"/>
                </a:solidFill>
              </a:rPr>
              <a:t>tokenization, input encoding, and maximum context length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DBB1-731D-3A41-D3CC-E948249C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Step 3: Fine-tuning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05C3-C13B-92EF-4E32-F903C6EAC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9371948" cy="3855085"/>
          </a:xfrm>
        </p:spPr>
        <p:txBody>
          <a:bodyPr/>
          <a:lstStyle/>
          <a:p>
            <a:r>
              <a:rPr lang="en-US" dirty="0"/>
              <a:t>Fine-tuning is optional, not mandatory.</a:t>
            </a:r>
          </a:p>
          <a:p>
            <a:r>
              <a:rPr lang="en-US" dirty="0"/>
              <a:t>Rule-of-thumb (heuristic, not a law)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662866-1CDA-9112-3C6E-707569BFAE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8051723"/>
              </p:ext>
            </p:extLst>
          </p:nvPr>
        </p:nvGraphicFramePr>
        <p:xfrm>
          <a:off x="1654953" y="2510264"/>
          <a:ext cx="7816268" cy="2124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372">
                  <a:extLst>
                    <a:ext uri="{9D8B030D-6E8A-4147-A177-3AD203B41FA5}">
                      <a16:colId xmlns:a16="http://schemas.microsoft.com/office/drawing/2014/main" val="919313169"/>
                    </a:ext>
                  </a:extLst>
                </a:gridCol>
                <a:gridCol w="4945896">
                  <a:extLst>
                    <a:ext uri="{9D8B030D-6E8A-4147-A177-3AD203B41FA5}">
                      <a16:colId xmlns:a16="http://schemas.microsoft.com/office/drawing/2014/main" val="3993659373"/>
                    </a:ext>
                  </a:extLst>
                </a:gridCol>
              </a:tblGrid>
              <a:tr h="8061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Approx. labeled dataset size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Typical strategy*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3845853"/>
                  </a:ext>
                </a:extLst>
              </a:tr>
              <a:tr h="439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F1115"/>
                          </a:solidFill>
                          <a:effectLst/>
                          <a:latin typeface="+mj-lt"/>
                        </a:rPr>
                        <a:t>&lt; 1k sequences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Freeze backbone, train head only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0648337"/>
                  </a:ext>
                </a:extLst>
              </a:tr>
              <a:tr h="439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F1115"/>
                          </a:solidFill>
                          <a:effectLst/>
                          <a:latin typeface="+mj-lt"/>
                        </a:rPr>
                        <a:t>1k–50k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Partial fine-tuning (top layers)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9777790"/>
                  </a:ext>
                </a:extLst>
              </a:tr>
              <a:tr h="439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>
                          <a:solidFill>
                            <a:srgbClr val="0F1115"/>
                          </a:solidFill>
                          <a:effectLst/>
                          <a:latin typeface="+mj-lt"/>
                        </a:rPr>
                        <a:t>50k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Full fine-tuning often beneficial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75617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132E3D-8E03-2003-54EE-E7C7F1FE520F}"/>
              </a:ext>
            </a:extLst>
          </p:cNvPr>
          <p:cNvSpPr txBox="1"/>
          <p:nvPr/>
        </p:nvSpPr>
        <p:spPr>
          <a:xfrm>
            <a:off x="1654954" y="4791221"/>
            <a:ext cx="7816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 Depends on label noise, domain shift, model size, compute budget.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5245C-1FCD-96FE-0E28-62B03A262D2F}"/>
              </a:ext>
            </a:extLst>
          </p:cNvPr>
          <p:cNvSpPr txBox="1"/>
          <p:nvPr/>
        </p:nvSpPr>
        <p:spPr>
          <a:xfrm>
            <a:off x="1410023" y="5685859"/>
            <a:ext cx="78162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You may overfit by fine-tuning huge backbones on tiny datasets</a:t>
            </a:r>
          </a:p>
        </p:txBody>
      </p:sp>
    </p:spTree>
    <p:extLst>
      <p:ext uri="{BB962C8B-B14F-4D97-AF65-F5344CB8AC3E}">
        <p14:creationId xmlns:p14="http://schemas.microsoft.com/office/powerpoint/2010/main" val="223890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62C4-F2B3-4F8A-D3C3-A539D63E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Strategy</a:t>
            </a:r>
            <a:r>
              <a:rPr lang="en-SA" dirty="0"/>
              <a:t> - [Continued]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7398E-A8F7-AA7F-17AE-DCEA3CCF5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Incremental Fine-Tuning strategy</a:t>
            </a:r>
          </a:p>
          <a:p>
            <a:r>
              <a:rPr lang="en-US" b="1" dirty="0"/>
              <a:t>Freeze backbone</a:t>
            </a:r>
            <a:r>
              <a:rPr lang="en-US" dirty="0"/>
              <a:t>, train prediction head (helps in sanity check)</a:t>
            </a:r>
          </a:p>
          <a:p>
            <a:r>
              <a:rPr lang="en-US" b="1" dirty="0"/>
              <a:t>Unfreeze top N layers</a:t>
            </a:r>
            <a:r>
              <a:rPr lang="en-US" dirty="0"/>
              <a:t> (e.g., 2–4), train with low LR on backbone</a:t>
            </a:r>
          </a:p>
          <a:p>
            <a:r>
              <a:rPr lang="en-US" b="1" dirty="0"/>
              <a:t>Gradually unfreeze deeper layers</a:t>
            </a:r>
            <a:r>
              <a:rPr lang="en-US" dirty="0"/>
              <a:t> if:</a:t>
            </a:r>
          </a:p>
          <a:p>
            <a:pPr lvl="1"/>
            <a:r>
              <a:rPr lang="en-US" sz="2200" dirty="0"/>
              <a:t>Data size &amp; quality justify it</a:t>
            </a:r>
          </a:p>
          <a:p>
            <a:pPr lvl="1"/>
            <a:r>
              <a:rPr lang="en-US" sz="2200" dirty="0"/>
              <a:t>Validation metrics improve without overfitting</a:t>
            </a:r>
          </a:p>
          <a:p>
            <a:r>
              <a:rPr lang="en-US" dirty="0"/>
              <a:t>This reduces catastrophic forgetting and lets you </a:t>
            </a:r>
            <a:r>
              <a:rPr lang="en-US" b="1" dirty="0"/>
              <a:t>pay for complexity as needed</a:t>
            </a:r>
            <a:r>
              <a:rPr lang="en-US" dirty="0"/>
              <a:t>.</a:t>
            </a:r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12185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E485-3C83-436F-8B6C-B59F2A21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Strategy</a:t>
            </a:r>
            <a:r>
              <a:rPr lang="en-SA" dirty="0"/>
              <a:t> - [Continued]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E143-3FCB-5EF1-25CF-DE77F78D0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rates:</a:t>
            </a:r>
          </a:p>
          <a:p>
            <a:pPr lvl="1"/>
            <a:r>
              <a:rPr lang="en-US" dirty="0"/>
              <a:t>Lower rates for Backbone compared to Head (task-specific layer)</a:t>
            </a:r>
          </a:p>
          <a:p>
            <a:endParaRPr lang="en-US" dirty="0"/>
          </a:p>
          <a:p>
            <a:r>
              <a:rPr lang="en-US" dirty="0"/>
              <a:t>Regularization:</a:t>
            </a:r>
          </a:p>
          <a:p>
            <a:pPr lvl="1"/>
            <a:r>
              <a:rPr lang="en-US" dirty="0"/>
              <a:t>Gradient clipping (avoid exploding gradients &amp; unstable training)</a:t>
            </a:r>
          </a:p>
          <a:p>
            <a:pPr lvl="1"/>
            <a:r>
              <a:rPr lang="en-US" dirty="0"/>
              <a:t>Weight decay (add a small penalty proportional to the weight magnitude)</a:t>
            </a:r>
          </a:p>
          <a:p>
            <a:pPr lvl="1"/>
            <a:r>
              <a:rPr lang="en-US" dirty="0"/>
              <a:t>Dropout in head (setting random neurons to zero in training)</a:t>
            </a:r>
          </a:p>
          <a:p>
            <a:endParaRPr lang="en-US" dirty="0"/>
          </a:p>
          <a:p>
            <a:r>
              <a:rPr lang="en-US" dirty="0"/>
              <a:t>Validation-centric:</a:t>
            </a:r>
          </a:p>
          <a:p>
            <a:pPr lvl="1"/>
            <a:r>
              <a:rPr lang="en-US" dirty="0"/>
              <a:t>Early stopping on biologically meaningful metric</a:t>
            </a:r>
          </a:p>
          <a:p>
            <a:pPr lvl="1"/>
            <a:r>
              <a:rPr lang="en-US" dirty="0"/>
              <a:t>Hyperparameter search on validation only (don’t touch test set)</a:t>
            </a:r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25648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91D9-6BC1-40FB-90AA-CF4B93B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Fine-Tuning for Our Enhancer Task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CBEA-1F82-586F-9A72-0CF92565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Assume we have </a:t>
            </a:r>
            <a:r>
              <a:rPr lang="en-US" b="1" dirty="0"/>
              <a:t>~40k labeled windows</a:t>
            </a:r>
            <a:r>
              <a:rPr lang="en-US" dirty="0"/>
              <a:t> for K562:</a:t>
            </a:r>
          </a:p>
          <a:p>
            <a:r>
              <a:rPr lang="en-US" dirty="0"/>
              <a:t>Start with </a:t>
            </a:r>
            <a:r>
              <a:rPr lang="en-US" b="1" dirty="0"/>
              <a:t>frozen backbone + regression head</a:t>
            </a:r>
            <a:endParaRPr lang="en-US" dirty="0"/>
          </a:p>
          <a:p>
            <a:r>
              <a:rPr lang="en-US" dirty="0"/>
              <a:t>If performance plateaus:</a:t>
            </a:r>
          </a:p>
          <a:p>
            <a:pPr lvl="1"/>
            <a:r>
              <a:rPr lang="en-US" sz="2200" dirty="0"/>
              <a:t>Unfreeze top </a:t>
            </a:r>
            <a:r>
              <a:rPr lang="en-US" sz="2200" b="1" dirty="0"/>
              <a:t>2–4 layers</a:t>
            </a:r>
            <a:r>
              <a:rPr lang="en-US" sz="2200" dirty="0"/>
              <a:t> of the transformer</a:t>
            </a:r>
          </a:p>
          <a:p>
            <a:pPr lvl="1"/>
            <a:r>
              <a:rPr lang="en-US" sz="2200" dirty="0"/>
              <a:t>Use </a:t>
            </a:r>
            <a:r>
              <a:rPr lang="en-US" sz="2200" b="1" dirty="0"/>
              <a:t>lower LR</a:t>
            </a:r>
            <a:r>
              <a:rPr lang="en-US" sz="2200" dirty="0"/>
              <a:t> for backbone than for head</a:t>
            </a:r>
          </a:p>
          <a:p>
            <a:r>
              <a:rPr lang="en-US" dirty="0"/>
              <a:t>Only move to </a:t>
            </a:r>
            <a:r>
              <a:rPr lang="en-US" b="1" dirty="0"/>
              <a:t>full fine-tuning</a:t>
            </a:r>
            <a:r>
              <a:rPr lang="en-US" dirty="0"/>
              <a:t> if:</a:t>
            </a:r>
          </a:p>
          <a:p>
            <a:pPr lvl="1"/>
            <a:r>
              <a:rPr lang="en-US" sz="2200" dirty="0"/>
              <a:t>Data are high-quality</a:t>
            </a:r>
          </a:p>
          <a:p>
            <a:pPr lvl="1"/>
            <a:r>
              <a:rPr lang="en-US" sz="2200" dirty="0"/>
              <a:t>Domain closely matches pretraining</a:t>
            </a:r>
          </a:p>
          <a:p>
            <a:pPr lvl="1"/>
            <a:r>
              <a:rPr lang="en-US" sz="2200" dirty="0"/>
              <a:t>You can afford extensive validation</a:t>
            </a:r>
          </a:p>
        </p:txBody>
      </p:sp>
    </p:spTree>
    <p:extLst>
      <p:ext uri="{BB962C8B-B14F-4D97-AF65-F5344CB8AC3E}">
        <p14:creationId xmlns:p14="http://schemas.microsoft.com/office/powerpoint/2010/main" val="331839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06F4-915B-5227-7DDA-8ECBF086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Data Splits &amp; Leakage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71CD-DD08-7B4D-6BF3-00554E56D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Common pitfalls:</a:t>
            </a:r>
          </a:p>
          <a:p>
            <a:pPr lvl="1"/>
            <a:r>
              <a:rPr lang="en-US" sz="2200" dirty="0"/>
              <a:t>Random genomic splits → massive sequence similarity leakage</a:t>
            </a:r>
          </a:p>
          <a:p>
            <a:pPr lvl="1"/>
            <a:r>
              <a:rPr lang="en-US" sz="2200" dirty="0"/>
              <a:t>Mixing species / cell types without modeling domain shift</a:t>
            </a:r>
          </a:p>
          <a:p>
            <a:pPr lvl="1"/>
            <a:r>
              <a:rPr lang="en-US" sz="2200" dirty="0"/>
              <a:t>Train–test leakage across variants of the same locus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2400" dirty="0"/>
              <a:t>Better options:</a:t>
            </a:r>
          </a:p>
          <a:p>
            <a:pPr lvl="1"/>
            <a:r>
              <a:rPr lang="en-US" sz="2200" b="1" dirty="0"/>
              <a:t>Chromosome level</a:t>
            </a:r>
            <a:r>
              <a:rPr lang="en-US" sz="2200" dirty="0"/>
              <a:t> splits (no random window splits).</a:t>
            </a:r>
          </a:p>
          <a:p>
            <a:pPr lvl="1"/>
            <a:r>
              <a:rPr lang="en-US" sz="2200" b="1" dirty="0"/>
              <a:t>Homology-aware</a:t>
            </a:r>
            <a:r>
              <a:rPr lang="en-US" sz="2200" dirty="0"/>
              <a:t> splits that avoid similar sequences across sets</a:t>
            </a:r>
          </a:p>
          <a:p>
            <a:pPr lvl="1"/>
            <a:endParaRPr lang="en-US" sz="2200" dirty="0"/>
          </a:p>
          <a:p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335F8-914C-877B-AC7F-88484E8BBE35}"/>
              </a:ext>
            </a:extLst>
          </p:cNvPr>
          <p:cNvSpPr txBox="1"/>
          <p:nvPr/>
        </p:nvSpPr>
        <p:spPr>
          <a:xfrm>
            <a:off x="1612447" y="5611977"/>
            <a:ext cx="77928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If evaluation looks too good to be true, suspect leakage</a:t>
            </a:r>
            <a:endParaRPr lang="en-SA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4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9F6C-515A-6373-CFAB-1E320A79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Task-aligned, Model-constrained Preprocessing 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E272-8A8B-6F83-2135-B8997881A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Preprocessing must match:</a:t>
            </a:r>
          </a:p>
          <a:p>
            <a:r>
              <a:rPr lang="en-US" dirty="0"/>
              <a:t>The </a:t>
            </a:r>
            <a:r>
              <a:rPr lang="en-US" b="1" dirty="0"/>
              <a:t>biological question</a:t>
            </a:r>
            <a:endParaRPr lang="en-US" dirty="0"/>
          </a:p>
          <a:p>
            <a:r>
              <a:rPr lang="en-US" dirty="0"/>
              <a:t>The </a:t>
            </a:r>
            <a:r>
              <a:rPr lang="en-US" b="1" dirty="0"/>
              <a:t>model’s pretraining assumptions</a:t>
            </a:r>
            <a:endParaRPr lang="en-US" dirty="0"/>
          </a:p>
          <a:p>
            <a:r>
              <a:rPr lang="en-US" dirty="0"/>
              <a:t>The </a:t>
            </a:r>
            <a:r>
              <a:rPr lang="en-US" b="1" dirty="0"/>
              <a:t>tokenizer + input constraints</a:t>
            </a:r>
            <a:r>
              <a:rPr lang="en-US" dirty="0"/>
              <a:t> of the chosen checkpoint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r>
              <a:rPr lang="en-US" b="1" dirty="0"/>
              <a:t>Reverse-complement augmentation / consistency</a:t>
            </a:r>
            <a:endParaRPr lang="en-US" dirty="0"/>
          </a:p>
          <a:p>
            <a:r>
              <a:rPr lang="en-US" b="1" dirty="0"/>
              <a:t>Signal smoothing</a:t>
            </a:r>
            <a:r>
              <a:rPr lang="en-US" dirty="0"/>
              <a:t> (e.g., averaging over bins) for regression tasks</a:t>
            </a:r>
          </a:p>
          <a:p>
            <a:r>
              <a:rPr lang="en-US" b="1" dirty="0"/>
              <a:t>Length normalization / padding</a:t>
            </a:r>
            <a:r>
              <a:rPr lang="en-US" dirty="0"/>
              <a:t> to expected input size</a:t>
            </a:r>
          </a:p>
          <a:p>
            <a:r>
              <a:rPr lang="en-US" b="1" dirty="0"/>
              <a:t>Handling Ns and ambiguous bases</a:t>
            </a:r>
            <a:endParaRPr lang="en-US" dirty="0"/>
          </a:p>
          <a:p>
            <a:pPr marL="0" indent="0">
              <a:buNone/>
            </a:pPr>
            <a:endParaRPr lang="en-SA" b="1" dirty="0"/>
          </a:p>
        </p:txBody>
      </p:sp>
    </p:spTree>
    <p:extLst>
      <p:ext uri="{BB962C8B-B14F-4D97-AF65-F5344CB8AC3E}">
        <p14:creationId xmlns:p14="http://schemas.microsoft.com/office/powerpoint/2010/main" val="234822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1DE0-EDBF-5D02-DD93-AD8CFBE3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Preprocessing for Our Enhancer Task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DEAC6-CBC8-4F39-274D-4BF3E104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1 kb K562 windows:</a:t>
            </a:r>
          </a:p>
          <a:p>
            <a:r>
              <a:rPr lang="en-US" b="1" dirty="0"/>
              <a:t>Sequence:</a:t>
            </a:r>
            <a:endParaRPr lang="en-US" dirty="0"/>
          </a:p>
          <a:p>
            <a:pPr lvl="1"/>
            <a:r>
              <a:rPr lang="en-US" dirty="0"/>
              <a:t>Extract 1 kb around peaks from reference FASTA</a:t>
            </a:r>
          </a:p>
          <a:p>
            <a:pPr lvl="1"/>
            <a:r>
              <a:rPr lang="en-US" dirty="0"/>
              <a:t>Optionally apply </a:t>
            </a:r>
            <a:r>
              <a:rPr lang="en-US" b="1" dirty="0"/>
              <a:t>reverse-complement augmentation</a:t>
            </a:r>
            <a:r>
              <a:rPr lang="en-US" dirty="0"/>
              <a:t> if assay is strand-agnostic</a:t>
            </a:r>
          </a:p>
          <a:p>
            <a:r>
              <a:rPr lang="en-US" b="1" dirty="0"/>
              <a:t>Signal:</a:t>
            </a:r>
            <a:endParaRPr lang="en-US" dirty="0"/>
          </a:p>
          <a:p>
            <a:pPr lvl="1"/>
            <a:r>
              <a:rPr lang="en-US" dirty="0"/>
              <a:t>Aggregate H3K27ac </a:t>
            </a:r>
            <a:r>
              <a:rPr lang="en-US" dirty="0" err="1"/>
              <a:t>BigWig</a:t>
            </a:r>
            <a:r>
              <a:rPr lang="en-US" dirty="0"/>
              <a:t> signal over the window (mean, max, or a short profile)</a:t>
            </a:r>
          </a:p>
          <a:p>
            <a:pPr lvl="1"/>
            <a:r>
              <a:rPr lang="en-US" dirty="0"/>
              <a:t>Log-transform or z-score normalize if needed</a:t>
            </a:r>
          </a:p>
          <a:p>
            <a:r>
              <a:rPr lang="en-US" b="1" dirty="0"/>
              <a:t>Input formatting:</a:t>
            </a:r>
            <a:endParaRPr lang="en-US" dirty="0"/>
          </a:p>
          <a:p>
            <a:pPr lvl="1"/>
            <a:r>
              <a:rPr lang="en-US" dirty="0"/>
              <a:t>Pad/truncate sequences to model’s expected length</a:t>
            </a:r>
          </a:p>
          <a:p>
            <a:pPr lvl="1"/>
            <a:r>
              <a:rPr lang="en-US" dirty="0"/>
              <a:t>Encode using the model’s </a:t>
            </a:r>
            <a:r>
              <a:rPr lang="en-US" b="1" dirty="0"/>
              <a:t>native tokenizer</a:t>
            </a:r>
            <a:r>
              <a:rPr lang="en-US" dirty="0"/>
              <a:t> (not a custom one)</a:t>
            </a:r>
          </a:p>
          <a:p>
            <a:r>
              <a:rPr lang="en-US" dirty="0"/>
              <a:t>This creates </a:t>
            </a:r>
            <a:r>
              <a:rPr lang="en-US" b="1" dirty="0"/>
              <a:t>task-aligned inputs/labels</a:t>
            </a:r>
            <a:r>
              <a:rPr lang="en-US" dirty="0"/>
              <a:t> consistent with model expectations.</a:t>
            </a:r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346367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EEA0-36E0-4AAB-9775-D1A131FE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 — Experimental Setup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2140E-2930-CCDF-2A92-F7F7C1903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Make decisions explicit:</a:t>
            </a:r>
          </a:p>
          <a:p>
            <a:r>
              <a:rPr lang="en-US" dirty="0"/>
              <a:t>Input → output mapping:</a:t>
            </a:r>
          </a:p>
          <a:p>
            <a:pPr lvl="1"/>
            <a:r>
              <a:rPr lang="en-US" dirty="0"/>
              <a:t>1 kb sequence → scalar enhancer activity</a:t>
            </a:r>
          </a:p>
          <a:p>
            <a:r>
              <a:rPr lang="en-US" dirty="0"/>
              <a:t>Loss function:</a:t>
            </a:r>
          </a:p>
          <a:p>
            <a:pPr lvl="1"/>
            <a:r>
              <a:rPr lang="en-US" dirty="0"/>
              <a:t>Regression (e.g., MSE) vs classification (e.g., BCE)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Pearson / Spearman, plus calibration, error distributions</a:t>
            </a:r>
          </a:p>
          <a:p>
            <a:r>
              <a:rPr lang="en-US" dirty="0"/>
              <a:t>Validation strategy:</a:t>
            </a:r>
          </a:p>
          <a:p>
            <a:pPr lvl="1"/>
            <a:r>
              <a:rPr lang="en-US" dirty="0"/>
              <a:t>Chromosome/homology-aware splits, early stopping on validation metric</a:t>
            </a:r>
            <a:br>
              <a:rPr lang="en-US" dirty="0"/>
            </a:b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56881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33BD-9B5B-E523-8BC3-E42CE1AC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 — Evaluation &amp; Interpretation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DDE45-7E2F-441A-05AF-8EA845A8F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model must be connected back to original biological question</a:t>
            </a:r>
          </a:p>
          <a:p>
            <a:endParaRPr lang="en-US" b="1" dirty="0"/>
          </a:p>
          <a:p>
            <a:r>
              <a:rPr lang="en-US" b="1" dirty="0"/>
              <a:t>Motif recovery</a:t>
            </a:r>
            <a:endParaRPr lang="en-US" dirty="0"/>
          </a:p>
          <a:p>
            <a:pPr lvl="1"/>
            <a:r>
              <a:rPr lang="en-US" sz="2200" dirty="0"/>
              <a:t>Do important positions match known TF motifs / sequence elements?</a:t>
            </a:r>
          </a:p>
          <a:p>
            <a:r>
              <a:rPr lang="en-US" b="1" dirty="0"/>
              <a:t>Cross-cell-type generalization</a:t>
            </a:r>
            <a:endParaRPr lang="en-US" dirty="0"/>
          </a:p>
          <a:p>
            <a:pPr lvl="1"/>
            <a:r>
              <a:rPr lang="en-US" sz="2200" dirty="0"/>
              <a:t>Train on K562, test on another cell type with related biology</a:t>
            </a:r>
          </a:p>
          <a:p>
            <a:r>
              <a:rPr lang="en-US" b="1" dirty="0"/>
              <a:t>Cross-species or cross-individual transfer</a:t>
            </a:r>
            <a:endParaRPr lang="en-US" dirty="0"/>
          </a:p>
          <a:p>
            <a:pPr lvl="1"/>
            <a:r>
              <a:rPr lang="en-US" sz="2200" dirty="0"/>
              <a:t>Evaluate robustness to evolutionary or genetic variation</a:t>
            </a:r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60914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93A9-0965-4107-7906-75A28D8C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Interpreting Our Enhancer Model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E0A2-7EE4-A95E-8FD8-2495720D9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K562 enhancer model:</a:t>
            </a:r>
          </a:p>
          <a:p>
            <a:r>
              <a:rPr lang="en-US" dirty="0"/>
              <a:t>Visualize </a:t>
            </a:r>
            <a:r>
              <a:rPr lang="en-US" b="1" dirty="0"/>
              <a:t>saliency maps</a:t>
            </a:r>
            <a:r>
              <a:rPr lang="en-US" dirty="0"/>
              <a:t> across windows:</a:t>
            </a:r>
          </a:p>
          <a:p>
            <a:pPr lvl="1"/>
            <a:r>
              <a:rPr lang="en-US" sz="2200" dirty="0"/>
              <a:t>Do high-saliency regions overlap </a:t>
            </a:r>
            <a:r>
              <a:rPr lang="en-US" sz="2200" b="1" dirty="0"/>
              <a:t>known enhancer motifs</a:t>
            </a:r>
            <a:r>
              <a:rPr lang="en-US" sz="2200" dirty="0"/>
              <a:t> (e.g., AP-1, GATA)?</a:t>
            </a:r>
          </a:p>
          <a:p>
            <a:r>
              <a:rPr lang="en-US" dirty="0"/>
              <a:t>Test </a:t>
            </a:r>
            <a:r>
              <a:rPr lang="en-US" b="1" dirty="0"/>
              <a:t>generalization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Train on K562, evaluate on another myeloid cell type. Does performance degrade gracefully?</a:t>
            </a:r>
          </a:p>
          <a:p>
            <a:r>
              <a:rPr lang="en-US" dirty="0"/>
              <a:t>Evaluate </a:t>
            </a:r>
            <a:r>
              <a:rPr lang="en-US" b="1" dirty="0"/>
              <a:t>variant effects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In silico mutagenesis of high-saliency sites:</a:t>
            </a:r>
          </a:p>
          <a:p>
            <a:pPr lvl="2"/>
            <a:r>
              <a:rPr lang="en-US" sz="2200" dirty="0"/>
              <a:t>Do predicted changes align with experimental variant-effect data (if available)?</a:t>
            </a:r>
          </a:p>
          <a:p>
            <a:pPr marL="0" indent="0">
              <a:buNone/>
            </a:pP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83284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368F-1DA8-A60E-A6E3-B0D1225D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29604-442C-3CE8-F9B6-0C3C0A892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A" dirty="0"/>
              <a:t>In the hands-on session, </a:t>
            </a:r>
          </a:p>
          <a:p>
            <a:pPr lvl="1"/>
            <a:r>
              <a:rPr lang="en-SA" sz="2200" dirty="0"/>
              <a:t>We will go through the example use case </a:t>
            </a:r>
          </a:p>
          <a:p>
            <a:pPr lvl="1"/>
            <a:r>
              <a:rPr lang="en-SA" sz="2200" dirty="0"/>
              <a:t>We </a:t>
            </a:r>
            <a:r>
              <a:rPr lang="en-SA" sz="2200"/>
              <a:t>will try two different GFMs and compare their performance </a:t>
            </a:r>
            <a:endParaRPr lang="en-SA" sz="2200" dirty="0"/>
          </a:p>
        </p:txBody>
      </p:sp>
    </p:spTree>
    <p:extLst>
      <p:ext uri="{BB962C8B-B14F-4D97-AF65-F5344CB8AC3E}">
        <p14:creationId xmlns:p14="http://schemas.microsoft.com/office/powerpoint/2010/main" val="147944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114F2-D8EF-93A9-0C39-4BB732FD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400" dirty="0"/>
              <a:t>Questions &amp; Comments</a:t>
            </a:r>
            <a:endParaRPr lang="en-SA" sz="4400" dirty="0"/>
          </a:p>
        </p:txBody>
      </p:sp>
    </p:spTree>
    <p:extLst>
      <p:ext uri="{BB962C8B-B14F-4D97-AF65-F5344CB8AC3E}">
        <p14:creationId xmlns:p14="http://schemas.microsoft.com/office/powerpoint/2010/main" val="929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6E0CC6-C99B-E602-2364-E0DF7F5A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F529-4D36-17A9-CC84-90745684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Workflow </a:t>
            </a:r>
            <a:endParaRPr lang="en-S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872D85-7D99-BF77-FF00-A413DB8D8B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453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28069</TotalTime>
  <Words>1770</Words>
  <Application>Microsoft Macintosh PowerPoint</Application>
  <PresentationFormat>Widescreen</PresentationFormat>
  <Paragraphs>266</Paragraphs>
  <Slides>24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-apple-system</vt:lpstr>
      <vt:lpstr>Aptos Display</vt:lpstr>
      <vt:lpstr>Aptos Narrow</vt:lpstr>
      <vt:lpstr>Arial</vt:lpstr>
      <vt:lpstr>Cambria Math</vt:lpstr>
      <vt:lpstr>Corbel</vt:lpstr>
      <vt:lpstr>Helvetica Neue</vt:lpstr>
      <vt:lpstr>Custom</vt:lpstr>
      <vt:lpstr>GFM in Practice: Solving biological problems using GFMs</vt:lpstr>
      <vt:lpstr>Why This Lecture?</vt:lpstr>
      <vt:lpstr>Suggested Workflow </vt:lpstr>
      <vt:lpstr>Suggested Workflow </vt:lpstr>
      <vt:lpstr>Running Example</vt:lpstr>
      <vt:lpstr>Step 1: Define the Biological Question</vt:lpstr>
      <vt:lpstr>Step 2: Select Model Family</vt:lpstr>
      <vt:lpstr>Architecture → Use Case Mapping</vt:lpstr>
      <vt:lpstr>Example: Choosing a Model for Our Enhancer Task</vt:lpstr>
      <vt:lpstr>Verify Model Constraints</vt:lpstr>
      <vt:lpstr>Example: Constraints for Our Enhancer Task</vt:lpstr>
      <vt:lpstr>Step 3: Fine-tuning Strategy</vt:lpstr>
      <vt:lpstr>Fine-Tuning Strategy - [Continued]</vt:lpstr>
      <vt:lpstr>Fine-Tuning Strategy - [Continued]</vt:lpstr>
      <vt:lpstr>Example: Fine-Tuning for Our Enhancer Task</vt:lpstr>
      <vt:lpstr>Step 4: Data Splits &amp; Leakage</vt:lpstr>
      <vt:lpstr>Step 5: Task-aligned, Model-constrained Preprocessing </vt:lpstr>
      <vt:lpstr>Example: Preprocessing for Our Enhancer Task</vt:lpstr>
      <vt:lpstr>Step 6 — Experimental Setup</vt:lpstr>
      <vt:lpstr>Step 7 — Evaluation &amp; Interpretation</vt:lpstr>
      <vt:lpstr>Example: Interpreting Our Enhancer Model</vt:lpstr>
      <vt:lpstr>Next Step</vt:lpstr>
      <vt:lpstr>Questions &amp; Comments</vt:lpstr>
      <vt:lpstr>Suggested Workflow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945</cp:revision>
  <cp:lastPrinted>2025-05-18T13:30:56Z</cp:lastPrinted>
  <dcterms:created xsi:type="dcterms:W3CDTF">2025-04-08T12:26:15Z</dcterms:created>
  <dcterms:modified xsi:type="dcterms:W3CDTF">2026-02-15T21:34:12Z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