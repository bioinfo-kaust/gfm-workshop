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5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diagrams/data4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8"/>
  </p:notesMasterIdLst>
  <p:handoutMasterIdLst>
    <p:handoutMasterId r:id="rId29"/>
  </p:handoutMasterIdLst>
  <p:sldIdLst>
    <p:sldId id="258" r:id="rId5"/>
    <p:sldId id="275" r:id="rId6"/>
    <p:sldId id="346" r:id="rId7"/>
    <p:sldId id="337" r:id="rId8"/>
    <p:sldId id="375" r:id="rId9"/>
    <p:sldId id="389" r:id="rId10"/>
    <p:sldId id="376" r:id="rId11"/>
    <p:sldId id="377" r:id="rId12"/>
    <p:sldId id="383" r:id="rId13"/>
    <p:sldId id="391" r:id="rId14"/>
    <p:sldId id="384" r:id="rId15"/>
    <p:sldId id="388" r:id="rId16"/>
    <p:sldId id="385" r:id="rId17"/>
    <p:sldId id="392" r:id="rId18"/>
    <p:sldId id="393" r:id="rId19"/>
    <p:sldId id="394" r:id="rId20"/>
    <p:sldId id="396" r:id="rId21"/>
    <p:sldId id="378" r:id="rId22"/>
    <p:sldId id="379" r:id="rId23"/>
    <p:sldId id="380" r:id="rId24"/>
    <p:sldId id="381" r:id="rId25"/>
    <p:sldId id="382" r:id="rId26"/>
    <p:sldId id="32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900"/>
    <a:srgbClr val="FF7E79"/>
    <a:srgbClr val="FF00AF"/>
    <a:srgbClr val="009193"/>
    <a:srgbClr val="F89500"/>
    <a:srgbClr val="C8E2C4"/>
    <a:srgbClr val="8C509A"/>
    <a:srgbClr val="E9CDFB"/>
    <a:srgbClr val="B7B8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86463" autoAdjust="0"/>
  </p:normalViewPr>
  <p:slideViewPr>
    <p:cSldViewPr snapToGrid="0">
      <p:cViewPr varScale="1">
        <p:scale>
          <a:sx n="109" d="100"/>
          <a:sy n="109" d="100"/>
        </p:scale>
        <p:origin x="216" y="20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2" d="100"/>
          <a:sy n="92" d="100"/>
        </p:scale>
        <p:origin x="4424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3B0163-60F8-C24D-99D7-D67DB2B889E1}" type="doc">
      <dgm:prSet loTypeId="urn:microsoft.com/office/officeart/2005/8/layout/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51EB303-A78D-D042-82F4-A6D434129146}">
      <dgm:prSet phldrT="[Text]"/>
      <dgm:spPr/>
      <dgm:t>
        <a:bodyPr/>
        <a:lstStyle/>
        <a:p>
          <a:r>
            <a:rPr lang="en-US" dirty="0"/>
            <a:t>Why Fine-Tuning? The Transfer Learning Paradigm</a:t>
          </a:r>
        </a:p>
      </dgm:t>
    </dgm:pt>
    <dgm:pt modelId="{F5FF1A83-EF2A-5544-9372-2E23423BF0FB}" type="parTrans" cxnId="{C2902813-02A1-034A-9B32-72386D2E1571}">
      <dgm:prSet/>
      <dgm:spPr/>
      <dgm:t>
        <a:bodyPr/>
        <a:lstStyle/>
        <a:p>
          <a:endParaRPr lang="en-US"/>
        </a:p>
      </dgm:t>
    </dgm:pt>
    <dgm:pt modelId="{B9F6BB09-366C-B545-9434-5FF9DB0E1E62}" type="sibTrans" cxnId="{C2902813-02A1-034A-9B32-72386D2E1571}">
      <dgm:prSet/>
      <dgm:spPr/>
      <dgm:t>
        <a:bodyPr/>
        <a:lstStyle/>
        <a:p>
          <a:endParaRPr lang="en-US"/>
        </a:p>
      </dgm:t>
    </dgm:pt>
    <dgm:pt modelId="{B1E12C18-B72B-E342-8CC0-F04D1F6E5F41}">
      <dgm:prSet phldrT="[Text]"/>
      <dgm:spPr/>
      <dgm:t>
        <a:bodyPr/>
        <a:lstStyle/>
        <a:p>
          <a:r>
            <a:rPr lang="en-US" dirty="0"/>
            <a:t>Overview of Fine-Tuning Pipeline</a:t>
          </a:r>
        </a:p>
      </dgm:t>
    </dgm:pt>
    <dgm:pt modelId="{E5E5A626-1A5E-0547-9C0C-231AAC630D60}" type="parTrans" cxnId="{4B450FC2-43E7-C546-A2A4-E7B7E2A1E17B}">
      <dgm:prSet/>
      <dgm:spPr/>
      <dgm:t>
        <a:bodyPr/>
        <a:lstStyle/>
        <a:p>
          <a:endParaRPr lang="en-US"/>
        </a:p>
      </dgm:t>
    </dgm:pt>
    <dgm:pt modelId="{EA7E39B3-A927-D049-8E88-588FF07BEAA0}" type="sibTrans" cxnId="{4B450FC2-43E7-C546-A2A4-E7B7E2A1E17B}">
      <dgm:prSet/>
      <dgm:spPr/>
      <dgm:t>
        <a:bodyPr/>
        <a:lstStyle/>
        <a:p>
          <a:endParaRPr lang="en-US"/>
        </a:p>
      </dgm:t>
    </dgm:pt>
    <dgm:pt modelId="{A583A1E5-1E04-3342-941E-F61B4B622013}">
      <dgm:prSet phldrT="[Text]"/>
      <dgm:spPr/>
      <dgm:t>
        <a:bodyPr/>
        <a:lstStyle/>
        <a:p>
          <a:pPr rtl="0"/>
          <a:r>
            <a:rPr lang="en-US" dirty="0"/>
            <a:t>Full Fine-Tuning vs. Parameter-Efficient Fine-Tuning (PEFT)</a:t>
          </a:r>
        </a:p>
      </dgm:t>
    </dgm:pt>
    <dgm:pt modelId="{F9DC1F07-420A-924A-98A3-5658BCCA7FA9}" type="parTrans" cxnId="{1E809AFB-D89B-A243-8E37-E2B4D0A36880}">
      <dgm:prSet/>
      <dgm:spPr/>
      <dgm:t>
        <a:bodyPr/>
        <a:lstStyle/>
        <a:p>
          <a:endParaRPr lang="en-US"/>
        </a:p>
      </dgm:t>
    </dgm:pt>
    <dgm:pt modelId="{BB1B9057-378B-4A4C-9E20-F2BE8BC9F496}" type="sibTrans" cxnId="{1E809AFB-D89B-A243-8E37-E2B4D0A36880}">
      <dgm:prSet/>
      <dgm:spPr/>
      <dgm:t>
        <a:bodyPr/>
        <a:lstStyle/>
        <a:p>
          <a:endParaRPr lang="en-US"/>
        </a:p>
      </dgm:t>
    </dgm:pt>
    <dgm:pt modelId="{95C8E0EA-7C18-924D-951F-13C53CF72328}">
      <dgm:prSet phldrT="[Text]"/>
      <dgm:spPr/>
      <dgm:t>
        <a:bodyPr/>
        <a:lstStyle/>
        <a:p>
          <a:pPr rtl="0"/>
          <a:r>
            <a:rPr lang="en-US" dirty="0" err="1"/>
            <a:t>LoRA</a:t>
          </a:r>
          <a:r>
            <a:rPr lang="en-US" dirty="0"/>
            <a:t>: Low-Rank Adaptation</a:t>
          </a:r>
        </a:p>
      </dgm:t>
    </dgm:pt>
    <dgm:pt modelId="{F640CA77-D3CA-4641-94F6-9E5E3F7AA695}" type="parTrans" cxnId="{632B484C-3A03-3642-9A5B-4BD354DC95EF}">
      <dgm:prSet/>
      <dgm:spPr/>
      <dgm:t>
        <a:bodyPr/>
        <a:lstStyle/>
        <a:p>
          <a:endParaRPr lang="en-US"/>
        </a:p>
      </dgm:t>
    </dgm:pt>
    <dgm:pt modelId="{7940205A-ACE4-1A40-90D0-D2DD64D4CB7D}" type="sibTrans" cxnId="{632B484C-3A03-3642-9A5B-4BD354DC95EF}">
      <dgm:prSet/>
      <dgm:spPr/>
      <dgm:t>
        <a:bodyPr/>
        <a:lstStyle/>
        <a:p>
          <a:endParaRPr lang="en-US"/>
        </a:p>
      </dgm:t>
    </dgm:pt>
    <dgm:pt modelId="{00B3520A-E742-A844-B17A-FEEF4532D9E6}">
      <dgm:prSet phldrT="[Text]"/>
      <dgm:spPr/>
      <dgm:t>
        <a:bodyPr/>
        <a:lstStyle/>
        <a:p>
          <a:pPr>
            <a:buNone/>
          </a:pPr>
          <a:r>
            <a:rPr lang="en-US" b="0" dirty="0"/>
            <a:t>Practical Lab (Transcription Factor Binding Prediction)</a:t>
          </a:r>
        </a:p>
      </dgm:t>
    </dgm:pt>
    <dgm:pt modelId="{F8FA3BBA-482D-A64F-A7CB-54FDF3DADF59}" type="parTrans" cxnId="{5E38957D-C50F-9F4A-8C83-3AE69B9A4CF3}">
      <dgm:prSet/>
      <dgm:spPr/>
      <dgm:t>
        <a:bodyPr/>
        <a:lstStyle/>
        <a:p>
          <a:endParaRPr lang="en-US"/>
        </a:p>
      </dgm:t>
    </dgm:pt>
    <dgm:pt modelId="{7D6C29AD-D294-EA42-967B-1FA4CDFD9047}" type="sibTrans" cxnId="{5E38957D-C50F-9F4A-8C83-3AE69B9A4CF3}">
      <dgm:prSet/>
      <dgm:spPr/>
      <dgm:t>
        <a:bodyPr/>
        <a:lstStyle/>
        <a:p>
          <a:endParaRPr lang="en-US"/>
        </a:p>
      </dgm:t>
    </dgm:pt>
    <dgm:pt modelId="{4047E8DB-1022-6D4F-A8DA-02DF458AE878}">
      <dgm:prSet phldrT="[Text]"/>
      <dgm:spPr/>
      <dgm:t>
        <a:bodyPr/>
        <a:lstStyle/>
        <a:p>
          <a:r>
            <a:rPr lang="en-US" dirty="0"/>
            <a:t>Introduction to Pre-Training &amp; Fine-Tuning</a:t>
          </a:r>
        </a:p>
      </dgm:t>
    </dgm:pt>
    <dgm:pt modelId="{BD2755CB-3A00-F040-8863-3D4D86BE7514}" type="parTrans" cxnId="{05AD1EB4-C4AE-AC40-8998-DFF0AF6F002D}">
      <dgm:prSet/>
      <dgm:spPr/>
      <dgm:t>
        <a:bodyPr/>
        <a:lstStyle/>
        <a:p>
          <a:endParaRPr lang="en-US"/>
        </a:p>
      </dgm:t>
    </dgm:pt>
    <dgm:pt modelId="{0A3063AC-DC9E-6D4A-86B6-070192B2576B}" type="sibTrans" cxnId="{05AD1EB4-C4AE-AC40-8998-DFF0AF6F002D}">
      <dgm:prSet/>
      <dgm:spPr/>
      <dgm:t>
        <a:bodyPr/>
        <a:lstStyle/>
        <a:p>
          <a:endParaRPr lang="en-US"/>
        </a:p>
      </dgm:t>
    </dgm:pt>
    <dgm:pt modelId="{C595FDA5-0FF1-784E-B656-52642C161605}" type="pres">
      <dgm:prSet presAssocID="{493B0163-60F8-C24D-99D7-D67DB2B889E1}" presName="linear" presStyleCnt="0">
        <dgm:presLayoutVars>
          <dgm:dir/>
          <dgm:animLvl val="lvl"/>
          <dgm:resizeHandles val="exact"/>
        </dgm:presLayoutVars>
      </dgm:prSet>
      <dgm:spPr/>
    </dgm:pt>
    <dgm:pt modelId="{38C9D967-5FCF-5248-8A8F-C62F3B5DC93F}" type="pres">
      <dgm:prSet presAssocID="{4047E8DB-1022-6D4F-A8DA-02DF458AE878}" presName="parentLin" presStyleCnt="0"/>
      <dgm:spPr/>
    </dgm:pt>
    <dgm:pt modelId="{4248C515-79A7-8442-8E83-77F8FC153BD3}" type="pres">
      <dgm:prSet presAssocID="{4047E8DB-1022-6D4F-A8DA-02DF458AE878}" presName="parentLeftMargin" presStyleLbl="node1" presStyleIdx="0" presStyleCnt="6"/>
      <dgm:spPr/>
    </dgm:pt>
    <dgm:pt modelId="{CDEBC818-D1EC-A74E-A50E-4B4B6D7323F6}" type="pres">
      <dgm:prSet presAssocID="{4047E8DB-1022-6D4F-A8DA-02DF458AE878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5C4971F6-4ED1-7F49-B606-E0849530967B}" type="pres">
      <dgm:prSet presAssocID="{4047E8DB-1022-6D4F-A8DA-02DF458AE878}" presName="negativeSpace" presStyleCnt="0"/>
      <dgm:spPr/>
    </dgm:pt>
    <dgm:pt modelId="{DD616064-9FEA-1E41-9B3D-F046147A9B8A}" type="pres">
      <dgm:prSet presAssocID="{4047E8DB-1022-6D4F-A8DA-02DF458AE878}" presName="childText" presStyleLbl="conFgAcc1" presStyleIdx="0" presStyleCnt="6">
        <dgm:presLayoutVars>
          <dgm:bulletEnabled val="1"/>
        </dgm:presLayoutVars>
      </dgm:prSet>
      <dgm:spPr/>
    </dgm:pt>
    <dgm:pt modelId="{F2FFA71C-A9D2-C14D-AEE5-2D9CB54DCE50}" type="pres">
      <dgm:prSet presAssocID="{0A3063AC-DC9E-6D4A-86B6-070192B2576B}" presName="spaceBetweenRectangles" presStyleCnt="0"/>
      <dgm:spPr/>
    </dgm:pt>
    <dgm:pt modelId="{993E15EC-EF57-7B4D-BB69-AE279B94828F}" type="pres">
      <dgm:prSet presAssocID="{F51EB303-A78D-D042-82F4-A6D434129146}" presName="parentLin" presStyleCnt="0"/>
      <dgm:spPr/>
    </dgm:pt>
    <dgm:pt modelId="{1448AD71-6441-E34E-9015-92D6D2B13878}" type="pres">
      <dgm:prSet presAssocID="{F51EB303-A78D-D042-82F4-A6D434129146}" presName="parentLeftMargin" presStyleLbl="node1" presStyleIdx="0" presStyleCnt="6"/>
      <dgm:spPr/>
    </dgm:pt>
    <dgm:pt modelId="{CD3FBD46-0DA2-5641-A6F1-74D37ADF13AD}" type="pres">
      <dgm:prSet presAssocID="{F51EB303-A78D-D042-82F4-A6D434129146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7688C717-E75E-314C-B89C-8707791DDF75}" type="pres">
      <dgm:prSet presAssocID="{F51EB303-A78D-D042-82F4-A6D434129146}" presName="negativeSpace" presStyleCnt="0"/>
      <dgm:spPr/>
    </dgm:pt>
    <dgm:pt modelId="{97D1A5F6-CD55-E84B-A06C-AC806A87BF68}" type="pres">
      <dgm:prSet presAssocID="{F51EB303-A78D-D042-82F4-A6D434129146}" presName="childText" presStyleLbl="conFgAcc1" presStyleIdx="1" presStyleCnt="6">
        <dgm:presLayoutVars>
          <dgm:bulletEnabled val="1"/>
        </dgm:presLayoutVars>
      </dgm:prSet>
      <dgm:spPr/>
    </dgm:pt>
    <dgm:pt modelId="{C81274E8-0C39-9841-8B18-D8E75F8D3EF5}" type="pres">
      <dgm:prSet presAssocID="{B9F6BB09-366C-B545-9434-5FF9DB0E1E62}" presName="spaceBetweenRectangles" presStyleCnt="0"/>
      <dgm:spPr/>
    </dgm:pt>
    <dgm:pt modelId="{394165CB-C9E4-C949-99EC-75F33BAD40D3}" type="pres">
      <dgm:prSet presAssocID="{B1E12C18-B72B-E342-8CC0-F04D1F6E5F41}" presName="parentLin" presStyleCnt="0"/>
      <dgm:spPr/>
    </dgm:pt>
    <dgm:pt modelId="{8953FFF4-9129-3447-A5C7-DE910FE72800}" type="pres">
      <dgm:prSet presAssocID="{B1E12C18-B72B-E342-8CC0-F04D1F6E5F41}" presName="parentLeftMargin" presStyleLbl="node1" presStyleIdx="1" presStyleCnt="6"/>
      <dgm:spPr/>
    </dgm:pt>
    <dgm:pt modelId="{5192E3FF-2EF3-A54E-9F1E-1AF27CC2E670}" type="pres">
      <dgm:prSet presAssocID="{B1E12C18-B72B-E342-8CC0-F04D1F6E5F41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06E02043-CEE7-8648-85E9-273E121B487A}" type="pres">
      <dgm:prSet presAssocID="{B1E12C18-B72B-E342-8CC0-F04D1F6E5F41}" presName="negativeSpace" presStyleCnt="0"/>
      <dgm:spPr/>
    </dgm:pt>
    <dgm:pt modelId="{41035278-260A-F146-A148-AB4FD8DAE2C8}" type="pres">
      <dgm:prSet presAssocID="{B1E12C18-B72B-E342-8CC0-F04D1F6E5F41}" presName="childText" presStyleLbl="conFgAcc1" presStyleIdx="2" presStyleCnt="6">
        <dgm:presLayoutVars>
          <dgm:bulletEnabled val="1"/>
        </dgm:presLayoutVars>
      </dgm:prSet>
      <dgm:spPr/>
    </dgm:pt>
    <dgm:pt modelId="{DBFE00A0-DAB7-EC42-95BE-2D26B2D4D183}" type="pres">
      <dgm:prSet presAssocID="{EA7E39B3-A927-D049-8E88-588FF07BEAA0}" presName="spaceBetweenRectangles" presStyleCnt="0"/>
      <dgm:spPr/>
    </dgm:pt>
    <dgm:pt modelId="{9114D8D1-F912-1848-8C14-580DBD9B2E95}" type="pres">
      <dgm:prSet presAssocID="{A583A1E5-1E04-3342-941E-F61B4B622013}" presName="parentLin" presStyleCnt="0"/>
      <dgm:spPr/>
    </dgm:pt>
    <dgm:pt modelId="{36564169-D04E-5048-B61C-2E3E227533A7}" type="pres">
      <dgm:prSet presAssocID="{A583A1E5-1E04-3342-941E-F61B4B622013}" presName="parentLeftMargin" presStyleLbl="node1" presStyleIdx="2" presStyleCnt="6"/>
      <dgm:spPr/>
    </dgm:pt>
    <dgm:pt modelId="{CF50D905-E79D-2843-90D4-B5C78D0D0CF6}" type="pres">
      <dgm:prSet presAssocID="{A583A1E5-1E04-3342-941E-F61B4B622013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5A274AB3-B947-AB4A-BF31-842F2ED9BE60}" type="pres">
      <dgm:prSet presAssocID="{A583A1E5-1E04-3342-941E-F61B4B622013}" presName="negativeSpace" presStyleCnt="0"/>
      <dgm:spPr/>
    </dgm:pt>
    <dgm:pt modelId="{654247D6-4D08-6A4F-8285-2B85F3F4D08D}" type="pres">
      <dgm:prSet presAssocID="{A583A1E5-1E04-3342-941E-F61B4B622013}" presName="childText" presStyleLbl="conFgAcc1" presStyleIdx="3" presStyleCnt="6">
        <dgm:presLayoutVars>
          <dgm:bulletEnabled val="1"/>
        </dgm:presLayoutVars>
      </dgm:prSet>
      <dgm:spPr/>
    </dgm:pt>
    <dgm:pt modelId="{546D38AF-FD38-0F43-BF5F-9024F54AA958}" type="pres">
      <dgm:prSet presAssocID="{BB1B9057-378B-4A4C-9E20-F2BE8BC9F496}" presName="spaceBetweenRectangles" presStyleCnt="0"/>
      <dgm:spPr/>
    </dgm:pt>
    <dgm:pt modelId="{3624E071-E173-754A-B201-FEC2F11C2BC7}" type="pres">
      <dgm:prSet presAssocID="{95C8E0EA-7C18-924D-951F-13C53CF72328}" presName="parentLin" presStyleCnt="0"/>
      <dgm:spPr/>
    </dgm:pt>
    <dgm:pt modelId="{D7F6FA8E-1C51-9C46-AD74-B6B48471693D}" type="pres">
      <dgm:prSet presAssocID="{95C8E0EA-7C18-924D-951F-13C53CF72328}" presName="parentLeftMargin" presStyleLbl="node1" presStyleIdx="3" presStyleCnt="6"/>
      <dgm:spPr/>
    </dgm:pt>
    <dgm:pt modelId="{2FEEA471-3F41-7D4D-8502-3CEBD8B18E76}" type="pres">
      <dgm:prSet presAssocID="{95C8E0EA-7C18-924D-951F-13C53CF72328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7A83A631-B9E8-D242-A6A7-35B0C714570F}" type="pres">
      <dgm:prSet presAssocID="{95C8E0EA-7C18-924D-951F-13C53CF72328}" presName="negativeSpace" presStyleCnt="0"/>
      <dgm:spPr/>
    </dgm:pt>
    <dgm:pt modelId="{52B41192-C565-BB4B-B06B-C2B22AC50319}" type="pres">
      <dgm:prSet presAssocID="{95C8E0EA-7C18-924D-951F-13C53CF72328}" presName="childText" presStyleLbl="conFgAcc1" presStyleIdx="4" presStyleCnt="6">
        <dgm:presLayoutVars>
          <dgm:bulletEnabled val="1"/>
        </dgm:presLayoutVars>
      </dgm:prSet>
      <dgm:spPr/>
    </dgm:pt>
    <dgm:pt modelId="{722EE561-ECD5-894B-A0FA-EBB9A9D06C3C}" type="pres">
      <dgm:prSet presAssocID="{7940205A-ACE4-1A40-90D0-D2DD64D4CB7D}" presName="spaceBetweenRectangles" presStyleCnt="0"/>
      <dgm:spPr/>
    </dgm:pt>
    <dgm:pt modelId="{2E3E8F52-595F-D648-B9AB-5C39F5B72C7B}" type="pres">
      <dgm:prSet presAssocID="{00B3520A-E742-A844-B17A-FEEF4532D9E6}" presName="parentLin" presStyleCnt="0"/>
      <dgm:spPr/>
    </dgm:pt>
    <dgm:pt modelId="{B4267C7E-1FD5-564B-A2C8-7178EB359E46}" type="pres">
      <dgm:prSet presAssocID="{00B3520A-E742-A844-B17A-FEEF4532D9E6}" presName="parentLeftMargin" presStyleLbl="node1" presStyleIdx="4" presStyleCnt="6"/>
      <dgm:spPr/>
    </dgm:pt>
    <dgm:pt modelId="{6398E413-DC6E-AB41-8CF0-826C1F1C64A5}" type="pres">
      <dgm:prSet presAssocID="{00B3520A-E742-A844-B17A-FEEF4532D9E6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671A6829-69BE-0849-A502-179784A94770}" type="pres">
      <dgm:prSet presAssocID="{00B3520A-E742-A844-B17A-FEEF4532D9E6}" presName="negativeSpace" presStyleCnt="0"/>
      <dgm:spPr/>
    </dgm:pt>
    <dgm:pt modelId="{657F21EC-4008-1742-AA36-86F09A9D3103}" type="pres">
      <dgm:prSet presAssocID="{00B3520A-E742-A844-B17A-FEEF4532D9E6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F5CB2708-90CA-7044-BAF2-796E7F0837F8}" type="presOf" srcId="{00B3520A-E742-A844-B17A-FEEF4532D9E6}" destId="{B4267C7E-1FD5-564B-A2C8-7178EB359E46}" srcOrd="0" destOrd="0" presId="urn:microsoft.com/office/officeart/2005/8/layout/list1"/>
    <dgm:cxn modelId="{C98BD512-BEE2-A340-BDC9-DC6E581DEB96}" type="presOf" srcId="{B1E12C18-B72B-E342-8CC0-F04D1F6E5F41}" destId="{8953FFF4-9129-3447-A5C7-DE910FE72800}" srcOrd="0" destOrd="0" presId="urn:microsoft.com/office/officeart/2005/8/layout/list1"/>
    <dgm:cxn modelId="{C2902813-02A1-034A-9B32-72386D2E1571}" srcId="{493B0163-60F8-C24D-99D7-D67DB2B889E1}" destId="{F51EB303-A78D-D042-82F4-A6D434129146}" srcOrd="1" destOrd="0" parTransId="{F5FF1A83-EF2A-5544-9372-2E23423BF0FB}" sibTransId="{B9F6BB09-366C-B545-9434-5FF9DB0E1E62}"/>
    <dgm:cxn modelId="{1E53261C-2460-F044-A6A6-0E16D2CC5C65}" type="presOf" srcId="{4047E8DB-1022-6D4F-A8DA-02DF458AE878}" destId="{4248C515-79A7-8442-8E83-77F8FC153BD3}" srcOrd="0" destOrd="0" presId="urn:microsoft.com/office/officeart/2005/8/layout/list1"/>
    <dgm:cxn modelId="{0D6EF51E-9B13-9449-9A39-1304CCA87277}" type="presOf" srcId="{493B0163-60F8-C24D-99D7-D67DB2B889E1}" destId="{C595FDA5-0FF1-784E-B656-52642C161605}" srcOrd="0" destOrd="0" presId="urn:microsoft.com/office/officeart/2005/8/layout/list1"/>
    <dgm:cxn modelId="{632B484C-3A03-3642-9A5B-4BD354DC95EF}" srcId="{493B0163-60F8-C24D-99D7-D67DB2B889E1}" destId="{95C8E0EA-7C18-924D-951F-13C53CF72328}" srcOrd="4" destOrd="0" parTransId="{F640CA77-D3CA-4641-94F6-9E5E3F7AA695}" sibTransId="{7940205A-ACE4-1A40-90D0-D2DD64D4CB7D}"/>
    <dgm:cxn modelId="{3BB7EB52-D964-6C4C-9014-CFDBC5EB298D}" type="presOf" srcId="{00B3520A-E742-A844-B17A-FEEF4532D9E6}" destId="{6398E413-DC6E-AB41-8CF0-826C1F1C64A5}" srcOrd="1" destOrd="0" presId="urn:microsoft.com/office/officeart/2005/8/layout/list1"/>
    <dgm:cxn modelId="{97B6EF58-2726-C04E-9E83-678215D69DDE}" type="presOf" srcId="{B1E12C18-B72B-E342-8CC0-F04D1F6E5F41}" destId="{5192E3FF-2EF3-A54E-9F1E-1AF27CC2E670}" srcOrd="1" destOrd="0" presId="urn:microsoft.com/office/officeart/2005/8/layout/list1"/>
    <dgm:cxn modelId="{26641273-B11A-784C-9665-9528CB7235C2}" type="presOf" srcId="{F51EB303-A78D-D042-82F4-A6D434129146}" destId="{CD3FBD46-0DA2-5641-A6F1-74D37ADF13AD}" srcOrd="1" destOrd="0" presId="urn:microsoft.com/office/officeart/2005/8/layout/list1"/>
    <dgm:cxn modelId="{27D5C67A-18BF-1048-ADF3-43E59B98481C}" type="presOf" srcId="{95C8E0EA-7C18-924D-951F-13C53CF72328}" destId="{D7F6FA8E-1C51-9C46-AD74-B6B48471693D}" srcOrd="0" destOrd="0" presId="urn:microsoft.com/office/officeart/2005/8/layout/list1"/>
    <dgm:cxn modelId="{5E38957D-C50F-9F4A-8C83-3AE69B9A4CF3}" srcId="{493B0163-60F8-C24D-99D7-D67DB2B889E1}" destId="{00B3520A-E742-A844-B17A-FEEF4532D9E6}" srcOrd="5" destOrd="0" parTransId="{F8FA3BBA-482D-A64F-A7CB-54FDF3DADF59}" sibTransId="{7D6C29AD-D294-EA42-967B-1FA4CDFD9047}"/>
    <dgm:cxn modelId="{54735382-25ED-644A-BD91-FC30E486A073}" type="presOf" srcId="{A583A1E5-1E04-3342-941E-F61B4B622013}" destId="{36564169-D04E-5048-B61C-2E3E227533A7}" srcOrd="0" destOrd="0" presId="urn:microsoft.com/office/officeart/2005/8/layout/list1"/>
    <dgm:cxn modelId="{05AD1EB4-C4AE-AC40-8998-DFF0AF6F002D}" srcId="{493B0163-60F8-C24D-99D7-D67DB2B889E1}" destId="{4047E8DB-1022-6D4F-A8DA-02DF458AE878}" srcOrd="0" destOrd="0" parTransId="{BD2755CB-3A00-F040-8863-3D4D86BE7514}" sibTransId="{0A3063AC-DC9E-6D4A-86B6-070192B2576B}"/>
    <dgm:cxn modelId="{4B450FC2-43E7-C546-A2A4-E7B7E2A1E17B}" srcId="{493B0163-60F8-C24D-99D7-D67DB2B889E1}" destId="{B1E12C18-B72B-E342-8CC0-F04D1F6E5F41}" srcOrd="2" destOrd="0" parTransId="{E5E5A626-1A5E-0547-9C0C-231AAC630D60}" sibTransId="{EA7E39B3-A927-D049-8E88-588FF07BEAA0}"/>
    <dgm:cxn modelId="{913571C2-1129-2344-9ACE-B2ACFD3058D0}" type="presOf" srcId="{4047E8DB-1022-6D4F-A8DA-02DF458AE878}" destId="{CDEBC818-D1EC-A74E-A50E-4B4B6D7323F6}" srcOrd="1" destOrd="0" presId="urn:microsoft.com/office/officeart/2005/8/layout/list1"/>
    <dgm:cxn modelId="{E9E138CA-D941-5E42-BF80-234E3874FCAE}" type="presOf" srcId="{F51EB303-A78D-D042-82F4-A6D434129146}" destId="{1448AD71-6441-E34E-9015-92D6D2B13878}" srcOrd="0" destOrd="0" presId="urn:microsoft.com/office/officeart/2005/8/layout/list1"/>
    <dgm:cxn modelId="{2C5F44DC-0E8F-C842-904D-8D01D26A419A}" type="presOf" srcId="{A583A1E5-1E04-3342-941E-F61B4B622013}" destId="{CF50D905-E79D-2843-90D4-B5C78D0D0CF6}" srcOrd="1" destOrd="0" presId="urn:microsoft.com/office/officeart/2005/8/layout/list1"/>
    <dgm:cxn modelId="{EB1B6EE4-2D22-6449-B8D2-0DEE18D3EDD1}" type="presOf" srcId="{95C8E0EA-7C18-924D-951F-13C53CF72328}" destId="{2FEEA471-3F41-7D4D-8502-3CEBD8B18E76}" srcOrd="1" destOrd="0" presId="urn:microsoft.com/office/officeart/2005/8/layout/list1"/>
    <dgm:cxn modelId="{1E809AFB-D89B-A243-8E37-E2B4D0A36880}" srcId="{493B0163-60F8-C24D-99D7-D67DB2B889E1}" destId="{A583A1E5-1E04-3342-941E-F61B4B622013}" srcOrd="3" destOrd="0" parTransId="{F9DC1F07-420A-924A-98A3-5658BCCA7FA9}" sibTransId="{BB1B9057-378B-4A4C-9E20-F2BE8BC9F496}"/>
    <dgm:cxn modelId="{96061DC9-4E91-E443-A167-1C48B10A9CAA}" type="presParOf" srcId="{C595FDA5-0FF1-784E-B656-52642C161605}" destId="{38C9D967-5FCF-5248-8A8F-C62F3B5DC93F}" srcOrd="0" destOrd="0" presId="urn:microsoft.com/office/officeart/2005/8/layout/list1"/>
    <dgm:cxn modelId="{03D8DC16-BAC9-9346-A997-17BC55CE2F16}" type="presParOf" srcId="{38C9D967-5FCF-5248-8A8F-C62F3B5DC93F}" destId="{4248C515-79A7-8442-8E83-77F8FC153BD3}" srcOrd="0" destOrd="0" presId="urn:microsoft.com/office/officeart/2005/8/layout/list1"/>
    <dgm:cxn modelId="{A10ECC7B-9782-1D41-8076-246F512B038F}" type="presParOf" srcId="{38C9D967-5FCF-5248-8A8F-C62F3B5DC93F}" destId="{CDEBC818-D1EC-A74E-A50E-4B4B6D7323F6}" srcOrd="1" destOrd="0" presId="urn:microsoft.com/office/officeart/2005/8/layout/list1"/>
    <dgm:cxn modelId="{0B794922-B376-A742-B606-08BABCA56383}" type="presParOf" srcId="{C595FDA5-0FF1-784E-B656-52642C161605}" destId="{5C4971F6-4ED1-7F49-B606-E0849530967B}" srcOrd="1" destOrd="0" presId="urn:microsoft.com/office/officeart/2005/8/layout/list1"/>
    <dgm:cxn modelId="{804D181A-7DEB-4B4B-A084-2EDFF31C739C}" type="presParOf" srcId="{C595FDA5-0FF1-784E-B656-52642C161605}" destId="{DD616064-9FEA-1E41-9B3D-F046147A9B8A}" srcOrd="2" destOrd="0" presId="urn:microsoft.com/office/officeart/2005/8/layout/list1"/>
    <dgm:cxn modelId="{EAE6CE66-E10D-F643-9AF6-E64E4C3B67AA}" type="presParOf" srcId="{C595FDA5-0FF1-784E-B656-52642C161605}" destId="{F2FFA71C-A9D2-C14D-AEE5-2D9CB54DCE50}" srcOrd="3" destOrd="0" presId="urn:microsoft.com/office/officeart/2005/8/layout/list1"/>
    <dgm:cxn modelId="{561BC8E1-AED8-424F-8E82-3DA678BFD3D4}" type="presParOf" srcId="{C595FDA5-0FF1-784E-B656-52642C161605}" destId="{993E15EC-EF57-7B4D-BB69-AE279B94828F}" srcOrd="4" destOrd="0" presId="urn:microsoft.com/office/officeart/2005/8/layout/list1"/>
    <dgm:cxn modelId="{196264FC-EFF5-BA47-9684-64D85E2D5594}" type="presParOf" srcId="{993E15EC-EF57-7B4D-BB69-AE279B94828F}" destId="{1448AD71-6441-E34E-9015-92D6D2B13878}" srcOrd="0" destOrd="0" presId="urn:microsoft.com/office/officeart/2005/8/layout/list1"/>
    <dgm:cxn modelId="{8375961E-2DF4-0F4D-849B-FF8ED9F2F918}" type="presParOf" srcId="{993E15EC-EF57-7B4D-BB69-AE279B94828F}" destId="{CD3FBD46-0DA2-5641-A6F1-74D37ADF13AD}" srcOrd="1" destOrd="0" presId="urn:microsoft.com/office/officeart/2005/8/layout/list1"/>
    <dgm:cxn modelId="{2073A685-CFA9-DF42-ADED-87F8AE2B872B}" type="presParOf" srcId="{C595FDA5-0FF1-784E-B656-52642C161605}" destId="{7688C717-E75E-314C-B89C-8707791DDF75}" srcOrd="5" destOrd="0" presId="urn:microsoft.com/office/officeart/2005/8/layout/list1"/>
    <dgm:cxn modelId="{731ACFCD-D46B-474A-B1C9-BDEE8CE8F47E}" type="presParOf" srcId="{C595FDA5-0FF1-784E-B656-52642C161605}" destId="{97D1A5F6-CD55-E84B-A06C-AC806A87BF68}" srcOrd="6" destOrd="0" presId="urn:microsoft.com/office/officeart/2005/8/layout/list1"/>
    <dgm:cxn modelId="{08810ED6-D380-364E-956D-9556F9A1364F}" type="presParOf" srcId="{C595FDA5-0FF1-784E-B656-52642C161605}" destId="{C81274E8-0C39-9841-8B18-D8E75F8D3EF5}" srcOrd="7" destOrd="0" presId="urn:microsoft.com/office/officeart/2005/8/layout/list1"/>
    <dgm:cxn modelId="{AD98F763-2866-2046-8053-8FE02319DE03}" type="presParOf" srcId="{C595FDA5-0FF1-784E-B656-52642C161605}" destId="{394165CB-C9E4-C949-99EC-75F33BAD40D3}" srcOrd="8" destOrd="0" presId="urn:microsoft.com/office/officeart/2005/8/layout/list1"/>
    <dgm:cxn modelId="{98EA372D-6D39-5341-A5C3-37149F9ACB30}" type="presParOf" srcId="{394165CB-C9E4-C949-99EC-75F33BAD40D3}" destId="{8953FFF4-9129-3447-A5C7-DE910FE72800}" srcOrd="0" destOrd="0" presId="urn:microsoft.com/office/officeart/2005/8/layout/list1"/>
    <dgm:cxn modelId="{97616090-9E51-BA43-8126-6DE369EF99B7}" type="presParOf" srcId="{394165CB-C9E4-C949-99EC-75F33BAD40D3}" destId="{5192E3FF-2EF3-A54E-9F1E-1AF27CC2E670}" srcOrd="1" destOrd="0" presId="urn:microsoft.com/office/officeart/2005/8/layout/list1"/>
    <dgm:cxn modelId="{68400CC4-D052-0246-94AC-24B19C398D2D}" type="presParOf" srcId="{C595FDA5-0FF1-784E-B656-52642C161605}" destId="{06E02043-CEE7-8648-85E9-273E121B487A}" srcOrd="9" destOrd="0" presId="urn:microsoft.com/office/officeart/2005/8/layout/list1"/>
    <dgm:cxn modelId="{4A88FAC2-7FBF-8C43-983B-62DC9306B0C9}" type="presParOf" srcId="{C595FDA5-0FF1-784E-B656-52642C161605}" destId="{41035278-260A-F146-A148-AB4FD8DAE2C8}" srcOrd="10" destOrd="0" presId="urn:microsoft.com/office/officeart/2005/8/layout/list1"/>
    <dgm:cxn modelId="{E50AD987-595D-E648-B897-DD84579FADF6}" type="presParOf" srcId="{C595FDA5-0FF1-784E-B656-52642C161605}" destId="{DBFE00A0-DAB7-EC42-95BE-2D26B2D4D183}" srcOrd="11" destOrd="0" presId="urn:microsoft.com/office/officeart/2005/8/layout/list1"/>
    <dgm:cxn modelId="{23D471A7-C23B-4A45-88B5-3BBFB0FA4302}" type="presParOf" srcId="{C595FDA5-0FF1-784E-B656-52642C161605}" destId="{9114D8D1-F912-1848-8C14-580DBD9B2E95}" srcOrd="12" destOrd="0" presId="urn:microsoft.com/office/officeart/2005/8/layout/list1"/>
    <dgm:cxn modelId="{01E3F280-9538-8047-8591-32651CA73AD6}" type="presParOf" srcId="{9114D8D1-F912-1848-8C14-580DBD9B2E95}" destId="{36564169-D04E-5048-B61C-2E3E227533A7}" srcOrd="0" destOrd="0" presId="urn:microsoft.com/office/officeart/2005/8/layout/list1"/>
    <dgm:cxn modelId="{0DF31E98-6BB0-0944-92EE-B27AD167ADF1}" type="presParOf" srcId="{9114D8D1-F912-1848-8C14-580DBD9B2E95}" destId="{CF50D905-E79D-2843-90D4-B5C78D0D0CF6}" srcOrd="1" destOrd="0" presId="urn:microsoft.com/office/officeart/2005/8/layout/list1"/>
    <dgm:cxn modelId="{398E51C2-5AFB-4944-A561-69FA1732AA36}" type="presParOf" srcId="{C595FDA5-0FF1-784E-B656-52642C161605}" destId="{5A274AB3-B947-AB4A-BF31-842F2ED9BE60}" srcOrd="13" destOrd="0" presId="urn:microsoft.com/office/officeart/2005/8/layout/list1"/>
    <dgm:cxn modelId="{A6B697FC-4EA0-2344-AC1A-73D715B0EB23}" type="presParOf" srcId="{C595FDA5-0FF1-784E-B656-52642C161605}" destId="{654247D6-4D08-6A4F-8285-2B85F3F4D08D}" srcOrd="14" destOrd="0" presId="urn:microsoft.com/office/officeart/2005/8/layout/list1"/>
    <dgm:cxn modelId="{AE8D5502-C469-754D-8B4F-F335C9CAB52F}" type="presParOf" srcId="{C595FDA5-0FF1-784E-B656-52642C161605}" destId="{546D38AF-FD38-0F43-BF5F-9024F54AA958}" srcOrd="15" destOrd="0" presId="urn:microsoft.com/office/officeart/2005/8/layout/list1"/>
    <dgm:cxn modelId="{8F970005-35B8-1143-AD79-24F8FC3A708B}" type="presParOf" srcId="{C595FDA5-0FF1-784E-B656-52642C161605}" destId="{3624E071-E173-754A-B201-FEC2F11C2BC7}" srcOrd="16" destOrd="0" presId="urn:microsoft.com/office/officeart/2005/8/layout/list1"/>
    <dgm:cxn modelId="{C34C87BC-7CF2-B44C-80B4-CA52AB9B2D95}" type="presParOf" srcId="{3624E071-E173-754A-B201-FEC2F11C2BC7}" destId="{D7F6FA8E-1C51-9C46-AD74-B6B48471693D}" srcOrd="0" destOrd="0" presId="urn:microsoft.com/office/officeart/2005/8/layout/list1"/>
    <dgm:cxn modelId="{CABEF099-2524-004F-A4F6-82DEFD1B4CD0}" type="presParOf" srcId="{3624E071-E173-754A-B201-FEC2F11C2BC7}" destId="{2FEEA471-3F41-7D4D-8502-3CEBD8B18E76}" srcOrd="1" destOrd="0" presId="urn:microsoft.com/office/officeart/2005/8/layout/list1"/>
    <dgm:cxn modelId="{86B82FE3-FE4D-9D4C-8DE7-BC15456C5122}" type="presParOf" srcId="{C595FDA5-0FF1-784E-B656-52642C161605}" destId="{7A83A631-B9E8-D242-A6A7-35B0C714570F}" srcOrd="17" destOrd="0" presId="urn:microsoft.com/office/officeart/2005/8/layout/list1"/>
    <dgm:cxn modelId="{2526D2AC-FDDB-CD45-8C47-2F0C03FACFB7}" type="presParOf" srcId="{C595FDA5-0FF1-784E-B656-52642C161605}" destId="{52B41192-C565-BB4B-B06B-C2B22AC50319}" srcOrd="18" destOrd="0" presId="urn:microsoft.com/office/officeart/2005/8/layout/list1"/>
    <dgm:cxn modelId="{8C0CD268-0B91-CB40-B231-D21B63400855}" type="presParOf" srcId="{C595FDA5-0FF1-784E-B656-52642C161605}" destId="{722EE561-ECD5-894B-A0FA-EBB9A9D06C3C}" srcOrd="19" destOrd="0" presId="urn:microsoft.com/office/officeart/2005/8/layout/list1"/>
    <dgm:cxn modelId="{2BAF0CCE-D034-8147-83CC-ECAAAA0090BB}" type="presParOf" srcId="{C595FDA5-0FF1-784E-B656-52642C161605}" destId="{2E3E8F52-595F-D648-B9AB-5C39F5B72C7B}" srcOrd="20" destOrd="0" presId="urn:microsoft.com/office/officeart/2005/8/layout/list1"/>
    <dgm:cxn modelId="{513057C8-1B70-494E-B43C-48A8FDBDCE2D}" type="presParOf" srcId="{2E3E8F52-595F-D648-B9AB-5C39F5B72C7B}" destId="{B4267C7E-1FD5-564B-A2C8-7178EB359E46}" srcOrd="0" destOrd="0" presId="urn:microsoft.com/office/officeart/2005/8/layout/list1"/>
    <dgm:cxn modelId="{AAFBF5A9-9B42-484C-9E45-4EC49A16FA98}" type="presParOf" srcId="{2E3E8F52-595F-D648-B9AB-5C39F5B72C7B}" destId="{6398E413-DC6E-AB41-8CF0-826C1F1C64A5}" srcOrd="1" destOrd="0" presId="urn:microsoft.com/office/officeart/2005/8/layout/list1"/>
    <dgm:cxn modelId="{C9662B38-8327-C444-BBF9-9B6AA38A73A9}" type="presParOf" srcId="{C595FDA5-0FF1-784E-B656-52642C161605}" destId="{671A6829-69BE-0849-A502-179784A94770}" srcOrd="21" destOrd="0" presId="urn:microsoft.com/office/officeart/2005/8/layout/list1"/>
    <dgm:cxn modelId="{C07FBDA4-C8AD-A147-AB17-F6D31EA6B778}" type="presParOf" srcId="{C595FDA5-0FF1-784E-B656-52642C161605}" destId="{657F21EC-4008-1742-AA36-86F09A9D3103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A22B381-6B11-884D-949B-38D723E85589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AB76A87-573D-3E47-81AC-9CF06F8F8A68}">
      <dgm:prSet/>
      <dgm:spPr/>
      <dgm:t>
        <a:bodyPr/>
        <a:lstStyle/>
        <a:p>
          <a:r>
            <a:rPr lang="en-US" dirty="0"/>
            <a:t>Data Efficiency: </a:t>
          </a:r>
        </a:p>
        <a:p>
          <a:r>
            <a:rPr lang="en-US" dirty="0"/>
            <a:t>Learn More from Less</a:t>
          </a:r>
          <a:endParaRPr lang="en-SA" dirty="0"/>
        </a:p>
      </dgm:t>
    </dgm:pt>
    <dgm:pt modelId="{5B7DD6CB-75CE-3547-84DE-1DCEA6027965}" type="parTrans" cxnId="{475209F2-EFC7-4546-AE07-AB21DB1E5C68}">
      <dgm:prSet/>
      <dgm:spPr/>
      <dgm:t>
        <a:bodyPr/>
        <a:lstStyle/>
        <a:p>
          <a:endParaRPr lang="en-US"/>
        </a:p>
      </dgm:t>
    </dgm:pt>
    <dgm:pt modelId="{775BB0C1-25C0-0C42-9F2F-092AA29EF0A1}" type="sibTrans" cxnId="{475209F2-EFC7-4546-AE07-AB21DB1E5C68}">
      <dgm:prSet/>
      <dgm:spPr/>
      <dgm:t>
        <a:bodyPr/>
        <a:lstStyle/>
        <a:p>
          <a:endParaRPr lang="en-US"/>
        </a:p>
      </dgm:t>
    </dgm:pt>
    <dgm:pt modelId="{43C2A814-E8E6-7040-A23A-887422533767}">
      <dgm:prSet/>
      <dgm:spPr/>
      <dgm:t>
        <a:bodyPr/>
        <a:lstStyle/>
        <a:p>
          <a:r>
            <a:rPr lang="en-US"/>
            <a:t>Requires only a small labeled dataset to specialize for a new biological task.</a:t>
          </a:r>
          <a:endParaRPr lang="en-SA"/>
        </a:p>
      </dgm:t>
    </dgm:pt>
    <dgm:pt modelId="{5AFC773B-82B4-054D-8ED4-A845A28C3A39}" type="parTrans" cxnId="{86B6F67D-CE40-EA44-93F5-A0DB7DA2A650}">
      <dgm:prSet/>
      <dgm:spPr/>
      <dgm:t>
        <a:bodyPr/>
        <a:lstStyle/>
        <a:p>
          <a:endParaRPr lang="en-US"/>
        </a:p>
      </dgm:t>
    </dgm:pt>
    <dgm:pt modelId="{85E7F35F-BBCD-DB40-BA71-FA9588F7BDAD}" type="sibTrans" cxnId="{86B6F67D-CE40-EA44-93F5-A0DB7DA2A650}">
      <dgm:prSet/>
      <dgm:spPr/>
      <dgm:t>
        <a:bodyPr/>
        <a:lstStyle/>
        <a:p>
          <a:endParaRPr lang="en-US"/>
        </a:p>
      </dgm:t>
    </dgm:pt>
    <dgm:pt modelId="{24878C76-0F6F-754F-950E-0EA349B1D0EB}">
      <dgm:prSet/>
      <dgm:spPr/>
      <dgm:t>
        <a:bodyPr/>
        <a:lstStyle/>
        <a:p>
          <a:r>
            <a:rPr lang="en-US" dirty="0"/>
            <a:t>Compute &amp; Time Efficiency: Faster by Design</a:t>
          </a:r>
          <a:endParaRPr lang="en-SA" dirty="0"/>
        </a:p>
      </dgm:t>
    </dgm:pt>
    <dgm:pt modelId="{7E73EF39-2030-264F-B6F2-2975058F06EC}" type="parTrans" cxnId="{B333BE7A-C3C2-754A-9943-0BF2BD8E3AE8}">
      <dgm:prSet/>
      <dgm:spPr/>
      <dgm:t>
        <a:bodyPr/>
        <a:lstStyle/>
        <a:p>
          <a:endParaRPr lang="en-US"/>
        </a:p>
      </dgm:t>
    </dgm:pt>
    <dgm:pt modelId="{07665B96-244A-2B4E-8127-7D574A5450C9}" type="sibTrans" cxnId="{B333BE7A-C3C2-754A-9943-0BF2BD8E3AE8}">
      <dgm:prSet/>
      <dgm:spPr/>
      <dgm:t>
        <a:bodyPr/>
        <a:lstStyle/>
        <a:p>
          <a:endParaRPr lang="en-US"/>
        </a:p>
      </dgm:t>
    </dgm:pt>
    <dgm:pt modelId="{5FAC007A-2507-D54A-A7AF-D0507A5A9BAA}">
      <dgm:prSet/>
      <dgm:spPr/>
      <dgm:t>
        <a:bodyPr/>
        <a:lstStyle/>
        <a:p>
          <a:r>
            <a:rPr lang="en-US"/>
            <a:t>Enables rapid iteration and experimentation across many tasks.</a:t>
          </a:r>
          <a:endParaRPr lang="en-SA"/>
        </a:p>
      </dgm:t>
    </dgm:pt>
    <dgm:pt modelId="{1F22DF5D-1CB5-8245-B809-B9FC53A3E51D}" type="parTrans" cxnId="{E5938724-5AEB-2E4E-9413-820C15B960BF}">
      <dgm:prSet/>
      <dgm:spPr/>
      <dgm:t>
        <a:bodyPr/>
        <a:lstStyle/>
        <a:p>
          <a:endParaRPr lang="en-US"/>
        </a:p>
      </dgm:t>
    </dgm:pt>
    <dgm:pt modelId="{0094B71A-C9EB-FB4C-812A-A341651E8118}" type="sibTrans" cxnId="{E5938724-5AEB-2E4E-9413-820C15B960BF}">
      <dgm:prSet/>
      <dgm:spPr/>
      <dgm:t>
        <a:bodyPr/>
        <a:lstStyle/>
        <a:p>
          <a:endParaRPr lang="en-US"/>
        </a:p>
      </dgm:t>
    </dgm:pt>
    <dgm:pt modelId="{5DE3460D-93FB-3544-86A0-460879A4085B}">
      <dgm:prSet/>
      <dgm:spPr/>
      <dgm:t>
        <a:bodyPr/>
        <a:lstStyle/>
        <a:p>
          <a:r>
            <a:rPr lang="en-US"/>
            <a:t>Performance Boost: Smarter Starting Point</a:t>
          </a:r>
          <a:endParaRPr lang="en-SA"/>
        </a:p>
      </dgm:t>
    </dgm:pt>
    <dgm:pt modelId="{3AD45974-C7E9-3948-A346-4C980E229DC6}" type="parTrans" cxnId="{0B11946D-173E-DC45-8CB8-AE1D4F686E9A}">
      <dgm:prSet/>
      <dgm:spPr/>
      <dgm:t>
        <a:bodyPr/>
        <a:lstStyle/>
        <a:p>
          <a:endParaRPr lang="en-US"/>
        </a:p>
      </dgm:t>
    </dgm:pt>
    <dgm:pt modelId="{0AB3DE4C-8950-4149-A0B2-1825AD760E47}" type="sibTrans" cxnId="{0B11946D-173E-DC45-8CB8-AE1D4F686E9A}">
      <dgm:prSet/>
      <dgm:spPr/>
      <dgm:t>
        <a:bodyPr/>
        <a:lstStyle/>
        <a:p>
          <a:endParaRPr lang="en-US"/>
        </a:p>
      </dgm:t>
    </dgm:pt>
    <dgm:pt modelId="{9CF72BE9-0484-3141-A4FE-9463BB3FC9A1}">
      <dgm:prSet/>
      <dgm:spPr/>
      <dgm:t>
        <a:bodyPr/>
        <a:lstStyle/>
        <a:p>
          <a:r>
            <a:rPr lang="en-US"/>
            <a:t>Achieves strong accuracy and generalization with minimal additional training.</a:t>
          </a:r>
          <a:endParaRPr lang="en-SA"/>
        </a:p>
      </dgm:t>
    </dgm:pt>
    <dgm:pt modelId="{788F6DF4-6B62-D74E-9D0A-BA70B5CE1288}" type="parTrans" cxnId="{56B954CA-B6A0-7E49-B0E3-63A42EE85108}">
      <dgm:prSet/>
      <dgm:spPr/>
      <dgm:t>
        <a:bodyPr/>
        <a:lstStyle/>
        <a:p>
          <a:endParaRPr lang="en-US"/>
        </a:p>
      </dgm:t>
    </dgm:pt>
    <dgm:pt modelId="{5E9185FF-95F2-0647-8B45-7FBC86BF5E39}" type="sibTrans" cxnId="{56B954CA-B6A0-7E49-B0E3-63A42EE85108}">
      <dgm:prSet/>
      <dgm:spPr/>
      <dgm:t>
        <a:bodyPr/>
        <a:lstStyle/>
        <a:p>
          <a:endParaRPr lang="en-US"/>
        </a:p>
      </dgm:t>
    </dgm:pt>
    <dgm:pt modelId="{4CA2CAE5-D35A-BC45-A980-35AD0A6523F1}">
      <dgm:prSet/>
      <dgm:spPr/>
      <dgm:t>
        <a:bodyPr/>
        <a:lstStyle/>
        <a:p>
          <a:r>
            <a:rPr lang="en-US"/>
            <a:t>Sustainability &amp; Reusability: Train Once, Use Many Times</a:t>
          </a:r>
          <a:endParaRPr lang="en-SA"/>
        </a:p>
      </dgm:t>
    </dgm:pt>
    <dgm:pt modelId="{221AB242-2CE4-9343-9EFD-C79DB3F25B54}" type="parTrans" cxnId="{72C82C22-FFCD-4544-9484-D007484B7638}">
      <dgm:prSet/>
      <dgm:spPr/>
      <dgm:t>
        <a:bodyPr/>
        <a:lstStyle/>
        <a:p>
          <a:endParaRPr lang="en-US"/>
        </a:p>
      </dgm:t>
    </dgm:pt>
    <dgm:pt modelId="{AAD0E436-50FF-A042-90E1-E063B728A77D}" type="sibTrans" cxnId="{72C82C22-FFCD-4544-9484-D007484B7638}">
      <dgm:prSet/>
      <dgm:spPr/>
      <dgm:t>
        <a:bodyPr/>
        <a:lstStyle/>
        <a:p>
          <a:endParaRPr lang="en-US"/>
        </a:p>
      </dgm:t>
    </dgm:pt>
    <dgm:pt modelId="{C569F5BE-E715-5B44-825F-35BBE41686E2}">
      <dgm:prSet/>
      <dgm:spPr/>
      <dgm:t>
        <a:bodyPr/>
        <a:lstStyle/>
        <a:p>
          <a:r>
            <a:rPr lang="en-US"/>
            <a:t>Reuses existing foundation models instead of retraining from scratch.</a:t>
          </a:r>
          <a:endParaRPr lang="en-SA"/>
        </a:p>
      </dgm:t>
    </dgm:pt>
    <dgm:pt modelId="{4304F836-0AEA-B047-9F92-3A91551D7443}" type="parTrans" cxnId="{9EE5B24F-4848-5542-8383-6CD6138B65C8}">
      <dgm:prSet/>
      <dgm:spPr/>
      <dgm:t>
        <a:bodyPr/>
        <a:lstStyle/>
        <a:p>
          <a:endParaRPr lang="en-US"/>
        </a:p>
      </dgm:t>
    </dgm:pt>
    <dgm:pt modelId="{E25FB7CF-D49D-DC40-B71B-29E1D2CF1983}" type="sibTrans" cxnId="{9EE5B24F-4848-5542-8383-6CD6138B65C8}">
      <dgm:prSet/>
      <dgm:spPr/>
      <dgm:t>
        <a:bodyPr/>
        <a:lstStyle/>
        <a:p>
          <a:endParaRPr lang="en-US"/>
        </a:p>
      </dgm:t>
    </dgm:pt>
    <dgm:pt modelId="{A28C345C-BC62-E04C-800A-877F0E4DFC0F}" type="pres">
      <dgm:prSet presAssocID="{3A22B381-6B11-884D-949B-38D723E85589}" presName="Name0" presStyleCnt="0">
        <dgm:presLayoutVars>
          <dgm:dir/>
          <dgm:animLvl val="lvl"/>
          <dgm:resizeHandles val="exact"/>
        </dgm:presLayoutVars>
      </dgm:prSet>
      <dgm:spPr/>
    </dgm:pt>
    <dgm:pt modelId="{13165C58-91D5-AB4A-A18B-117CEF8D4F0C}" type="pres">
      <dgm:prSet presAssocID="{FAB76A87-573D-3E47-81AC-9CF06F8F8A68}" presName="linNode" presStyleCnt="0"/>
      <dgm:spPr/>
    </dgm:pt>
    <dgm:pt modelId="{BC482A41-2B84-424F-B80A-AFED0A1EF6B8}" type="pres">
      <dgm:prSet presAssocID="{FAB76A87-573D-3E47-81AC-9CF06F8F8A68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727C0D2D-D047-5D45-8961-21471AEBEFF3}" type="pres">
      <dgm:prSet presAssocID="{FAB76A87-573D-3E47-81AC-9CF06F8F8A68}" presName="descendantText" presStyleLbl="alignAccFollowNode1" presStyleIdx="0" presStyleCnt="4">
        <dgm:presLayoutVars>
          <dgm:bulletEnabled val="1"/>
        </dgm:presLayoutVars>
      </dgm:prSet>
      <dgm:spPr/>
    </dgm:pt>
    <dgm:pt modelId="{99C3D1EC-5BAB-A142-A0F5-0B63FA5718F4}" type="pres">
      <dgm:prSet presAssocID="{775BB0C1-25C0-0C42-9F2F-092AA29EF0A1}" presName="sp" presStyleCnt="0"/>
      <dgm:spPr/>
    </dgm:pt>
    <dgm:pt modelId="{FE2B7D47-0444-AE41-8340-5A5BAD157B41}" type="pres">
      <dgm:prSet presAssocID="{24878C76-0F6F-754F-950E-0EA349B1D0EB}" presName="linNode" presStyleCnt="0"/>
      <dgm:spPr/>
    </dgm:pt>
    <dgm:pt modelId="{1EBEBA5E-CEF2-4B46-A042-FB070AE32FCE}" type="pres">
      <dgm:prSet presAssocID="{24878C76-0F6F-754F-950E-0EA349B1D0EB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990E0F6F-3507-1B4D-AA70-BC3FF52C81CD}" type="pres">
      <dgm:prSet presAssocID="{24878C76-0F6F-754F-950E-0EA349B1D0EB}" presName="descendantText" presStyleLbl="alignAccFollowNode1" presStyleIdx="1" presStyleCnt="4">
        <dgm:presLayoutVars>
          <dgm:bulletEnabled val="1"/>
        </dgm:presLayoutVars>
      </dgm:prSet>
      <dgm:spPr/>
    </dgm:pt>
    <dgm:pt modelId="{D1EA2622-CCD7-8E49-913A-CD271B8CD5CB}" type="pres">
      <dgm:prSet presAssocID="{07665B96-244A-2B4E-8127-7D574A5450C9}" presName="sp" presStyleCnt="0"/>
      <dgm:spPr/>
    </dgm:pt>
    <dgm:pt modelId="{69AF4E0E-7C3C-6348-A841-C46671EA5C64}" type="pres">
      <dgm:prSet presAssocID="{5DE3460D-93FB-3544-86A0-460879A4085B}" presName="linNode" presStyleCnt="0"/>
      <dgm:spPr/>
    </dgm:pt>
    <dgm:pt modelId="{1882894D-F6F9-AD46-8087-2653D8D1FF3E}" type="pres">
      <dgm:prSet presAssocID="{5DE3460D-93FB-3544-86A0-460879A4085B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61E24A01-37F7-904B-8296-47F0AA6B7EAE}" type="pres">
      <dgm:prSet presAssocID="{5DE3460D-93FB-3544-86A0-460879A4085B}" presName="descendantText" presStyleLbl="alignAccFollowNode1" presStyleIdx="2" presStyleCnt="4">
        <dgm:presLayoutVars>
          <dgm:bulletEnabled val="1"/>
        </dgm:presLayoutVars>
      </dgm:prSet>
      <dgm:spPr/>
    </dgm:pt>
    <dgm:pt modelId="{5C84AA63-D5BA-CA49-BB96-231D4C7DDC5B}" type="pres">
      <dgm:prSet presAssocID="{0AB3DE4C-8950-4149-A0B2-1825AD760E47}" presName="sp" presStyleCnt="0"/>
      <dgm:spPr/>
    </dgm:pt>
    <dgm:pt modelId="{645668F4-8D6F-6D42-8021-0A4D816F9CCB}" type="pres">
      <dgm:prSet presAssocID="{4CA2CAE5-D35A-BC45-A980-35AD0A6523F1}" presName="linNode" presStyleCnt="0"/>
      <dgm:spPr/>
    </dgm:pt>
    <dgm:pt modelId="{EF2F0DAF-315C-B94D-A550-8E67B9B09006}" type="pres">
      <dgm:prSet presAssocID="{4CA2CAE5-D35A-BC45-A980-35AD0A6523F1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19837995-5BEC-C647-AB6C-124AA7CB3A4F}" type="pres">
      <dgm:prSet presAssocID="{4CA2CAE5-D35A-BC45-A980-35AD0A6523F1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D8B88512-C91F-374F-A5F7-1315A5E27E6D}" type="presOf" srcId="{3A22B381-6B11-884D-949B-38D723E85589}" destId="{A28C345C-BC62-E04C-800A-877F0E4DFC0F}" srcOrd="0" destOrd="0" presId="urn:microsoft.com/office/officeart/2005/8/layout/vList5"/>
    <dgm:cxn modelId="{50FF6A1B-2516-6D4E-888F-1280B14F728A}" type="presOf" srcId="{5FAC007A-2507-D54A-A7AF-D0507A5A9BAA}" destId="{990E0F6F-3507-1B4D-AA70-BC3FF52C81CD}" srcOrd="0" destOrd="0" presId="urn:microsoft.com/office/officeart/2005/8/layout/vList5"/>
    <dgm:cxn modelId="{92609920-BB61-1C45-88A2-764F361A5E59}" type="presOf" srcId="{24878C76-0F6F-754F-950E-0EA349B1D0EB}" destId="{1EBEBA5E-CEF2-4B46-A042-FB070AE32FCE}" srcOrd="0" destOrd="0" presId="urn:microsoft.com/office/officeart/2005/8/layout/vList5"/>
    <dgm:cxn modelId="{72C82C22-FFCD-4544-9484-D007484B7638}" srcId="{3A22B381-6B11-884D-949B-38D723E85589}" destId="{4CA2CAE5-D35A-BC45-A980-35AD0A6523F1}" srcOrd="3" destOrd="0" parTransId="{221AB242-2CE4-9343-9EFD-C79DB3F25B54}" sibTransId="{AAD0E436-50FF-A042-90E1-E063B728A77D}"/>
    <dgm:cxn modelId="{E5938724-5AEB-2E4E-9413-820C15B960BF}" srcId="{24878C76-0F6F-754F-950E-0EA349B1D0EB}" destId="{5FAC007A-2507-D54A-A7AF-D0507A5A9BAA}" srcOrd="0" destOrd="0" parTransId="{1F22DF5D-1CB5-8245-B809-B9FC53A3E51D}" sibTransId="{0094B71A-C9EB-FB4C-812A-A341651E8118}"/>
    <dgm:cxn modelId="{9EE5B24F-4848-5542-8383-6CD6138B65C8}" srcId="{4CA2CAE5-D35A-BC45-A980-35AD0A6523F1}" destId="{C569F5BE-E715-5B44-825F-35BBE41686E2}" srcOrd="0" destOrd="0" parTransId="{4304F836-0AEA-B047-9F92-3A91551D7443}" sibTransId="{E25FB7CF-D49D-DC40-B71B-29E1D2CF1983}"/>
    <dgm:cxn modelId="{0B11946D-173E-DC45-8CB8-AE1D4F686E9A}" srcId="{3A22B381-6B11-884D-949B-38D723E85589}" destId="{5DE3460D-93FB-3544-86A0-460879A4085B}" srcOrd="2" destOrd="0" parTransId="{3AD45974-C7E9-3948-A346-4C980E229DC6}" sibTransId="{0AB3DE4C-8950-4149-A0B2-1825AD760E47}"/>
    <dgm:cxn modelId="{B333BE7A-C3C2-754A-9943-0BF2BD8E3AE8}" srcId="{3A22B381-6B11-884D-949B-38D723E85589}" destId="{24878C76-0F6F-754F-950E-0EA349B1D0EB}" srcOrd="1" destOrd="0" parTransId="{7E73EF39-2030-264F-B6F2-2975058F06EC}" sibTransId="{07665B96-244A-2B4E-8127-7D574A5450C9}"/>
    <dgm:cxn modelId="{86B6F67D-CE40-EA44-93F5-A0DB7DA2A650}" srcId="{FAB76A87-573D-3E47-81AC-9CF06F8F8A68}" destId="{43C2A814-E8E6-7040-A23A-887422533767}" srcOrd="0" destOrd="0" parTransId="{5AFC773B-82B4-054D-8ED4-A845A28C3A39}" sibTransId="{85E7F35F-BBCD-DB40-BA71-FA9588F7BDAD}"/>
    <dgm:cxn modelId="{C37E5A83-47A3-C04C-80E8-8B370ACA7077}" type="presOf" srcId="{43C2A814-E8E6-7040-A23A-887422533767}" destId="{727C0D2D-D047-5D45-8961-21471AEBEFF3}" srcOrd="0" destOrd="0" presId="urn:microsoft.com/office/officeart/2005/8/layout/vList5"/>
    <dgm:cxn modelId="{C6B94F8D-36D1-BD4D-8217-3565B13BDBA6}" type="presOf" srcId="{4CA2CAE5-D35A-BC45-A980-35AD0A6523F1}" destId="{EF2F0DAF-315C-B94D-A550-8E67B9B09006}" srcOrd="0" destOrd="0" presId="urn:microsoft.com/office/officeart/2005/8/layout/vList5"/>
    <dgm:cxn modelId="{06B6279F-AAF9-8649-ACA2-67DF813F9EFB}" type="presOf" srcId="{FAB76A87-573D-3E47-81AC-9CF06F8F8A68}" destId="{BC482A41-2B84-424F-B80A-AFED0A1EF6B8}" srcOrd="0" destOrd="0" presId="urn:microsoft.com/office/officeart/2005/8/layout/vList5"/>
    <dgm:cxn modelId="{F3E4F2BE-7D70-EB4B-9DC5-4A7DD3888711}" type="presOf" srcId="{5DE3460D-93FB-3544-86A0-460879A4085B}" destId="{1882894D-F6F9-AD46-8087-2653D8D1FF3E}" srcOrd="0" destOrd="0" presId="urn:microsoft.com/office/officeart/2005/8/layout/vList5"/>
    <dgm:cxn modelId="{56B954CA-B6A0-7E49-B0E3-63A42EE85108}" srcId="{5DE3460D-93FB-3544-86A0-460879A4085B}" destId="{9CF72BE9-0484-3141-A4FE-9463BB3FC9A1}" srcOrd="0" destOrd="0" parTransId="{788F6DF4-6B62-D74E-9D0A-BA70B5CE1288}" sibTransId="{5E9185FF-95F2-0647-8B45-7FBC86BF5E39}"/>
    <dgm:cxn modelId="{7E951CD6-A930-D44B-9A87-758CA4FC0E7F}" type="presOf" srcId="{9CF72BE9-0484-3141-A4FE-9463BB3FC9A1}" destId="{61E24A01-37F7-904B-8296-47F0AA6B7EAE}" srcOrd="0" destOrd="0" presId="urn:microsoft.com/office/officeart/2005/8/layout/vList5"/>
    <dgm:cxn modelId="{475209F2-EFC7-4546-AE07-AB21DB1E5C68}" srcId="{3A22B381-6B11-884D-949B-38D723E85589}" destId="{FAB76A87-573D-3E47-81AC-9CF06F8F8A68}" srcOrd="0" destOrd="0" parTransId="{5B7DD6CB-75CE-3547-84DE-1DCEA6027965}" sibTransId="{775BB0C1-25C0-0C42-9F2F-092AA29EF0A1}"/>
    <dgm:cxn modelId="{C0538EF6-6E41-3642-9F52-7B07EF1EAE6C}" type="presOf" srcId="{C569F5BE-E715-5B44-825F-35BBE41686E2}" destId="{19837995-5BEC-C647-AB6C-124AA7CB3A4F}" srcOrd="0" destOrd="0" presId="urn:microsoft.com/office/officeart/2005/8/layout/vList5"/>
    <dgm:cxn modelId="{B2419CD3-A746-5A46-9380-F5EDB2F3AD6B}" type="presParOf" srcId="{A28C345C-BC62-E04C-800A-877F0E4DFC0F}" destId="{13165C58-91D5-AB4A-A18B-117CEF8D4F0C}" srcOrd="0" destOrd="0" presId="urn:microsoft.com/office/officeart/2005/8/layout/vList5"/>
    <dgm:cxn modelId="{60C9A161-CDDC-354D-A0B6-81C0208576B2}" type="presParOf" srcId="{13165C58-91D5-AB4A-A18B-117CEF8D4F0C}" destId="{BC482A41-2B84-424F-B80A-AFED0A1EF6B8}" srcOrd="0" destOrd="0" presId="urn:microsoft.com/office/officeart/2005/8/layout/vList5"/>
    <dgm:cxn modelId="{0B2E5F77-E6DC-7D4A-9DB7-63054F647622}" type="presParOf" srcId="{13165C58-91D5-AB4A-A18B-117CEF8D4F0C}" destId="{727C0D2D-D047-5D45-8961-21471AEBEFF3}" srcOrd="1" destOrd="0" presId="urn:microsoft.com/office/officeart/2005/8/layout/vList5"/>
    <dgm:cxn modelId="{B909BF81-4476-AC41-9F14-68EC7D38EF28}" type="presParOf" srcId="{A28C345C-BC62-E04C-800A-877F0E4DFC0F}" destId="{99C3D1EC-5BAB-A142-A0F5-0B63FA5718F4}" srcOrd="1" destOrd="0" presId="urn:microsoft.com/office/officeart/2005/8/layout/vList5"/>
    <dgm:cxn modelId="{242FEB09-9BD9-1B43-907C-A93B0A29B710}" type="presParOf" srcId="{A28C345C-BC62-E04C-800A-877F0E4DFC0F}" destId="{FE2B7D47-0444-AE41-8340-5A5BAD157B41}" srcOrd="2" destOrd="0" presId="urn:microsoft.com/office/officeart/2005/8/layout/vList5"/>
    <dgm:cxn modelId="{2534D4E0-40A9-514F-8ECF-0A4A493878F9}" type="presParOf" srcId="{FE2B7D47-0444-AE41-8340-5A5BAD157B41}" destId="{1EBEBA5E-CEF2-4B46-A042-FB070AE32FCE}" srcOrd="0" destOrd="0" presId="urn:microsoft.com/office/officeart/2005/8/layout/vList5"/>
    <dgm:cxn modelId="{615C62A1-1696-D247-8DF3-94AE645B4FD8}" type="presParOf" srcId="{FE2B7D47-0444-AE41-8340-5A5BAD157B41}" destId="{990E0F6F-3507-1B4D-AA70-BC3FF52C81CD}" srcOrd="1" destOrd="0" presId="urn:microsoft.com/office/officeart/2005/8/layout/vList5"/>
    <dgm:cxn modelId="{3766728D-6D67-3B4F-A94F-57803C1CEA18}" type="presParOf" srcId="{A28C345C-BC62-E04C-800A-877F0E4DFC0F}" destId="{D1EA2622-CCD7-8E49-913A-CD271B8CD5CB}" srcOrd="3" destOrd="0" presId="urn:microsoft.com/office/officeart/2005/8/layout/vList5"/>
    <dgm:cxn modelId="{DDF1DE52-BB87-454C-84A5-F3FABE356A1C}" type="presParOf" srcId="{A28C345C-BC62-E04C-800A-877F0E4DFC0F}" destId="{69AF4E0E-7C3C-6348-A841-C46671EA5C64}" srcOrd="4" destOrd="0" presId="urn:microsoft.com/office/officeart/2005/8/layout/vList5"/>
    <dgm:cxn modelId="{51DF3C88-4A66-5443-9A15-E7D40B9F07B6}" type="presParOf" srcId="{69AF4E0E-7C3C-6348-A841-C46671EA5C64}" destId="{1882894D-F6F9-AD46-8087-2653D8D1FF3E}" srcOrd="0" destOrd="0" presId="urn:microsoft.com/office/officeart/2005/8/layout/vList5"/>
    <dgm:cxn modelId="{7E05175F-91C8-F145-8216-936A68458DF9}" type="presParOf" srcId="{69AF4E0E-7C3C-6348-A841-C46671EA5C64}" destId="{61E24A01-37F7-904B-8296-47F0AA6B7EAE}" srcOrd="1" destOrd="0" presId="urn:microsoft.com/office/officeart/2005/8/layout/vList5"/>
    <dgm:cxn modelId="{C767E58D-E6EF-6046-A42A-365D77AB79B4}" type="presParOf" srcId="{A28C345C-BC62-E04C-800A-877F0E4DFC0F}" destId="{5C84AA63-D5BA-CA49-BB96-231D4C7DDC5B}" srcOrd="5" destOrd="0" presId="urn:microsoft.com/office/officeart/2005/8/layout/vList5"/>
    <dgm:cxn modelId="{9133C882-FA75-F247-93DA-263423C5971D}" type="presParOf" srcId="{A28C345C-BC62-E04C-800A-877F0E4DFC0F}" destId="{645668F4-8D6F-6D42-8021-0A4D816F9CCB}" srcOrd="6" destOrd="0" presId="urn:microsoft.com/office/officeart/2005/8/layout/vList5"/>
    <dgm:cxn modelId="{54E43ED4-A35E-0641-9722-C5BB4A282A83}" type="presParOf" srcId="{645668F4-8D6F-6D42-8021-0A4D816F9CCB}" destId="{EF2F0DAF-315C-B94D-A550-8E67B9B09006}" srcOrd="0" destOrd="0" presId="urn:microsoft.com/office/officeart/2005/8/layout/vList5"/>
    <dgm:cxn modelId="{CFCB5223-467D-1A48-9B06-718202AB128C}" type="presParOf" srcId="{645668F4-8D6F-6D42-8021-0A4D816F9CCB}" destId="{19837995-5BEC-C647-AB6C-124AA7CB3A4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D5F8B61-9E25-5142-A58B-F7D9B42D7B3F}" type="doc">
      <dgm:prSet loTypeId="urn:microsoft.com/office/officeart/2005/8/layout/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B6ADAD4-3BB8-E841-AC39-EEE0F29F8C42}">
      <dgm:prSet phldrT="[Text]"/>
      <dgm:spPr/>
      <dgm:t>
        <a:bodyPr/>
        <a:lstStyle/>
        <a:p>
          <a:pPr rtl="0"/>
          <a:r>
            <a:rPr lang="en-US" dirty="0"/>
            <a:t>Parameter Saving Calculations</a:t>
          </a:r>
        </a:p>
      </dgm:t>
    </dgm:pt>
    <dgm:pt modelId="{7BC5C2FD-C7CE-4C4C-A8BD-A25142502A93}" type="parTrans" cxnId="{2D67F69B-345D-DE4B-90BE-23D1BB4E0122}">
      <dgm:prSet/>
      <dgm:spPr/>
      <dgm:t>
        <a:bodyPr/>
        <a:lstStyle/>
        <a:p>
          <a:endParaRPr lang="en-US"/>
        </a:p>
      </dgm:t>
    </dgm:pt>
    <dgm:pt modelId="{C4F3488E-B7A3-4740-BD9F-95CD7A9BE11F}" type="sibTrans" cxnId="{2D67F69B-345D-DE4B-90BE-23D1BB4E0122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ACE807D0-1BFE-0A4B-88B7-D6E4995F765A}">
          <dgm:prSet phldrT="[Text]" custT="1"/>
          <dgm:spPr/>
          <dgm:t>
            <a:bodyPr/>
            <a:lstStyle/>
            <a:p>
              <a:r>
                <a:rPr lang="en-US" sz="1700" b="1" dirty="0"/>
                <a:t>Full fine-tuning:</a:t>
              </a:r>
              <a:r>
                <a:rPr lang="en-US" sz="1700" dirty="0"/>
                <a:t> </a:t>
              </a:r>
              <a14:m>
                <m:oMath xmlns:m="http://schemas.openxmlformats.org/officeDocument/2006/math">
                  <m:r>
                    <a:rPr lang="en-US" sz="1700" i="1" dirty="0" smtClean="0">
                      <a:latin typeface="Cambria Math" panose="02040503050406030204" pitchFamily="18" charset="0"/>
                    </a:rPr>
                    <m:t>𝑑</m:t>
                  </m:r>
                  <m:r>
                    <a:rPr lang="en-US" sz="1700" i="1" dirty="0" smtClean="0">
                      <a:latin typeface="Cambria Math" panose="02040503050406030204" pitchFamily="18" charset="0"/>
                    </a:rPr>
                    <m:t> × </m:t>
                  </m:r>
                  <m:r>
                    <a:rPr lang="en-US" sz="1700" i="1" dirty="0" smtClean="0">
                      <a:latin typeface="Cambria Math" panose="02040503050406030204" pitchFamily="18" charset="0"/>
                    </a:rPr>
                    <m:t>𝑘</m:t>
                  </m:r>
                  <m:r>
                    <a:rPr lang="en-US" sz="1700" i="1" dirty="0" smtClean="0">
                      <a:latin typeface="Cambria Math" panose="02040503050406030204" pitchFamily="18" charset="0"/>
                    </a:rPr>
                    <m:t> </m:t>
                  </m:r>
                </m:oMath>
              </a14:m>
              <a:r>
                <a:rPr lang="en-US" sz="1700" dirty="0"/>
                <a:t>parameters to update</a:t>
              </a:r>
            </a:p>
          </dgm:t>
        </dgm:pt>
      </mc:Choice>
      <mc:Fallback xmlns="">
        <dgm:pt modelId="{ACE807D0-1BFE-0A4B-88B7-D6E4995F765A}">
          <dgm:prSet phldrT="[Text]" custT="1"/>
          <dgm:spPr/>
          <dgm:t>
            <a:bodyPr/>
            <a:lstStyle/>
            <a:p>
              <a:r>
                <a:rPr lang="en-US" sz="1700" b="1" dirty="0"/>
                <a:t>Full fine-tuning:</a:t>
              </a:r>
              <a:r>
                <a:rPr lang="en-US" sz="1700" dirty="0"/>
                <a:t> </a:t>
              </a:r>
              <a:r>
                <a:rPr lang="en-US" sz="1700" i="0" dirty="0">
                  <a:latin typeface="Cambria Math" panose="02040503050406030204" pitchFamily="18" charset="0"/>
                </a:rPr>
                <a:t>𝑑 × 𝑘 </a:t>
              </a:r>
              <a:r>
                <a:rPr lang="en-US" sz="1700" dirty="0"/>
                <a:t>parameters to update</a:t>
              </a:r>
            </a:p>
          </dgm:t>
        </dgm:pt>
      </mc:Fallback>
    </mc:AlternateContent>
    <dgm:pt modelId="{A803464B-40EB-0C47-9FFD-9A6C97E4A323}" type="parTrans" cxnId="{740078BA-7A29-D645-B5C7-DD052D064C3D}">
      <dgm:prSet/>
      <dgm:spPr/>
      <dgm:t>
        <a:bodyPr/>
        <a:lstStyle/>
        <a:p>
          <a:endParaRPr lang="en-US"/>
        </a:p>
      </dgm:t>
    </dgm:pt>
    <dgm:pt modelId="{CD3226A8-7F4F-174E-8352-232D7EEC82F3}" type="sibTrans" cxnId="{740078BA-7A29-D645-B5C7-DD052D064C3D}">
      <dgm:prSet/>
      <dgm:spPr/>
      <dgm:t>
        <a:bodyPr/>
        <a:lstStyle/>
        <a:p>
          <a:endParaRPr lang="en-US"/>
        </a:p>
      </dgm:t>
    </dgm:pt>
    <dgm:pt modelId="{C98E3AFF-F6E7-D04D-9371-2040D003DD99}">
      <dgm:prSet phldrT="[Text]"/>
      <dgm:spPr/>
      <dgm:t>
        <a:bodyPr/>
        <a:lstStyle/>
        <a:p>
          <a:pPr rtl="0"/>
          <a:r>
            <a:rPr lang="en-US" dirty="0"/>
            <a:t>Where </a:t>
          </a:r>
          <a:r>
            <a:rPr lang="en-US" dirty="0" err="1"/>
            <a:t>LoRA</a:t>
          </a:r>
          <a:r>
            <a:rPr lang="en-US" dirty="0"/>
            <a:t> is added usually</a:t>
          </a:r>
        </a:p>
      </dgm:t>
    </dgm:pt>
    <dgm:pt modelId="{B1A95536-80D5-8746-B8D6-B918D9D4655F}" type="parTrans" cxnId="{0082565B-B3A4-6E40-A2DC-64C6235E3ACF}">
      <dgm:prSet/>
      <dgm:spPr/>
      <dgm:t>
        <a:bodyPr/>
        <a:lstStyle/>
        <a:p>
          <a:endParaRPr lang="en-US"/>
        </a:p>
      </dgm:t>
    </dgm:pt>
    <dgm:pt modelId="{28CBE140-2B84-914F-AC49-89A63D5EFE92}" type="sibTrans" cxnId="{0082565B-B3A4-6E40-A2DC-64C6235E3ACF}">
      <dgm:prSet/>
      <dgm:spPr/>
      <dgm:t>
        <a:bodyPr/>
        <a:lstStyle/>
        <a:p>
          <a:endParaRPr lang="en-US"/>
        </a:p>
      </dgm:t>
    </dgm:pt>
    <dgm:pt modelId="{7BE86DD5-0181-C84E-B9A4-8FA5D43353AB}">
      <dgm:prSet phldrT="[Text]" custT="1"/>
      <dgm:spPr/>
      <dgm:t>
        <a:bodyPr/>
        <a:lstStyle/>
        <a:p>
          <a:pPr rtl="0"/>
          <a:r>
            <a:rPr lang="en-US" sz="1700" b="1" dirty="0"/>
            <a:t>Cheap + strong baseline:</a:t>
          </a:r>
          <a:r>
            <a:rPr lang="en-US" sz="1700" dirty="0"/>
            <a:t> </a:t>
          </a:r>
          <a:r>
            <a:rPr lang="en-US" sz="1700" dirty="0" err="1"/>
            <a:t>LoRA</a:t>
          </a:r>
          <a:r>
            <a:rPr lang="en-US" sz="1700" dirty="0"/>
            <a:t> on Q and V</a:t>
          </a:r>
        </a:p>
      </dgm:t>
    </dgm:pt>
    <dgm:pt modelId="{3897AB6B-4CAC-F240-881F-F1D9CD72DACA}" type="parTrans" cxnId="{F087B5CA-2B83-2A4E-820E-40503803B4AB}">
      <dgm:prSet/>
      <dgm:spPr/>
      <dgm:t>
        <a:bodyPr/>
        <a:lstStyle/>
        <a:p>
          <a:endParaRPr lang="en-US"/>
        </a:p>
      </dgm:t>
    </dgm:pt>
    <dgm:pt modelId="{C9E59F03-1B18-4649-8ADB-222B6CF6232A}" type="sibTrans" cxnId="{F087B5CA-2B83-2A4E-820E-40503803B4AB}">
      <dgm:prSet/>
      <dgm:spPr/>
      <dgm:t>
        <a:bodyPr/>
        <a:lstStyle/>
        <a:p>
          <a:endParaRPr lang="en-US"/>
        </a:p>
      </dgm:t>
    </dgm:pt>
    <dgm:pt modelId="{63F55321-07BF-6447-8DFC-D6EB0F68D89A}">
      <dgm:prSet phldrT="[Text]" custT="1"/>
      <dgm:spPr/>
      <dgm:t>
        <a:bodyPr/>
        <a:lstStyle/>
        <a:p>
          <a:r>
            <a:rPr lang="en-US" sz="1700" b="1" dirty="0"/>
            <a:t>Stronger:</a:t>
          </a:r>
          <a:r>
            <a:rPr lang="en-US" sz="1700" dirty="0"/>
            <a:t> </a:t>
          </a:r>
          <a:r>
            <a:rPr lang="en-US" sz="1700" dirty="0" err="1"/>
            <a:t>LoRA</a:t>
          </a:r>
          <a:r>
            <a:rPr lang="en-US" sz="1700" dirty="0"/>
            <a:t> on Q, K, V, O</a:t>
          </a:r>
        </a:p>
      </dgm:t>
    </dgm:pt>
    <dgm:pt modelId="{2FDBBF61-88B9-0142-9A35-FC98F13EB7D1}" type="parTrans" cxnId="{7DB8BA01-F175-AA4B-B4E9-5C9A13E22AC0}">
      <dgm:prSet/>
      <dgm:spPr/>
      <dgm:t>
        <a:bodyPr/>
        <a:lstStyle/>
        <a:p>
          <a:endParaRPr lang="en-US"/>
        </a:p>
      </dgm:t>
    </dgm:pt>
    <dgm:pt modelId="{AE0B3BF5-2283-F847-989F-13AFF9A093A1}" type="sibTrans" cxnId="{7DB8BA01-F175-AA4B-B4E9-5C9A13E22AC0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047085D1-8FC7-7A4A-9880-072C8319BEB8}">
          <dgm:prSet custT="1"/>
          <dgm:spPr/>
          <dgm:t>
            <a:bodyPr/>
            <a:lstStyle/>
            <a:p>
              <a:r>
                <a:rPr lang="en-US" sz="1700" b="1" dirty="0"/>
                <a:t>LoRA:</a:t>
              </a:r>
              <a14:m>
                <m:oMath xmlns:m="http://schemas.openxmlformats.org/officeDocument/2006/math">
                  <m:r>
                    <a:rPr lang="en-US" sz="1700" i="1" dirty="0" smtClean="0">
                      <a:latin typeface="Cambria Math" panose="02040503050406030204" pitchFamily="18" charset="0"/>
                    </a:rPr>
                    <m:t> </m:t>
                  </m:r>
                  <m:r>
                    <a:rPr lang="en-US" sz="1700" i="1" dirty="0" smtClean="0">
                      <a:latin typeface="Cambria Math" panose="02040503050406030204" pitchFamily="18" charset="0"/>
                    </a:rPr>
                    <m:t>𝑟</m:t>
                  </m:r>
                  <m:r>
                    <a:rPr lang="en-US" sz="1700" i="1" dirty="0" smtClean="0">
                      <a:latin typeface="Cambria Math" panose="02040503050406030204" pitchFamily="18" charset="0"/>
                    </a:rPr>
                    <m:t> × (</m:t>
                  </m:r>
                  <m:r>
                    <a:rPr lang="en-US" sz="1700" i="1" dirty="0" smtClean="0">
                      <a:latin typeface="Cambria Math" panose="02040503050406030204" pitchFamily="18" charset="0"/>
                    </a:rPr>
                    <m:t>𝑑</m:t>
                  </m:r>
                  <m:r>
                    <a:rPr lang="en-US" sz="1700" i="1" dirty="0" smtClean="0">
                      <a:latin typeface="Cambria Math" panose="02040503050406030204" pitchFamily="18" charset="0"/>
                    </a:rPr>
                    <m:t> + </m:t>
                  </m:r>
                  <m:r>
                    <a:rPr lang="en-US" sz="1700" i="1" dirty="0" smtClean="0">
                      <a:latin typeface="Cambria Math" panose="02040503050406030204" pitchFamily="18" charset="0"/>
                    </a:rPr>
                    <m:t>𝑘</m:t>
                  </m:r>
                  <m:r>
                    <a:rPr lang="en-US" sz="1700" i="1" dirty="0" smtClean="0">
                      <a:latin typeface="Cambria Math" panose="02040503050406030204" pitchFamily="18" charset="0"/>
                    </a:rPr>
                    <m:t>) </m:t>
                  </m:r>
                </m:oMath>
              </a14:m>
              <a:r>
                <a:rPr lang="en-US" sz="1700" dirty="0"/>
                <a:t>parameters to update</a:t>
              </a:r>
            </a:p>
          </dgm:t>
        </dgm:pt>
      </mc:Choice>
      <mc:Fallback xmlns="">
        <dgm:pt modelId="{047085D1-8FC7-7A4A-9880-072C8319BEB8}">
          <dgm:prSet custT="1"/>
          <dgm:spPr/>
          <dgm:t>
            <a:bodyPr/>
            <a:lstStyle/>
            <a:p>
              <a:r>
                <a:rPr lang="en-US" sz="1700" b="1" dirty="0"/>
                <a:t>LoRA:</a:t>
              </a:r>
              <a:r>
                <a:rPr lang="en-US" sz="1700" i="0" dirty="0">
                  <a:latin typeface="Cambria Math" panose="02040503050406030204" pitchFamily="18" charset="0"/>
                </a:rPr>
                <a:t> 𝑟 × (𝑑 + 𝑘) </a:t>
              </a:r>
              <a:r>
                <a:rPr lang="en-US" sz="1700" dirty="0"/>
                <a:t>parameters to update</a:t>
              </a:r>
            </a:p>
          </dgm:t>
        </dgm:pt>
      </mc:Fallback>
    </mc:AlternateContent>
    <dgm:pt modelId="{D0D29A74-53E8-6847-BFD2-8DFE646D98B4}" type="parTrans" cxnId="{063887B8-C03B-F84F-8B30-30BDAF2B2324}">
      <dgm:prSet/>
      <dgm:spPr/>
      <dgm:t>
        <a:bodyPr/>
        <a:lstStyle/>
        <a:p>
          <a:endParaRPr lang="en-US"/>
        </a:p>
      </dgm:t>
    </dgm:pt>
    <dgm:pt modelId="{37F307D1-BC4F-044B-AF07-217973BB0A3A}" type="sibTrans" cxnId="{063887B8-C03B-F84F-8B30-30BDAF2B2324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40CB8E73-76B6-614C-B353-008E34377930}">
          <dgm:prSet custT="1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sz="170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700" i="1" dirty="0" smtClean="0">
                        <a:latin typeface="Cambria Math" panose="02040503050406030204" pitchFamily="18" charset="0"/>
                      </a:rPr>
                      <m:t> = 4096, </m:t>
                    </m:r>
                    <m:r>
                      <a:rPr lang="en-US" sz="17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700" i="1" dirty="0" smtClean="0">
                        <a:latin typeface="Cambria Math" panose="02040503050406030204" pitchFamily="18" charset="0"/>
                      </a:rPr>
                      <m:t> = 4096, </m:t>
                    </m:r>
                    <m:r>
                      <a:rPr lang="en-US" sz="17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700" i="1" dirty="0" smtClean="0">
                        <a:latin typeface="Cambria Math" panose="02040503050406030204" pitchFamily="18" charset="0"/>
                      </a:rPr>
                      <m:t> = 8</m:t>
                    </m:r>
                  </m:oMath>
                </m:oMathPara>
              </a14:m>
              <a:endParaRPr lang="en-US" sz="1700" dirty="0"/>
            </a:p>
          </dgm:t>
        </dgm:pt>
      </mc:Choice>
      <mc:Fallback xmlns="">
        <dgm:pt modelId="{40CB8E73-76B6-614C-B353-008E34377930}">
          <dgm:prSet custT="1"/>
          <dgm:spPr/>
          <dgm:t>
            <a:bodyPr/>
            <a:lstStyle/>
            <a:p>
              <a:r>
                <a:rPr lang="en-US" sz="1700" i="0" dirty="0">
                  <a:latin typeface="Cambria Math" panose="02040503050406030204" pitchFamily="18" charset="0"/>
                </a:rPr>
                <a:t>𝑑 = 4096, 𝑘 = 4096, 𝑟 = 8</a:t>
              </a:r>
              <a:endParaRPr lang="en-US" sz="1700" dirty="0"/>
            </a:p>
          </dgm:t>
        </dgm:pt>
      </mc:Fallback>
    </mc:AlternateContent>
    <dgm:pt modelId="{3FE6885B-9788-364F-B610-42C2969287CA}" type="parTrans" cxnId="{4FBD3769-D31F-3041-AD7E-BB8BBC7A1682}">
      <dgm:prSet/>
      <dgm:spPr/>
      <dgm:t>
        <a:bodyPr/>
        <a:lstStyle/>
        <a:p>
          <a:endParaRPr lang="en-US"/>
        </a:p>
      </dgm:t>
    </dgm:pt>
    <dgm:pt modelId="{61159895-177F-B944-852A-4F541FD1D6EB}" type="sibTrans" cxnId="{4FBD3769-D31F-3041-AD7E-BB8BBC7A1682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3520D071-7A6C-264B-A88C-CD590FC73BBD}">
          <dgm:prSet custT="1"/>
          <dgm:spPr/>
          <dgm:t>
            <a:bodyPr/>
            <a:lstStyle/>
            <a:p>
              <a:r>
                <a:rPr lang="en-US" sz="1700" b="1" dirty="0"/>
                <a:t>Full fine-tuning</a:t>
              </a:r>
              <a14:m>
                <m:oMath xmlns:m="http://schemas.openxmlformats.org/officeDocument/2006/math">
                  <m:r>
                    <a:rPr lang="en-US" sz="1700" i="1" dirty="0" smtClean="0">
                      <a:latin typeface="Cambria Math" panose="02040503050406030204" pitchFamily="18" charset="0"/>
                    </a:rPr>
                    <m:t>: 4096 × 4096 = 16,777,216 (16.7 </m:t>
                  </m:r>
                  <m:r>
                    <a:rPr lang="en-US" sz="1700" i="1" dirty="0" smtClean="0">
                      <a:latin typeface="Cambria Math" panose="02040503050406030204" pitchFamily="18" charset="0"/>
                    </a:rPr>
                    <m:t>𝑀</m:t>
                  </m:r>
                  <m:r>
                    <a:rPr lang="en-US" sz="1700" i="1" dirty="0" smtClean="0">
                      <a:latin typeface="Cambria Math" panose="02040503050406030204" pitchFamily="18" charset="0"/>
                    </a:rPr>
                    <m:t>) </m:t>
                  </m:r>
                </m:oMath>
              </a14:m>
              <a:r>
                <a:rPr lang="en-US" sz="1700" dirty="0"/>
                <a:t>parameters</a:t>
              </a:r>
            </a:p>
          </dgm:t>
        </dgm:pt>
      </mc:Choice>
      <mc:Fallback xmlns="">
        <dgm:pt modelId="{3520D071-7A6C-264B-A88C-CD590FC73BBD}">
          <dgm:prSet custT="1"/>
          <dgm:spPr/>
          <dgm:t>
            <a:bodyPr/>
            <a:lstStyle/>
            <a:p>
              <a:r>
                <a:rPr lang="en-US" sz="1700" b="1" dirty="0"/>
                <a:t>Full fine-tuning</a:t>
              </a:r>
              <a:r>
                <a:rPr lang="en-US" sz="1700" i="0" dirty="0">
                  <a:latin typeface="Cambria Math" panose="02040503050406030204" pitchFamily="18" charset="0"/>
                </a:rPr>
                <a:t>: 4096 × 4096 = 16,777,216 (16.7 𝑀) </a:t>
              </a:r>
              <a:r>
                <a:rPr lang="en-US" sz="1700" dirty="0"/>
                <a:t>parameters</a:t>
              </a:r>
            </a:p>
          </dgm:t>
        </dgm:pt>
      </mc:Fallback>
    </mc:AlternateContent>
    <dgm:pt modelId="{87EBC1CA-768A-2145-8448-18E7EDAADAD6}" type="parTrans" cxnId="{237D897D-E139-9A47-8355-D1FE13C3782C}">
      <dgm:prSet/>
      <dgm:spPr/>
      <dgm:t>
        <a:bodyPr/>
        <a:lstStyle/>
        <a:p>
          <a:endParaRPr lang="en-US"/>
        </a:p>
      </dgm:t>
    </dgm:pt>
    <dgm:pt modelId="{E42540B4-E5B0-5F44-B768-A4739F6C98C1}" type="sibTrans" cxnId="{237D897D-E139-9A47-8355-D1FE13C3782C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7134E012-6AC0-FB40-AA8B-1A37654C9549}">
          <dgm:prSet custT="1"/>
          <dgm:spPr/>
          <dgm:t>
            <a:bodyPr/>
            <a:lstStyle/>
            <a:p>
              <a:r>
                <a:rPr lang="en-US" sz="1700" b="1" dirty="0" err="1"/>
                <a:t>LoRA</a:t>
              </a:r>
              <a14:m>
                <m:oMath xmlns:m="http://schemas.openxmlformats.org/officeDocument/2006/math">
                  <m:r>
                    <a:rPr lang="en-US" sz="1700" i="1" dirty="0" smtClean="0">
                      <a:latin typeface="Cambria Math" panose="02040503050406030204" pitchFamily="18" charset="0"/>
                    </a:rPr>
                    <m:t>: 8 × (4096 + 4096) = 8 × 8192 = 65,536 (65.5 </m:t>
                  </m:r>
                  <m:r>
                    <a:rPr lang="en-US" sz="1700" i="1" dirty="0" smtClean="0">
                      <a:latin typeface="Cambria Math" panose="02040503050406030204" pitchFamily="18" charset="0"/>
                    </a:rPr>
                    <m:t>𝐾</m:t>
                  </m:r>
                  <m:r>
                    <a:rPr lang="en-US" sz="1700" i="1" dirty="0" smtClean="0">
                      <a:latin typeface="Cambria Math" panose="02040503050406030204" pitchFamily="18" charset="0"/>
                    </a:rPr>
                    <m:t>) </m:t>
                  </m:r>
                </m:oMath>
              </a14:m>
              <a:r>
                <a:rPr lang="en-US" sz="1700" dirty="0"/>
                <a:t>parameters</a:t>
              </a:r>
            </a:p>
          </dgm:t>
        </dgm:pt>
      </mc:Choice>
      <mc:Fallback xmlns="">
        <dgm:pt modelId="{7134E012-6AC0-FB40-AA8B-1A37654C9549}">
          <dgm:prSet custT="1"/>
          <dgm:spPr/>
          <dgm:t>
            <a:bodyPr/>
            <a:lstStyle/>
            <a:p>
              <a:r>
                <a:rPr lang="en-US" sz="1700" b="1" dirty="0" err="1"/>
                <a:t>LoRA</a:t>
              </a:r>
              <a:r>
                <a:rPr lang="en-US" sz="1700" i="0" dirty="0">
                  <a:latin typeface="Cambria Math" panose="02040503050406030204" pitchFamily="18" charset="0"/>
                </a:rPr>
                <a:t>: 8 × (4096 + 4096) = 8 × 8192 = 65,536 (65.5 𝐾) </a:t>
              </a:r>
              <a:r>
                <a:rPr lang="en-US" sz="1700" dirty="0"/>
                <a:t>parameters</a:t>
              </a:r>
            </a:p>
          </dgm:t>
        </dgm:pt>
      </mc:Fallback>
    </mc:AlternateContent>
    <dgm:pt modelId="{39EE58E7-2E05-2845-B5C6-A8E5BF113B02}" type="parTrans" cxnId="{D6EDC818-FE1F-444A-B758-220F8E99DA06}">
      <dgm:prSet/>
      <dgm:spPr/>
      <dgm:t>
        <a:bodyPr/>
        <a:lstStyle/>
        <a:p>
          <a:endParaRPr lang="en-US"/>
        </a:p>
      </dgm:t>
    </dgm:pt>
    <dgm:pt modelId="{500213E4-E159-ED4A-B1D1-200005C9C80F}" type="sibTrans" cxnId="{D6EDC818-FE1F-444A-B758-220F8E99DA06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2C1BE27B-4C9F-D24E-BFCB-D02EA75F5E6E}">
          <dgm:prSet custT="1"/>
          <dgm:spPr/>
          <dgm:t>
            <a:bodyPr/>
            <a:lstStyle/>
            <a:p>
              <a:r>
                <a:rPr lang="en-US" sz="1700" b="1" dirty="0"/>
                <a:t>Reduction factor:</a:t>
              </a:r>
              <a:r>
                <a:rPr lang="en-US" sz="1700" dirty="0"/>
                <a:t> </a:t>
              </a:r>
              <a14:m>
                <m:oMath xmlns:m="http://schemas.openxmlformats.org/officeDocument/2006/math">
                  <m:r>
                    <a:rPr lang="en-US" sz="1700" i="1" dirty="0" smtClean="0">
                      <a:latin typeface="Cambria Math" panose="02040503050406030204" pitchFamily="18" charset="0"/>
                    </a:rPr>
                    <m:t>16,777,216 / 65,536 = 256× </m:t>
                  </m:r>
                </m:oMath>
              </a14:m>
              <a:r>
                <a:rPr lang="en-US" sz="1700" dirty="0"/>
                <a:t>fewer trainable parameters</a:t>
              </a:r>
            </a:p>
          </dgm:t>
        </dgm:pt>
      </mc:Choice>
      <mc:Fallback xmlns="">
        <dgm:pt modelId="{2C1BE27B-4C9F-D24E-BFCB-D02EA75F5E6E}">
          <dgm:prSet custT="1"/>
          <dgm:spPr/>
          <dgm:t>
            <a:bodyPr/>
            <a:lstStyle/>
            <a:p>
              <a:r>
                <a:rPr lang="en-US" sz="1700" b="1" dirty="0"/>
                <a:t>Reduction factor:</a:t>
              </a:r>
              <a:r>
                <a:rPr lang="en-US" sz="1700" dirty="0"/>
                <a:t> </a:t>
              </a:r>
              <a:r>
                <a:rPr lang="en-US" sz="1700" i="0" dirty="0">
                  <a:latin typeface="Cambria Math" panose="02040503050406030204" pitchFamily="18" charset="0"/>
                </a:rPr>
                <a:t>16,777,216 / 65,536 = 256× </a:t>
              </a:r>
              <a:r>
                <a:rPr lang="en-US" sz="1700" dirty="0"/>
                <a:t>fewer trainable parameters</a:t>
              </a:r>
            </a:p>
          </dgm:t>
        </dgm:pt>
      </mc:Fallback>
    </mc:AlternateContent>
    <dgm:pt modelId="{41E0290A-253D-614F-89BE-1012F196447F}" type="parTrans" cxnId="{C7E7C85E-CEFB-7444-BAF6-EFD7B38BF98B}">
      <dgm:prSet/>
      <dgm:spPr/>
      <dgm:t>
        <a:bodyPr/>
        <a:lstStyle/>
        <a:p>
          <a:endParaRPr lang="en-US"/>
        </a:p>
      </dgm:t>
    </dgm:pt>
    <dgm:pt modelId="{7848B263-F62B-5F42-A393-828DBBC300F4}" type="sibTrans" cxnId="{C7E7C85E-CEFB-7444-BAF6-EFD7B38BF98B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A12E8302-F307-2242-9C49-7918282325DC}">
          <dgm:prSet custT="1"/>
          <dgm:spPr/>
          <dgm:t>
            <a:bodyPr/>
            <a:lstStyle/>
            <a:p>
              <a:r>
                <a:rPr lang="en-US" sz="1700" b="1" dirty="0"/>
                <a:t>%age reduction:</a:t>
              </a:r>
              <a14:m>
                <m:oMath xmlns:m="http://schemas.openxmlformats.org/officeDocument/2006/math">
                  <m:r>
                    <a:rPr lang="en-US" sz="1700" i="1" dirty="0" smtClean="0">
                      <a:latin typeface="Cambria Math" panose="02040503050406030204" pitchFamily="18" charset="0"/>
                    </a:rPr>
                    <m:t> 99.6% </m:t>
                  </m:r>
                </m:oMath>
              </a14:m>
              <a:r>
                <a:rPr lang="en-US" sz="1700" dirty="0"/>
                <a:t>fewer parameters to train</a:t>
              </a:r>
            </a:p>
          </dgm:t>
        </dgm:pt>
      </mc:Choice>
      <mc:Fallback xmlns="">
        <dgm:pt modelId="{A12E8302-F307-2242-9C49-7918282325DC}">
          <dgm:prSet custT="1"/>
          <dgm:spPr/>
          <dgm:t>
            <a:bodyPr/>
            <a:lstStyle/>
            <a:p>
              <a:r>
                <a:rPr lang="en-US" sz="1700" b="1" dirty="0"/>
                <a:t>%age reduction:</a:t>
              </a:r>
              <a:r>
                <a:rPr lang="en-US" sz="1700" i="0" dirty="0">
                  <a:latin typeface="Cambria Math" panose="02040503050406030204" pitchFamily="18" charset="0"/>
                </a:rPr>
                <a:t> 99.6% </a:t>
              </a:r>
              <a:r>
                <a:rPr lang="en-US" sz="1700" dirty="0"/>
                <a:t>fewer parameters to train</a:t>
              </a:r>
            </a:p>
          </dgm:t>
        </dgm:pt>
      </mc:Fallback>
    </mc:AlternateContent>
    <dgm:pt modelId="{16C526C9-F304-524D-A366-25AE8689D7BC}" type="parTrans" cxnId="{FCF2A14C-D020-4848-B312-5367864D0512}">
      <dgm:prSet/>
      <dgm:spPr/>
      <dgm:t>
        <a:bodyPr/>
        <a:lstStyle/>
        <a:p>
          <a:endParaRPr lang="en-US"/>
        </a:p>
      </dgm:t>
    </dgm:pt>
    <dgm:pt modelId="{C980D465-CE45-8A42-B312-827BCCE8508C}" type="sibTrans" cxnId="{FCF2A14C-D020-4848-B312-5367864D0512}">
      <dgm:prSet/>
      <dgm:spPr/>
      <dgm:t>
        <a:bodyPr/>
        <a:lstStyle/>
        <a:p>
          <a:endParaRPr lang="en-US"/>
        </a:p>
      </dgm:t>
    </dgm:pt>
    <dgm:pt modelId="{DF1E8A91-12AA-5C4D-81ED-9F7662973621}">
      <dgm:prSet phldrT="[Text]" custT="1"/>
      <dgm:spPr/>
      <dgm:t>
        <a:bodyPr/>
        <a:lstStyle/>
        <a:p>
          <a:pPr rtl="0"/>
          <a:r>
            <a:rPr lang="en-US" sz="1700" b="1" dirty="0"/>
            <a:t>Even stronger:</a:t>
          </a:r>
          <a:r>
            <a:rPr lang="en-US" sz="1700" dirty="0"/>
            <a:t> </a:t>
          </a:r>
          <a:r>
            <a:rPr lang="en-US" sz="1700" dirty="0" err="1"/>
            <a:t>LoRA</a:t>
          </a:r>
          <a:r>
            <a:rPr lang="en-US" sz="1700" dirty="0"/>
            <a:t> on attention + MLP projections</a:t>
          </a:r>
        </a:p>
      </dgm:t>
    </dgm:pt>
    <dgm:pt modelId="{21D480F4-B5DB-F64F-B576-1405F923F602}" type="parTrans" cxnId="{EFC477AD-D5CD-1A46-82FD-04ADA25EFC7A}">
      <dgm:prSet/>
      <dgm:spPr/>
      <dgm:t>
        <a:bodyPr/>
        <a:lstStyle/>
        <a:p>
          <a:endParaRPr lang="en-US"/>
        </a:p>
      </dgm:t>
    </dgm:pt>
    <dgm:pt modelId="{9D1BBA7E-E715-8B4F-B1B6-6379006DA103}" type="sibTrans" cxnId="{EFC477AD-D5CD-1A46-82FD-04ADA25EFC7A}">
      <dgm:prSet/>
      <dgm:spPr/>
      <dgm:t>
        <a:bodyPr/>
        <a:lstStyle/>
        <a:p>
          <a:endParaRPr lang="en-US"/>
        </a:p>
      </dgm:t>
    </dgm:pt>
    <dgm:pt modelId="{BAD81813-62F2-6046-AD84-B282ACE1F3F1}">
      <dgm:prSet phldrT="[Text]" custT="1"/>
      <dgm:spPr/>
      <dgm:t>
        <a:bodyPr/>
        <a:lstStyle/>
        <a:p>
          <a:pPr rtl="0"/>
          <a:r>
            <a:rPr lang="en-US" sz="1700" dirty="0"/>
            <a:t>The output head is also trained</a:t>
          </a:r>
        </a:p>
      </dgm:t>
    </dgm:pt>
    <dgm:pt modelId="{A2469CE2-B9DE-1A4C-BB1B-F97054E1EDBA}" type="parTrans" cxnId="{D044FC07-1568-4347-B1D5-DAF4CE13F62D}">
      <dgm:prSet/>
      <dgm:spPr/>
      <dgm:t>
        <a:bodyPr/>
        <a:lstStyle/>
        <a:p>
          <a:endParaRPr lang="en-US"/>
        </a:p>
      </dgm:t>
    </dgm:pt>
    <dgm:pt modelId="{60F55EF1-6E03-2B4A-B50A-B343F1B217D8}" type="sibTrans" cxnId="{D044FC07-1568-4347-B1D5-DAF4CE13F62D}">
      <dgm:prSet/>
      <dgm:spPr/>
      <dgm:t>
        <a:bodyPr/>
        <a:lstStyle/>
        <a:p>
          <a:endParaRPr lang="en-US"/>
        </a:p>
      </dgm:t>
    </dgm:pt>
    <dgm:pt modelId="{C7714355-4081-2946-A0F2-1AA882D41CBF}">
      <dgm:prSet phldrT="[Text]" custT="1"/>
      <dgm:spPr/>
      <dgm:t>
        <a:bodyPr/>
        <a:lstStyle/>
        <a:p>
          <a:pPr rtl="0"/>
          <a:r>
            <a:rPr lang="en-US" sz="1700" dirty="0"/>
            <a:t>Base model weights (all original Transformer weights) are frozen</a:t>
          </a:r>
        </a:p>
      </dgm:t>
    </dgm:pt>
    <dgm:pt modelId="{9A02D4ED-0750-9D48-B030-8041B4B3FA2C}" type="parTrans" cxnId="{5D59AEF4-2A39-4D49-B936-B1EBEA66D500}">
      <dgm:prSet/>
      <dgm:spPr/>
      <dgm:t>
        <a:bodyPr/>
        <a:lstStyle/>
        <a:p>
          <a:endParaRPr lang="en-US"/>
        </a:p>
      </dgm:t>
    </dgm:pt>
    <dgm:pt modelId="{647EF532-CE05-6B42-9CDC-E29EA76D4BEA}" type="sibTrans" cxnId="{5D59AEF4-2A39-4D49-B936-B1EBEA66D500}">
      <dgm:prSet/>
      <dgm:spPr/>
      <dgm:t>
        <a:bodyPr/>
        <a:lstStyle/>
        <a:p>
          <a:endParaRPr lang="en-US"/>
        </a:p>
      </dgm:t>
    </dgm:pt>
    <dgm:pt modelId="{20DC3686-C10B-C349-838F-212CFA89D1F3}" type="pres">
      <dgm:prSet presAssocID="{5D5F8B61-9E25-5142-A58B-F7D9B42D7B3F}" presName="linear" presStyleCnt="0">
        <dgm:presLayoutVars>
          <dgm:dir/>
          <dgm:animLvl val="lvl"/>
          <dgm:resizeHandles val="exact"/>
        </dgm:presLayoutVars>
      </dgm:prSet>
      <dgm:spPr/>
    </dgm:pt>
    <dgm:pt modelId="{09DDFE5A-7004-4844-97F3-BDF16342CA60}" type="pres">
      <dgm:prSet presAssocID="{CB6ADAD4-3BB8-E841-AC39-EEE0F29F8C42}" presName="parentLin" presStyleCnt="0"/>
      <dgm:spPr/>
    </dgm:pt>
    <dgm:pt modelId="{B0996E94-540C-F04D-8AC6-486BC4F374E6}" type="pres">
      <dgm:prSet presAssocID="{CB6ADAD4-3BB8-E841-AC39-EEE0F29F8C42}" presName="parentLeftMargin" presStyleLbl="node1" presStyleIdx="0" presStyleCnt="2"/>
      <dgm:spPr/>
    </dgm:pt>
    <dgm:pt modelId="{E4D6123A-0BF3-8B42-AACE-3E0C1682EED7}" type="pres">
      <dgm:prSet presAssocID="{CB6ADAD4-3BB8-E841-AC39-EEE0F29F8C4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347DA51-EA3E-EC48-9F5C-2DE098AA74A4}" type="pres">
      <dgm:prSet presAssocID="{CB6ADAD4-3BB8-E841-AC39-EEE0F29F8C42}" presName="negativeSpace" presStyleCnt="0"/>
      <dgm:spPr/>
    </dgm:pt>
    <dgm:pt modelId="{168A2798-317F-E747-A72C-2C5183D98C20}" type="pres">
      <dgm:prSet presAssocID="{CB6ADAD4-3BB8-E841-AC39-EEE0F29F8C42}" presName="childText" presStyleLbl="conFgAcc1" presStyleIdx="0" presStyleCnt="2">
        <dgm:presLayoutVars>
          <dgm:bulletEnabled val="1"/>
        </dgm:presLayoutVars>
      </dgm:prSet>
      <dgm:spPr/>
    </dgm:pt>
    <dgm:pt modelId="{8FD7D73D-FD80-C241-814E-B93714E630CF}" type="pres">
      <dgm:prSet presAssocID="{C4F3488E-B7A3-4740-BD9F-95CD7A9BE11F}" presName="spaceBetweenRectangles" presStyleCnt="0"/>
      <dgm:spPr/>
    </dgm:pt>
    <dgm:pt modelId="{AB916262-EE22-E545-B100-C06740B8A161}" type="pres">
      <dgm:prSet presAssocID="{C98E3AFF-F6E7-D04D-9371-2040D003DD99}" presName="parentLin" presStyleCnt="0"/>
      <dgm:spPr/>
    </dgm:pt>
    <dgm:pt modelId="{33969D24-3D74-8842-A763-FE52BA6F2298}" type="pres">
      <dgm:prSet presAssocID="{C98E3AFF-F6E7-D04D-9371-2040D003DD99}" presName="parentLeftMargin" presStyleLbl="node1" presStyleIdx="0" presStyleCnt="2"/>
      <dgm:spPr/>
    </dgm:pt>
    <dgm:pt modelId="{A8B2C737-7ACA-4C47-A210-C272C3E54BC2}" type="pres">
      <dgm:prSet presAssocID="{C98E3AFF-F6E7-D04D-9371-2040D003DD9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C87BACE-5A4D-F84F-AA5E-38DBD93D3054}" type="pres">
      <dgm:prSet presAssocID="{C98E3AFF-F6E7-D04D-9371-2040D003DD99}" presName="negativeSpace" presStyleCnt="0"/>
      <dgm:spPr/>
    </dgm:pt>
    <dgm:pt modelId="{BFC7D280-0F3E-4445-A6B4-4AA9F811322D}" type="pres">
      <dgm:prSet presAssocID="{C98E3AFF-F6E7-D04D-9371-2040D003DD99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7DB8BA01-F175-AA4B-B4E9-5C9A13E22AC0}" srcId="{C98E3AFF-F6E7-D04D-9371-2040D003DD99}" destId="{63F55321-07BF-6447-8DFC-D6EB0F68D89A}" srcOrd="1" destOrd="0" parTransId="{2FDBBF61-88B9-0142-9A35-FC98F13EB7D1}" sibTransId="{AE0B3BF5-2283-F847-989F-13AFF9A093A1}"/>
    <dgm:cxn modelId="{80577C02-3955-2643-BDE3-C688D5C22A2B}" type="presOf" srcId="{5D5F8B61-9E25-5142-A58B-F7D9B42D7B3F}" destId="{20DC3686-C10B-C349-838F-212CFA89D1F3}" srcOrd="0" destOrd="0" presId="urn:microsoft.com/office/officeart/2005/8/layout/list1"/>
    <dgm:cxn modelId="{719D9B02-7E68-5D47-B3A1-B641561A5224}" type="presOf" srcId="{BAD81813-62F2-6046-AD84-B282ACE1F3F1}" destId="{BFC7D280-0F3E-4445-A6B4-4AA9F811322D}" srcOrd="0" destOrd="3" presId="urn:microsoft.com/office/officeart/2005/8/layout/list1"/>
    <dgm:cxn modelId="{D044FC07-1568-4347-B1D5-DAF4CE13F62D}" srcId="{C98E3AFF-F6E7-D04D-9371-2040D003DD99}" destId="{BAD81813-62F2-6046-AD84-B282ACE1F3F1}" srcOrd="3" destOrd="0" parTransId="{A2469CE2-B9DE-1A4C-BB1B-F97054E1EDBA}" sibTransId="{60F55EF1-6E03-2B4A-B50A-B343F1B217D8}"/>
    <dgm:cxn modelId="{D6EDC818-FE1F-444A-B758-220F8E99DA06}" srcId="{CB6ADAD4-3BB8-E841-AC39-EEE0F29F8C42}" destId="{7134E012-6AC0-FB40-AA8B-1A37654C9549}" srcOrd="4" destOrd="0" parTransId="{39EE58E7-2E05-2845-B5C6-A8E5BF113B02}" sibTransId="{500213E4-E159-ED4A-B1D1-200005C9C80F}"/>
    <dgm:cxn modelId="{FBDF7725-4BC0-7642-A415-8DC82D03911B}" type="presOf" srcId="{ACE807D0-1BFE-0A4B-88B7-D6E4995F765A}" destId="{168A2798-317F-E747-A72C-2C5183D98C20}" srcOrd="0" destOrd="0" presId="urn:microsoft.com/office/officeart/2005/8/layout/list1"/>
    <dgm:cxn modelId="{16724F2D-790B-264B-B49C-954B7531738D}" type="presOf" srcId="{7BE86DD5-0181-C84E-B9A4-8FA5D43353AB}" destId="{BFC7D280-0F3E-4445-A6B4-4AA9F811322D}" srcOrd="0" destOrd="0" presId="urn:microsoft.com/office/officeart/2005/8/layout/list1"/>
    <dgm:cxn modelId="{D9852336-D0A1-7245-8296-ECAA471A0CE8}" type="presOf" srcId="{2C1BE27B-4C9F-D24E-BFCB-D02EA75F5E6E}" destId="{168A2798-317F-E747-A72C-2C5183D98C20}" srcOrd="0" destOrd="5" presId="urn:microsoft.com/office/officeart/2005/8/layout/list1"/>
    <dgm:cxn modelId="{E60F7D3D-7801-C44E-A161-0E0AF5E7844E}" type="presOf" srcId="{CB6ADAD4-3BB8-E841-AC39-EEE0F29F8C42}" destId="{B0996E94-540C-F04D-8AC6-486BC4F374E6}" srcOrd="0" destOrd="0" presId="urn:microsoft.com/office/officeart/2005/8/layout/list1"/>
    <dgm:cxn modelId="{77B5EA4B-758B-9D46-9FD5-2FED2D674F3D}" type="presOf" srcId="{3520D071-7A6C-264B-A88C-CD590FC73BBD}" destId="{168A2798-317F-E747-A72C-2C5183D98C20}" srcOrd="0" destOrd="3" presId="urn:microsoft.com/office/officeart/2005/8/layout/list1"/>
    <dgm:cxn modelId="{FCF2A14C-D020-4848-B312-5367864D0512}" srcId="{CB6ADAD4-3BB8-E841-AC39-EEE0F29F8C42}" destId="{A12E8302-F307-2242-9C49-7918282325DC}" srcOrd="6" destOrd="0" parTransId="{16C526C9-F304-524D-A366-25AE8689D7BC}" sibTransId="{C980D465-CE45-8A42-B312-827BCCE8508C}"/>
    <dgm:cxn modelId="{76F84F5B-83D2-854C-976F-B4924B85CCA5}" type="presOf" srcId="{C98E3AFF-F6E7-D04D-9371-2040D003DD99}" destId="{33969D24-3D74-8842-A763-FE52BA6F2298}" srcOrd="0" destOrd="0" presId="urn:microsoft.com/office/officeart/2005/8/layout/list1"/>
    <dgm:cxn modelId="{0082565B-B3A4-6E40-A2DC-64C6235E3ACF}" srcId="{5D5F8B61-9E25-5142-A58B-F7D9B42D7B3F}" destId="{C98E3AFF-F6E7-D04D-9371-2040D003DD99}" srcOrd="1" destOrd="0" parTransId="{B1A95536-80D5-8746-B8D6-B918D9D4655F}" sibTransId="{28CBE140-2B84-914F-AC49-89A63D5EFE92}"/>
    <dgm:cxn modelId="{C7E7C85E-CEFB-7444-BAF6-EFD7B38BF98B}" srcId="{CB6ADAD4-3BB8-E841-AC39-EEE0F29F8C42}" destId="{2C1BE27B-4C9F-D24E-BFCB-D02EA75F5E6E}" srcOrd="5" destOrd="0" parTransId="{41E0290A-253D-614F-89BE-1012F196447F}" sibTransId="{7848B263-F62B-5F42-A393-828DBBC300F4}"/>
    <dgm:cxn modelId="{4FBD3769-D31F-3041-AD7E-BB8BBC7A1682}" srcId="{CB6ADAD4-3BB8-E841-AC39-EEE0F29F8C42}" destId="{40CB8E73-76B6-614C-B353-008E34377930}" srcOrd="2" destOrd="0" parTransId="{3FE6885B-9788-364F-B610-42C2969287CA}" sibTransId="{61159895-177F-B944-852A-4F541FD1D6EB}"/>
    <dgm:cxn modelId="{3091B26D-631A-2346-9777-9DB1ADDBD6AC}" type="presOf" srcId="{63F55321-07BF-6447-8DFC-D6EB0F68D89A}" destId="{BFC7D280-0F3E-4445-A6B4-4AA9F811322D}" srcOrd="0" destOrd="1" presId="urn:microsoft.com/office/officeart/2005/8/layout/list1"/>
    <dgm:cxn modelId="{D890D175-F335-CF4E-A3B0-3D0521ED895A}" type="presOf" srcId="{C7714355-4081-2946-A0F2-1AA882D41CBF}" destId="{BFC7D280-0F3E-4445-A6B4-4AA9F811322D}" srcOrd="0" destOrd="4" presId="urn:microsoft.com/office/officeart/2005/8/layout/list1"/>
    <dgm:cxn modelId="{237D897D-E139-9A47-8355-D1FE13C3782C}" srcId="{CB6ADAD4-3BB8-E841-AC39-EEE0F29F8C42}" destId="{3520D071-7A6C-264B-A88C-CD590FC73BBD}" srcOrd="3" destOrd="0" parTransId="{87EBC1CA-768A-2145-8448-18E7EDAADAD6}" sibTransId="{E42540B4-E5B0-5F44-B768-A4739F6C98C1}"/>
    <dgm:cxn modelId="{2D67F69B-345D-DE4B-90BE-23D1BB4E0122}" srcId="{5D5F8B61-9E25-5142-A58B-F7D9B42D7B3F}" destId="{CB6ADAD4-3BB8-E841-AC39-EEE0F29F8C42}" srcOrd="0" destOrd="0" parTransId="{7BC5C2FD-C7CE-4C4C-A8BD-A25142502A93}" sibTransId="{C4F3488E-B7A3-4740-BD9F-95CD7A9BE11F}"/>
    <dgm:cxn modelId="{FCE915A2-88DB-384C-A6EF-0337535DEFEE}" type="presOf" srcId="{40CB8E73-76B6-614C-B353-008E34377930}" destId="{168A2798-317F-E747-A72C-2C5183D98C20}" srcOrd="0" destOrd="2" presId="urn:microsoft.com/office/officeart/2005/8/layout/list1"/>
    <dgm:cxn modelId="{34AA29A5-0DDF-FD46-AF48-460C26A4801F}" type="presOf" srcId="{047085D1-8FC7-7A4A-9880-072C8319BEB8}" destId="{168A2798-317F-E747-A72C-2C5183D98C20}" srcOrd="0" destOrd="1" presId="urn:microsoft.com/office/officeart/2005/8/layout/list1"/>
    <dgm:cxn modelId="{F3ECCEA6-E1F3-8F4E-9909-27A81D6E1807}" type="presOf" srcId="{C98E3AFF-F6E7-D04D-9371-2040D003DD99}" destId="{A8B2C737-7ACA-4C47-A210-C272C3E54BC2}" srcOrd="1" destOrd="0" presId="urn:microsoft.com/office/officeart/2005/8/layout/list1"/>
    <dgm:cxn modelId="{EFC477AD-D5CD-1A46-82FD-04ADA25EFC7A}" srcId="{C98E3AFF-F6E7-D04D-9371-2040D003DD99}" destId="{DF1E8A91-12AA-5C4D-81ED-9F7662973621}" srcOrd="2" destOrd="0" parTransId="{21D480F4-B5DB-F64F-B576-1405F923F602}" sibTransId="{9D1BBA7E-E715-8B4F-B1B6-6379006DA103}"/>
    <dgm:cxn modelId="{C642B9AF-5DE5-D647-AE79-13A71CBBC416}" type="presOf" srcId="{CB6ADAD4-3BB8-E841-AC39-EEE0F29F8C42}" destId="{E4D6123A-0BF3-8B42-AACE-3E0C1682EED7}" srcOrd="1" destOrd="0" presId="urn:microsoft.com/office/officeart/2005/8/layout/list1"/>
    <dgm:cxn modelId="{063887B8-C03B-F84F-8B30-30BDAF2B2324}" srcId="{CB6ADAD4-3BB8-E841-AC39-EEE0F29F8C42}" destId="{047085D1-8FC7-7A4A-9880-072C8319BEB8}" srcOrd="1" destOrd="0" parTransId="{D0D29A74-53E8-6847-BFD2-8DFE646D98B4}" sibTransId="{37F307D1-BC4F-044B-AF07-217973BB0A3A}"/>
    <dgm:cxn modelId="{740078BA-7A29-D645-B5C7-DD052D064C3D}" srcId="{CB6ADAD4-3BB8-E841-AC39-EEE0F29F8C42}" destId="{ACE807D0-1BFE-0A4B-88B7-D6E4995F765A}" srcOrd="0" destOrd="0" parTransId="{A803464B-40EB-0C47-9FFD-9A6C97E4A323}" sibTransId="{CD3226A8-7F4F-174E-8352-232D7EEC82F3}"/>
    <dgm:cxn modelId="{7779D6BA-8FAD-764E-8853-8E0D4F2635E2}" type="presOf" srcId="{DF1E8A91-12AA-5C4D-81ED-9F7662973621}" destId="{BFC7D280-0F3E-4445-A6B4-4AA9F811322D}" srcOrd="0" destOrd="2" presId="urn:microsoft.com/office/officeart/2005/8/layout/list1"/>
    <dgm:cxn modelId="{F087B5CA-2B83-2A4E-820E-40503803B4AB}" srcId="{C98E3AFF-F6E7-D04D-9371-2040D003DD99}" destId="{7BE86DD5-0181-C84E-B9A4-8FA5D43353AB}" srcOrd="0" destOrd="0" parTransId="{3897AB6B-4CAC-F240-881F-F1D9CD72DACA}" sibTransId="{C9E59F03-1B18-4649-8ADB-222B6CF6232A}"/>
    <dgm:cxn modelId="{2342F3D6-6AAE-6E42-A432-6E6E60E6B6CA}" type="presOf" srcId="{A12E8302-F307-2242-9C49-7918282325DC}" destId="{168A2798-317F-E747-A72C-2C5183D98C20}" srcOrd="0" destOrd="6" presId="urn:microsoft.com/office/officeart/2005/8/layout/list1"/>
    <dgm:cxn modelId="{5D59AEF4-2A39-4D49-B936-B1EBEA66D500}" srcId="{C98E3AFF-F6E7-D04D-9371-2040D003DD99}" destId="{C7714355-4081-2946-A0F2-1AA882D41CBF}" srcOrd="4" destOrd="0" parTransId="{9A02D4ED-0750-9D48-B030-8041B4B3FA2C}" sibTransId="{647EF532-CE05-6B42-9CDC-E29EA76D4BEA}"/>
    <dgm:cxn modelId="{962CF0FD-7732-5242-B00B-549F6167AB25}" type="presOf" srcId="{7134E012-6AC0-FB40-AA8B-1A37654C9549}" destId="{168A2798-317F-E747-A72C-2C5183D98C20}" srcOrd="0" destOrd="4" presId="urn:microsoft.com/office/officeart/2005/8/layout/list1"/>
    <dgm:cxn modelId="{C01CAE78-796B-0A40-9D2E-0E360C0AB946}" type="presParOf" srcId="{20DC3686-C10B-C349-838F-212CFA89D1F3}" destId="{09DDFE5A-7004-4844-97F3-BDF16342CA60}" srcOrd="0" destOrd="0" presId="urn:microsoft.com/office/officeart/2005/8/layout/list1"/>
    <dgm:cxn modelId="{4116B5BA-C2A1-B94B-9E37-05FE00E5F91C}" type="presParOf" srcId="{09DDFE5A-7004-4844-97F3-BDF16342CA60}" destId="{B0996E94-540C-F04D-8AC6-486BC4F374E6}" srcOrd="0" destOrd="0" presId="urn:microsoft.com/office/officeart/2005/8/layout/list1"/>
    <dgm:cxn modelId="{21248E7A-AC92-0D4D-A4E4-DBBED50E7EF7}" type="presParOf" srcId="{09DDFE5A-7004-4844-97F3-BDF16342CA60}" destId="{E4D6123A-0BF3-8B42-AACE-3E0C1682EED7}" srcOrd="1" destOrd="0" presId="urn:microsoft.com/office/officeart/2005/8/layout/list1"/>
    <dgm:cxn modelId="{BC863A6A-BE01-BC43-B903-03BCFBD7BAD8}" type="presParOf" srcId="{20DC3686-C10B-C349-838F-212CFA89D1F3}" destId="{6347DA51-EA3E-EC48-9F5C-2DE098AA74A4}" srcOrd="1" destOrd="0" presId="urn:microsoft.com/office/officeart/2005/8/layout/list1"/>
    <dgm:cxn modelId="{BCF1EF82-3A74-D745-8977-2914DDE6CA9C}" type="presParOf" srcId="{20DC3686-C10B-C349-838F-212CFA89D1F3}" destId="{168A2798-317F-E747-A72C-2C5183D98C20}" srcOrd="2" destOrd="0" presId="urn:microsoft.com/office/officeart/2005/8/layout/list1"/>
    <dgm:cxn modelId="{C2E11DF7-7E7E-B54B-AFF9-6A602F565FBE}" type="presParOf" srcId="{20DC3686-C10B-C349-838F-212CFA89D1F3}" destId="{8FD7D73D-FD80-C241-814E-B93714E630CF}" srcOrd="3" destOrd="0" presId="urn:microsoft.com/office/officeart/2005/8/layout/list1"/>
    <dgm:cxn modelId="{6C7EFF20-82D0-C649-B971-7999C2395730}" type="presParOf" srcId="{20DC3686-C10B-C349-838F-212CFA89D1F3}" destId="{AB916262-EE22-E545-B100-C06740B8A161}" srcOrd="4" destOrd="0" presId="urn:microsoft.com/office/officeart/2005/8/layout/list1"/>
    <dgm:cxn modelId="{1B112337-6273-DA48-8BCE-494EDD2172F9}" type="presParOf" srcId="{AB916262-EE22-E545-B100-C06740B8A161}" destId="{33969D24-3D74-8842-A763-FE52BA6F2298}" srcOrd="0" destOrd="0" presId="urn:microsoft.com/office/officeart/2005/8/layout/list1"/>
    <dgm:cxn modelId="{F50F6005-D62D-5442-8465-1D124A063ED3}" type="presParOf" srcId="{AB916262-EE22-E545-B100-C06740B8A161}" destId="{A8B2C737-7ACA-4C47-A210-C272C3E54BC2}" srcOrd="1" destOrd="0" presId="urn:microsoft.com/office/officeart/2005/8/layout/list1"/>
    <dgm:cxn modelId="{13865472-8FAD-C348-A8ED-A82FAA528703}" type="presParOf" srcId="{20DC3686-C10B-C349-838F-212CFA89D1F3}" destId="{CC87BACE-5A4D-F84F-AA5E-38DBD93D3054}" srcOrd="5" destOrd="0" presId="urn:microsoft.com/office/officeart/2005/8/layout/list1"/>
    <dgm:cxn modelId="{C1CEC122-B5DA-EC43-87F0-D225867EC3CD}" type="presParOf" srcId="{20DC3686-C10B-C349-838F-212CFA89D1F3}" destId="{BFC7D280-0F3E-4445-A6B4-4AA9F811322D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D5F8B61-9E25-5142-A58B-F7D9B42D7B3F}" type="doc">
      <dgm:prSet loTypeId="urn:microsoft.com/office/officeart/2005/8/layout/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B6ADAD4-3BB8-E841-AC39-EEE0F29F8C42}">
      <dgm:prSet phldrT="[Text]"/>
      <dgm:spPr/>
      <dgm:t>
        <a:bodyPr/>
        <a:lstStyle/>
        <a:p>
          <a:pPr rtl="0"/>
          <a:r>
            <a:rPr lang="en-US" dirty="0"/>
            <a:t>Parameter Saving Calculations</a:t>
          </a:r>
        </a:p>
      </dgm:t>
    </dgm:pt>
    <dgm:pt modelId="{7BC5C2FD-C7CE-4C4C-A8BD-A25142502A93}" type="parTrans" cxnId="{2D67F69B-345D-DE4B-90BE-23D1BB4E0122}">
      <dgm:prSet/>
      <dgm:spPr/>
      <dgm:t>
        <a:bodyPr/>
        <a:lstStyle/>
        <a:p>
          <a:endParaRPr lang="en-US"/>
        </a:p>
      </dgm:t>
    </dgm:pt>
    <dgm:pt modelId="{C4F3488E-B7A3-4740-BD9F-95CD7A9BE11F}" type="sibTrans" cxnId="{2D67F69B-345D-DE4B-90BE-23D1BB4E0122}">
      <dgm:prSet/>
      <dgm:spPr/>
      <dgm:t>
        <a:bodyPr/>
        <a:lstStyle/>
        <a:p>
          <a:endParaRPr lang="en-US"/>
        </a:p>
      </dgm:t>
    </dgm:pt>
    <dgm:pt modelId="{ACE807D0-1BFE-0A4B-88B7-D6E4995F765A}">
      <dgm:prSet phldrT="[Text]" custT="1"/>
      <dgm:spPr>
        <a:blipFill>
          <a:blip xmlns:r="http://schemas.openxmlformats.org/officeDocument/2006/relationships" r:embed="rId1"/>
          <a:stretch>
            <a:fillRect b="-524"/>
          </a:stretch>
        </a:blipFill>
      </dgm:spPr>
      <dgm:t>
        <a:bodyPr/>
        <a:lstStyle/>
        <a:p>
          <a:r>
            <a:rPr lang="en-SA">
              <a:noFill/>
            </a:rPr>
            <a:t> </a:t>
          </a:r>
        </a:p>
      </dgm:t>
    </dgm:pt>
    <dgm:pt modelId="{A803464B-40EB-0C47-9FFD-9A6C97E4A323}" type="parTrans" cxnId="{740078BA-7A29-D645-B5C7-DD052D064C3D}">
      <dgm:prSet/>
      <dgm:spPr/>
      <dgm:t>
        <a:bodyPr/>
        <a:lstStyle/>
        <a:p>
          <a:endParaRPr lang="en-US"/>
        </a:p>
      </dgm:t>
    </dgm:pt>
    <dgm:pt modelId="{CD3226A8-7F4F-174E-8352-232D7EEC82F3}" type="sibTrans" cxnId="{740078BA-7A29-D645-B5C7-DD052D064C3D}">
      <dgm:prSet/>
      <dgm:spPr/>
      <dgm:t>
        <a:bodyPr/>
        <a:lstStyle/>
        <a:p>
          <a:endParaRPr lang="en-US"/>
        </a:p>
      </dgm:t>
    </dgm:pt>
    <dgm:pt modelId="{C98E3AFF-F6E7-D04D-9371-2040D003DD99}">
      <dgm:prSet phldrT="[Text]"/>
      <dgm:spPr/>
      <dgm:t>
        <a:bodyPr/>
        <a:lstStyle/>
        <a:p>
          <a:pPr rtl="0"/>
          <a:r>
            <a:rPr lang="en-US" dirty="0"/>
            <a:t>Where </a:t>
          </a:r>
          <a:r>
            <a:rPr lang="en-US" dirty="0" err="1"/>
            <a:t>LoRA</a:t>
          </a:r>
          <a:r>
            <a:rPr lang="en-US" dirty="0"/>
            <a:t> is added usually</a:t>
          </a:r>
        </a:p>
      </dgm:t>
    </dgm:pt>
    <dgm:pt modelId="{B1A95536-80D5-8746-B8D6-B918D9D4655F}" type="parTrans" cxnId="{0082565B-B3A4-6E40-A2DC-64C6235E3ACF}">
      <dgm:prSet/>
      <dgm:spPr/>
      <dgm:t>
        <a:bodyPr/>
        <a:lstStyle/>
        <a:p>
          <a:endParaRPr lang="en-US"/>
        </a:p>
      </dgm:t>
    </dgm:pt>
    <dgm:pt modelId="{28CBE140-2B84-914F-AC49-89A63D5EFE92}" type="sibTrans" cxnId="{0082565B-B3A4-6E40-A2DC-64C6235E3ACF}">
      <dgm:prSet/>
      <dgm:spPr/>
      <dgm:t>
        <a:bodyPr/>
        <a:lstStyle/>
        <a:p>
          <a:endParaRPr lang="en-US"/>
        </a:p>
      </dgm:t>
    </dgm:pt>
    <dgm:pt modelId="{7BE86DD5-0181-C84E-B9A4-8FA5D43353AB}">
      <dgm:prSet phldrT="[Text]" custT="1"/>
      <dgm:spPr/>
      <dgm:t>
        <a:bodyPr/>
        <a:lstStyle/>
        <a:p>
          <a:pPr rtl="0"/>
          <a:r>
            <a:rPr lang="en-US" sz="1700" b="1" dirty="0"/>
            <a:t>Cheap + strong baseline:</a:t>
          </a:r>
          <a:r>
            <a:rPr lang="en-US" sz="1700" dirty="0"/>
            <a:t> </a:t>
          </a:r>
          <a:r>
            <a:rPr lang="en-US" sz="1700" dirty="0" err="1"/>
            <a:t>LoRA</a:t>
          </a:r>
          <a:r>
            <a:rPr lang="en-US" sz="1700" dirty="0"/>
            <a:t> on Q and V</a:t>
          </a:r>
        </a:p>
      </dgm:t>
    </dgm:pt>
    <dgm:pt modelId="{3897AB6B-4CAC-F240-881F-F1D9CD72DACA}" type="parTrans" cxnId="{F087B5CA-2B83-2A4E-820E-40503803B4AB}">
      <dgm:prSet/>
      <dgm:spPr/>
      <dgm:t>
        <a:bodyPr/>
        <a:lstStyle/>
        <a:p>
          <a:endParaRPr lang="en-US"/>
        </a:p>
      </dgm:t>
    </dgm:pt>
    <dgm:pt modelId="{C9E59F03-1B18-4649-8ADB-222B6CF6232A}" type="sibTrans" cxnId="{F087B5CA-2B83-2A4E-820E-40503803B4AB}">
      <dgm:prSet/>
      <dgm:spPr/>
      <dgm:t>
        <a:bodyPr/>
        <a:lstStyle/>
        <a:p>
          <a:endParaRPr lang="en-US"/>
        </a:p>
      </dgm:t>
    </dgm:pt>
    <dgm:pt modelId="{63F55321-07BF-6447-8DFC-D6EB0F68D89A}">
      <dgm:prSet phldrT="[Text]" custT="1"/>
      <dgm:spPr/>
      <dgm:t>
        <a:bodyPr/>
        <a:lstStyle/>
        <a:p>
          <a:r>
            <a:rPr lang="en-US" sz="1700" b="1" dirty="0"/>
            <a:t>Stronger:</a:t>
          </a:r>
          <a:r>
            <a:rPr lang="en-US" sz="1700" dirty="0"/>
            <a:t> </a:t>
          </a:r>
          <a:r>
            <a:rPr lang="en-US" sz="1700" dirty="0" err="1"/>
            <a:t>LoRA</a:t>
          </a:r>
          <a:r>
            <a:rPr lang="en-US" sz="1700" dirty="0"/>
            <a:t> on Q, K, V, O</a:t>
          </a:r>
        </a:p>
      </dgm:t>
    </dgm:pt>
    <dgm:pt modelId="{2FDBBF61-88B9-0142-9A35-FC98F13EB7D1}" type="parTrans" cxnId="{7DB8BA01-F175-AA4B-B4E9-5C9A13E22AC0}">
      <dgm:prSet/>
      <dgm:spPr/>
      <dgm:t>
        <a:bodyPr/>
        <a:lstStyle/>
        <a:p>
          <a:endParaRPr lang="en-US"/>
        </a:p>
      </dgm:t>
    </dgm:pt>
    <dgm:pt modelId="{AE0B3BF5-2283-F847-989F-13AFF9A093A1}" type="sibTrans" cxnId="{7DB8BA01-F175-AA4B-B4E9-5C9A13E22AC0}">
      <dgm:prSet/>
      <dgm:spPr/>
      <dgm:t>
        <a:bodyPr/>
        <a:lstStyle/>
        <a:p>
          <a:endParaRPr lang="en-US"/>
        </a:p>
      </dgm:t>
    </dgm:pt>
    <dgm:pt modelId="{047085D1-8FC7-7A4A-9880-072C8319BEB8}">
      <dgm:prSet custT="1"/>
      <dgm:spPr/>
      <dgm:t>
        <a:bodyPr/>
        <a:lstStyle/>
        <a:p>
          <a:r>
            <a:rPr lang="en-SA">
              <a:noFill/>
            </a:rPr>
            <a:t> </a:t>
          </a:r>
        </a:p>
      </dgm:t>
    </dgm:pt>
    <dgm:pt modelId="{D0D29A74-53E8-6847-BFD2-8DFE646D98B4}" type="parTrans" cxnId="{063887B8-C03B-F84F-8B30-30BDAF2B2324}">
      <dgm:prSet/>
      <dgm:spPr/>
      <dgm:t>
        <a:bodyPr/>
        <a:lstStyle/>
        <a:p>
          <a:endParaRPr lang="en-US"/>
        </a:p>
      </dgm:t>
    </dgm:pt>
    <dgm:pt modelId="{37F307D1-BC4F-044B-AF07-217973BB0A3A}" type="sibTrans" cxnId="{063887B8-C03B-F84F-8B30-30BDAF2B2324}">
      <dgm:prSet/>
      <dgm:spPr/>
      <dgm:t>
        <a:bodyPr/>
        <a:lstStyle/>
        <a:p>
          <a:endParaRPr lang="en-US"/>
        </a:p>
      </dgm:t>
    </dgm:pt>
    <dgm:pt modelId="{40CB8E73-76B6-614C-B353-008E34377930}">
      <dgm:prSet custT="1"/>
      <dgm:spPr/>
      <dgm:t>
        <a:bodyPr/>
        <a:lstStyle/>
        <a:p>
          <a:r>
            <a:rPr lang="en-SA">
              <a:noFill/>
            </a:rPr>
            <a:t> </a:t>
          </a:r>
        </a:p>
      </dgm:t>
    </dgm:pt>
    <dgm:pt modelId="{3FE6885B-9788-364F-B610-42C2969287CA}" type="parTrans" cxnId="{4FBD3769-D31F-3041-AD7E-BB8BBC7A1682}">
      <dgm:prSet/>
      <dgm:spPr/>
      <dgm:t>
        <a:bodyPr/>
        <a:lstStyle/>
        <a:p>
          <a:endParaRPr lang="en-US"/>
        </a:p>
      </dgm:t>
    </dgm:pt>
    <dgm:pt modelId="{61159895-177F-B944-852A-4F541FD1D6EB}" type="sibTrans" cxnId="{4FBD3769-D31F-3041-AD7E-BB8BBC7A1682}">
      <dgm:prSet/>
      <dgm:spPr/>
      <dgm:t>
        <a:bodyPr/>
        <a:lstStyle/>
        <a:p>
          <a:endParaRPr lang="en-US"/>
        </a:p>
      </dgm:t>
    </dgm:pt>
    <dgm:pt modelId="{3520D071-7A6C-264B-A88C-CD590FC73BBD}">
      <dgm:prSet custT="1"/>
      <dgm:spPr/>
      <dgm:t>
        <a:bodyPr/>
        <a:lstStyle/>
        <a:p>
          <a:r>
            <a:rPr lang="en-SA">
              <a:noFill/>
            </a:rPr>
            <a:t> </a:t>
          </a:r>
        </a:p>
      </dgm:t>
    </dgm:pt>
    <dgm:pt modelId="{87EBC1CA-768A-2145-8448-18E7EDAADAD6}" type="parTrans" cxnId="{237D897D-E139-9A47-8355-D1FE13C3782C}">
      <dgm:prSet/>
      <dgm:spPr/>
      <dgm:t>
        <a:bodyPr/>
        <a:lstStyle/>
        <a:p>
          <a:endParaRPr lang="en-US"/>
        </a:p>
      </dgm:t>
    </dgm:pt>
    <dgm:pt modelId="{E42540B4-E5B0-5F44-B768-A4739F6C98C1}" type="sibTrans" cxnId="{237D897D-E139-9A47-8355-D1FE13C3782C}">
      <dgm:prSet/>
      <dgm:spPr/>
      <dgm:t>
        <a:bodyPr/>
        <a:lstStyle/>
        <a:p>
          <a:endParaRPr lang="en-US"/>
        </a:p>
      </dgm:t>
    </dgm:pt>
    <dgm:pt modelId="{7134E012-6AC0-FB40-AA8B-1A37654C9549}">
      <dgm:prSet custT="1"/>
      <dgm:spPr/>
      <dgm:t>
        <a:bodyPr/>
        <a:lstStyle/>
        <a:p>
          <a:r>
            <a:rPr lang="en-SA">
              <a:noFill/>
            </a:rPr>
            <a:t> </a:t>
          </a:r>
        </a:p>
      </dgm:t>
    </dgm:pt>
    <dgm:pt modelId="{39EE58E7-2E05-2845-B5C6-A8E5BF113B02}" type="parTrans" cxnId="{D6EDC818-FE1F-444A-B758-220F8E99DA06}">
      <dgm:prSet/>
      <dgm:spPr/>
      <dgm:t>
        <a:bodyPr/>
        <a:lstStyle/>
        <a:p>
          <a:endParaRPr lang="en-US"/>
        </a:p>
      </dgm:t>
    </dgm:pt>
    <dgm:pt modelId="{500213E4-E159-ED4A-B1D1-200005C9C80F}" type="sibTrans" cxnId="{D6EDC818-FE1F-444A-B758-220F8E99DA06}">
      <dgm:prSet/>
      <dgm:spPr/>
      <dgm:t>
        <a:bodyPr/>
        <a:lstStyle/>
        <a:p>
          <a:endParaRPr lang="en-US"/>
        </a:p>
      </dgm:t>
    </dgm:pt>
    <dgm:pt modelId="{2C1BE27B-4C9F-D24E-BFCB-D02EA75F5E6E}">
      <dgm:prSet custT="1"/>
      <dgm:spPr/>
      <dgm:t>
        <a:bodyPr/>
        <a:lstStyle/>
        <a:p>
          <a:r>
            <a:rPr lang="en-SA">
              <a:noFill/>
            </a:rPr>
            <a:t> </a:t>
          </a:r>
        </a:p>
      </dgm:t>
    </dgm:pt>
    <dgm:pt modelId="{41E0290A-253D-614F-89BE-1012F196447F}" type="parTrans" cxnId="{C7E7C85E-CEFB-7444-BAF6-EFD7B38BF98B}">
      <dgm:prSet/>
      <dgm:spPr/>
      <dgm:t>
        <a:bodyPr/>
        <a:lstStyle/>
        <a:p>
          <a:endParaRPr lang="en-US"/>
        </a:p>
      </dgm:t>
    </dgm:pt>
    <dgm:pt modelId="{7848B263-F62B-5F42-A393-828DBBC300F4}" type="sibTrans" cxnId="{C7E7C85E-CEFB-7444-BAF6-EFD7B38BF98B}">
      <dgm:prSet/>
      <dgm:spPr/>
      <dgm:t>
        <a:bodyPr/>
        <a:lstStyle/>
        <a:p>
          <a:endParaRPr lang="en-US"/>
        </a:p>
      </dgm:t>
    </dgm:pt>
    <dgm:pt modelId="{A12E8302-F307-2242-9C49-7918282325DC}">
      <dgm:prSet custT="1"/>
      <dgm:spPr/>
      <dgm:t>
        <a:bodyPr/>
        <a:lstStyle/>
        <a:p>
          <a:r>
            <a:rPr lang="en-SA">
              <a:noFill/>
            </a:rPr>
            <a:t> </a:t>
          </a:r>
        </a:p>
      </dgm:t>
    </dgm:pt>
    <dgm:pt modelId="{16C526C9-F304-524D-A366-25AE8689D7BC}" type="parTrans" cxnId="{FCF2A14C-D020-4848-B312-5367864D0512}">
      <dgm:prSet/>
      <dgm:spPr/>
      <dgm:t>
        <a:bodyPr/>
        <a:lstStyle/>
        <a:p>
          <a:endParaRPr lang="en-US"/>
        </a:p>
      </dgm:t>
    </dgm:pt>
    <dgm:pt modelId="{C980D465-CE45-8A42-B312-827BCCE8508C}" type="sibTrans" cxnId="{FCF2A14C-D020-4848-B312-5367864D0512}">
      <dgm:prSet/>
      <dgm:spPr/>
      <dgm:t>
        <a:bodyPr/>
        <a:lstStyle/>
        <a:p>
          <a:endParaRPr lang="en-US"/>
        </a:p>
      </dgm:t>
    </dgm:pt>
    <dgm:pt modelId="{DF1E8A91-12AA-5C4D-81ED-9F7662973621}">
      <dgm:prSet phldrT="[Text]" custT="1"/>
      <dgm:spPr/>
      <dgm:t>
        <a:bodyPr/>
        <a:lstStyle/>
        <a:p>
          <a:pPr rtl="0"/>
          <a:r>
            <a:rPr lang="en-US" sz="1700" b="1" dirty="0"/>
            <a:t>Even stronger:</a:t>
          </a:r>
          <a:r>
            <a:rPr lang="en-US" sz="1700" dirty="0"/>
            <a:t> </a:t>
          </a:r>
          <a:r>
            <a:rPr lang="en-US" sz="1700" dirty="0" err="1"/>
            <a:t>LoRA</a:t>
          </a:r>
          <a:r>
            <a:rPr lang="en-US" sz="1700" dirty="0"/>
            <a:t> on attention + MLP projections</a:t>
          </a:r>
        </a:p>
      </dgm:t>
    </dgm:pt>
    <dgm:pt modelId="{21D480F4-B5DB-F64F-B576-1405F923F602}" type="parTrans" cxnId="{EFC477AD-D5CD-1A46-82FD-04ADA25EFC7A}">
      <dgm:prSet/>
      <dgm:spPr/>
      <dgm:t>
        <a:bodyPr/>
        <a:lstStyle/>
        <a:p>
          <a:endParaRPr lang="en-US"/>
        </a:p>
      </dgm:t>
    </dgm:pt>
    <dgm:pt modelId="{9D1BBA7E-E715-8B4F-B1B6-6379006DA103}" type="sibTrans" cxnId="{EFC477AD-D5CD-1A46-82FD-04ADA25EFC7A}">
      <dgm:prSet/>
      <dgm:spPr/>
      <dgm:t>
        <a:bodyPr/>
        <a:lstStyle/>
        <a:p>
          <a:endParaRPr lang="en-US"/>
        </a:p>
      </dgm:t>
    </dgm:pt>
    <dgm:pt modelId="{BAD81813-62F2-6046-AD84-B282ACE1F3F1}">
      <dgm:prSet phldrT="[Text]" custT="1"/>
      <dgm:spPr/>
      <dgm:t>
        <a:bodyPr/>
        <a:lstStyle/>
        <a:p>
          <a:pPr rtl="0"/>
          <a:r>
            <a:rPr lang="en-US" sz="1700" dirty="0"/>
            <a:t>The output head is also trained</a:t>
          </a:r>
        </a:p>
      </dgm:t>
    </dgm:pt>
    <dgm:pt modelId="{A2469CE2-B9DE-1A4C-BB1B-F97054E1EDBA}" type="parTrans" cxnId="{D044FC07-1568-4347-B1D5-DAF4CE13F62D}">
      <dgm:prSet/>
      <dgm:spPr/>
      <dgm:t>
        <a:bodyPr/>
        <a:lstStyle/>
        <a:p>
          <a:endParaRPr lang="en-US"/>
        </a:p>
      </dgm:t>
    </dgm:pt>
    <dgm:pt modelId="{60F55EF1-6E03-2B4A-B50A-B343F1B217D8}" type="sibTrans" cxnId="{D044FC07-1568-4347-B1D5-DAF4CE13F62D}">
      <dgm:prSet/>
      <dgm:spPr/>
      <dgm:t>
        <a:bodyPr/>
        <a:lstStyle/>
        <a:p>
          <a:endParaRPr lang="en-US"/>
        </a:p>
      </dgm:t>
    </dgm:pt>
    <dgm:pt modelId="{C7714355-4081-2946-A0F2-1AA882D41CBF}">
      <dgm:prSet phldrT="[Text]" custT="1"/>
      <dgm:spPr/>
      <dgm:t>
        <a:bodyPr/>
        <a:lstStyle/>
        <a:p>
          <a:pPr rtl="0"/>
          <a:r>
            <a:rPr lang="en-US" sz="1700" dirty="0"/>
            <a:t>Base model weights (all original Transformer weights) are frozen</a:t>
          </a:r>
        </a:p>
      </dgm:t>
    </dgm:pt>
    <dgm:pt modelId="{9A02D4ED-0750-9D48-B030-8041B4B3FA2C}" type="parTrans" cxnId="{5D59AEF4-2A39-4D49-B936-B1EBEA66D500}">
      <dgm:prSet/>
      <dgm:spPr/>
      <dgm:t>
        <a:bodyPr/>
        <a:lstStyle/>
        <a:p>
          <a:endParaRPr lang="en-US"/>
        </a:p>
      </dgm:t>
    </dgm:pt>
    <dgm:pt modelId="{647EF532-CE05-6B42-9CDC-E29EA76D4BEA}" type="sibTrans" cxnId="{5D59AEF4-2A39-4D49-B936-B1EBEA66D500}">
      <dgm:prSet/>
      <dgm:spPr/>
      <dgm:t>
        <a:bodyPr/>
        <a:lstStyle/>
        <a:p>
          <a:endParaRPr lang="en-US"/>
        </a:p>
      </dgm:t>
    </dgm:pt>
    <dgm:pt modelId="{20DC3686-C10B-C349-838F-212CFA89D1F3}" type="pres">
      <dgm:prSet presAssocID="{5D5F8B61-9E25-5142-A58B-F7D9B42D7B3F}" presName="linear" presStyleCnt="0">
        <dgm:presLayoutVars>
          <dgm:dir/>
          <dgm:animLvl val="lvl"/>
          <dgm:resizeHandles val="exact"/>
        </dgm:presLayoutVars>
      </dgm:prSet>
      <dgm:spPr/>
    </dgm:pt>
    <dgm:pt modelId="{09DDFE5A-7004-4844-97F3-BDF16342CA60}" type="pres">
      <dgm:prSet presAssocID="{CB6ADAD4-3BB8-E841-AC39-EEE0F29F8C42}" presName="parentLin" presStyleCnt="0"/>
      <dgm:spPr/>
    </dgm:pt>
    <dgm:pt modelId="{B0996E94-540C-F04D-8AC6-486BC4F374E6}" type="pres">
      <dgm:prSet presAssocID="{CB6ADAD4-3BB8-E841-AC39-EEE0F29F8C42}" presName="parentLeftMargin" presStyleLbl="node1" presStyleIdx="0" presStyleCnt="2"/>
      <dgm:spPr/>
    </dgm:pt>
    <dgm:pt modelId="{E4D6123A-0BF3-8B42-AACE-3E0C1682EED7}" type="pres">
      <dgm:prSet presAssocID="{CB6ADAD4-3BB8-E841-AC39-EEE0F29F8C4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347DA51-EA3E-EC48-9F5C-2DE098AA74A4}" type="pres">
      <dgm:prSet presAssocID="{CB6ADAD4-3BB8-E841-AC39-EEE0F29F8C42}" presName="negativeSpace" presStyleCnt="0"/>
      <dgm:spPr/>
    </dgm:pt>
    <dgm:pt modelId="{168A2798-317F-E747-A72C-2C5183D98C20}" type="pres">
      <dgm:prSet presAssocID="{CB6ADAD4-3BB8-E841-AC39-EEE0F29F8C42}" presName="childText" presStyleLbl="conFgAcc1" presStyleIdx="0" presStyleCnt="2">
        <dgm:presLayoutVars>
          <dgm:bulletEnabled val="1"/>
        </dgm:presLayoutVars>
      </dgm:prSet>
      <dgm:spPr/>
    </dgm:pt>
    <dgm:pt modelId="{8FD7D73D-FD80-C241-814E-B93714E630CF}" type="pres">
      <dgm:prSet presAssocID="{C4F3488E-B7A3-4740-BD9F-95CD7A9BE11F}" presName="spaceBetweenRectangles" presStyleCnt="0"/>
      <dgm:spPr/>
    </dgm:pt>
    <dgm:pt modelId="{AB916262-EE22-E545-B100-C06740B8A161}" type="pres">
      <dgm:prSet presAssocID="{C98E3AFF-F6E7-D04D-9371-2040D003DD99}" presName="parentLin" presStyleCnt="0"/>
      <dgm:spPr/>
    </dgm:pt>
    <dgm:pt modelId="{33969D24-3D74-8842-A763-FE52BA6F2298}" type="pres">
      <dgm:prSet presAssocID="{C98E3AFF-F6E7-D04D-9371-2040D003DD99}" presName="parentLeftMargin" presStyleLbl="node1" presStyleIdx="0" presStyleCnt="2"/>
      <dgm:spPr/>
    </dgm:pt>
    <dgm:pt modelId="{A8B2C737-7ACA-4C47-A210-C272C3E54BC2}" type="pres">
      <dgm:prSet presAssocID="{C98E3AFF-F6E7-D04D-9371-2040D003DD9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C87BACE-5A4D-F84F-AA5E-38DBD93D3054}" type="pres">
      <dgm:prSet presAssocID="{C98E3AFF-F6E7-D04D-9371-2040D003DD99}" presName="negativeSpace" presStyleCnt="0"/>
      <dgm:spPr/>
    </dgm:pt>
    <dgm:pt modelId="{BFC7D280-0F3E-4445-A6B4-4AA9F811322D}" type="pres">
      <dgm:prSet presAssocID="{C98E3AFF-F6E7-D04D-9371-2040D003DD99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7DB8BA01-F175-AA4B-B4E9-5C9A13E22AC0}" srcId="{C98E3AFF-F6E7-D04D-9371-2040D003DD99}" destId="{63F55321-07BF-6447-8DFC-D6EB0F68D89A}" srcOrd="1" destOrd="0" parTransId="{2FDBBF61-88B9-0142-9A35-FC98F13EB7D1}" sibTransId="{AE0B3BF5-2283-F847-989F-13AFF9A093A1}"/>
    <dgm:cxn modelId="{80577C02-3955-2643-BDE3-C688D5C22A2B}" type="presOf" srcId="{5D5F8B61-9E25-5142-A58B-F7D9B42D7B3F}" destId="{20DC3686-C10B-C349-838F-212CFA89D1F3}" srcOrd="0" destOrd="0" presId="urn:microsoft.com/office/officeart/2005/8/layout/list1"/>
    <dgm:cxn modelId="{719D9B02-7E68-5D47-B3A1-B641561A5224}" type="presOf" srcId="{BAD81813-62F2-6046-AD84-B282ACE1F3F1}" destId="{BFC7D280-0F3E-4445-A6B4-4AA9F811322D}" srcOrd="0" destOrd="3" presId="urn:microsoft.com/office/officeart/2005/8/layout/list1"/>
    <dgm:cxn modelId="{D044FC07-1568-4347-B1D5-DAF4CE13F62D}" srcId="{C98E3AFF-F6E7-D04D-9371-2040D003DD99}" destId="{BAD81813-62F2-6046-AD84-B282ACE1F3F1}" srcOrd="3" destOrd="0" parTransId="{A2469CE2-B9DE-1A4C-BB1B-F97054E1EDBA}" sibTransId="{60F55EF1-6E03-2B4A-B50A-B343F1B217D8}"/>
    <dgm:cxn modelId="{D6EDC818-FE1F-444A-B758-220F8E99DA06}" srcId="{CB6ADAD4-3BB8-E841-AC39-EEE0F29F8C42}" destId="{7134E012-6AC0-FB40-AA8B-1A37654C9549}" srcOrd="4" destOrd="0" parTransId="{39EE58E7-2E05-2845-B5C6-A8E5BF113B02}" sibTransId="{500213E4-E159-ED4A-B1D1-200005C9C80F}"/>
    <dgm:cxn modelId="{FBDF7725-4BC0-7642-A415-8DC82D03911B}" type="presOf" srcId="{ACE807D0-1BFE-0A4B-88B7-D6E4995F765A}" destId="{168A2798-317F-E747-A72C-2C5183D98C20}" srcOrd="0" destOrd="0" presId="urn:microsoft.com/office/officeart/2005/8/layout/list1"/>
    <dgm:cxn modelId="{16724F2D-790B-264B-B49C-954B7531738D}" type="presOf" srcId="{7BE86DD5-0181-C84E-B9A4-8FA5D43353AB}" destId="{BFC7D280-0F3E-4445-A6B4-4AA9F811322D}" srcOrd="0" destOrd="0" presId="urn:microsoft.com/office/officeart/2005/8/layout/list1"/>
    <dgm:cxn modelId="{D9852336-D0A1-7245-8296-ECAA471A0CE8}" type="presOf" srcId="{2C1BE27B-4C9F-D24E-BFCB-D02EA75F5E6E}" destId="{168A2798-317F-E747-A72C-2C5183D98C20}" srcOrd="0" destOrd="5" presId="urn:microsoft.com/office/officeart/2005/8/layout/list1"/>
    <dgm:cxn modelId="{E60F7D3D-7801-C44E-A161-0E0AF5E7844E}" type="presOf" srcId="{CB6ADAD4-3BB8-E841-AC39-EEE0F29F8C42}" destId="{B0996E94-540C-F04D-8AC6-486BC4F374E6}" srcOrd="0" destOrd="0" presId="urn:microsoft.com/office/officeart/2005/8/layout/list1"/>
    <dgm:cxn modelId="{77B5EA4B-758B-9D46-9FD5-2FED2D674F3D}" type="presOf" srcId="{3520D071-7A6C-264B-A88C-CD590FC73BBD}" destId="{168A2798-317F-E747-A72C-2C5183D98C20}" srcOrd="0" destOrd="3" presId="urn:microsoft.com/office/officeart/2005/8/layout/list1"/>
    <dgm:cxn modelId="{FCF2A14C-D020-4848-B312-5367864D0512}" srcId="{CB6ADAD4-3BB8-E841-AC39-EEE0F29F8C42}" destId="{A12E8302-F307-2242-9C49-7918282325DC}" srcOrd="6" destOrd="0" parTransId="{16C526C9-F304-524D-A366-25AE8689D7BC}" sibTransId="{C980D465-CE45-8A42-B312-827BCCE8508C}"/>
    <dgm:cxn modelId="{76F84F5B-83D2-854C-976F-B4924B85CCA5}" type="presOf" srcId="{C98E3AFF-F6E7-D04D-9371-2040D003DD99}" destId="{33969D24-3D74-8842-A763-FE52BA6F2298}" srcOrd="0" destOrd="0" presId="urn:microsoft.com/office/officeart/2005/8/layout/list1"/>
    <dgm:cxn modelId="{0082565B-B3A4-6E40-A2DC-64C6235E3ACF}" srcId="{5D5F8B61-9E25-5142-A58B-F7D9B42D7B3F}" destId="{C98E3AFF-F6E7-D04D-9371-2040D003DD99}" srcOrd="1" destOrd="0" parTransId="{B1A95536-80D5-8746-B8D6-B918D9D4655F}" sibTransId="{28CBE140-2B84-914F-AC49-89A63D5EFE92}"/>
    <dgm:cxn modelId="{C7E7C85E-CEFB-7444-BAF6-EFD7B38BF98B}" srcId="{CB6ADAD4-3BB8-E841-AC39-EEE0F29F8C42}" destId="{2C1BE27B-4C9F-D24E-BFCB-D02EA75F5E6E}" srcOrd="5" destOrd="0" parTransId="{41E0290A-253D-614F-89BE-1012F196447F}" sibTransId="{7848B263-F62B-5F42-A393-828DBBC300F4}"/>
    <dgm:cxn modelId="{4FBD3769-D31F-3041-AD7E-BB8BBC7A1682}" srcId="{CB6ADAD4-3BB8-E841-AC39-EEE0F29F8C42}" destId="{40CB8E73-76B6-614C-B353-008E34377930}" srcOrd="2" destOrd="0" parTransId="{3FE6885B-9788-364F-B610-42C2969287CA}" sibTransId="{61159895-177F-B944-852A-4F541FD1D6EB}"/>
    <dgm:cxn modelId="{3091B26D-631A-2346-9777-9DB1ADDBD6AC}" type="presOf" srcId="{63F55321-07BF-6447-8DFC-D6EB0F68D89A}" destId="{BFC7D280-0F3E-4445-A6B4-4AA9F811322D}" srcOrd="0" destOrd="1" presId="urn:microsoft.com/office/officeart/2005/8/layout/list1"/>
    <dgm:cxn modelId="{D890D175-F335-CF4E-A3B0-3D0521ED895A}" type="presOf" srcId="{C7714355-4081-2946-A0F2-1AA882D41CBF}" destId="{BFC7D280-0F3E-4445-A6B4-4AA9F811322D}" srcOrd="0" destOrd="4" presId="urn:microsoft.com/office/officeart/2005/8/layout/list1"/>
    <dgm:cxn modelId="{237D897D-E139-9A47-8355-D1FE13C3782C}" srcId="{CB6ADAD4-3BB8-E841-AC39-EEE0F29F8C42}" destId="{3520D071-7A6C-264B-A88C-CD590FC73BBD}" srcOrd="3" destOrd="0" parTransId="{87EBC1CA-768A-2145-8448-18E7EDAADAD6}" sibTransId="{E42540B4-E5B0-5F44-B768-A4739F6C98C1}"/>
    <dgm:cxn modelId="{2D67F69B-345D-DE4B-90BE-23D1BB4E0122}" srcId="{5D5F8B61-9E25-5142-A58B-F7D9B42D7B3F}" destId="{CB6ADAD4-3BB8-E841-AC39-EEE0F29F8C42}" srcOrd="0" destOrd="0" parTransId="{7BC5C2FD-C7CE-4C4C-A8BD-A25142502A93}" sibTransId="{C4F3488E-B7A3-4740-BD9F-95CD7A9BE11F}"/>
    <dgm:cxn modelId="{FCE915A2-88DB-384C-A6EF-0337535DEFEE}" type="presOf" srcId="{40CB8E73-76B6-614C-B353-008E34377930}" destId="{168A2798-317F-E747-A72C-2C5183D98C20}" srcOrd="0" destOrd="2" presId="urn:microsoft.com/office/officeart/2005/8/layout/list1"/>
    <dgm:cxn modelId="{34AA29A5-0DDF-FD46-AF48-460C26A4801F}" type="presOf" srcId="{047085D1-8FC7-7A4A-9880-072C8319BEB8}" destId="{168A2798-317F-E747-A72C-2C5183D98C20}" srcOrd="0" destOrd="1" presId="urn:microsoft.com/office/officeart/2005/8/layout/list1"/>
    <dgm:cxn modelId="{F3ECCEA6-E1F3-8F4E-9909-27A81D6E1807}" type="presOf" srcId="{C98E3AFF-F6E7-D04D-9371-2040D003DD99}" destId="{A8B2C737-7ACA-4C47-A210-C272C3E54BC2}" srcOrd="1" destOrd="0" presId="urn:microsoft.com/office/officeart/2005/8/layout/list1"/>
    <dgm:cxn modelId="{EFC477AD-D5CD-1A46-82FD-04ADA25EFC7A}" srcId="{C98E3AFF-F6E7-D04D-9371-2040D003DD99}" destId="{DF1E8A91-12AA-5C4D-81ED-9F7662973621}" srcOrd="2" destOrd="0" parTransId="{21D480F4-B5DB-F64F-B576-1405F923F602}" sibTransId="{9D1BBA7E-E715-8B4F-B1B6-6379006DA103}"/>
    <dgm:cxn modelId="{C642B9AF-5DE5-D647-AE79-13A71CBBC416}" type="presOf" srcId="{CB6ADAD4-3BB8-E841-AC39-EEE0F29F8C42}" destId="{E4D6123A-0BF3-8B42-AACE-3E0C1682EED7}" srcOrd="1" destOrd="0" presId="urn:microsoft.com/office/officeart/2005/8/layout/list1"/>
    <dgm:cxn modelId="{063887B8-C03B-F84F-8B30-30BDAF2B2324}" srcId="{CB6ADAD4-3BB8-E841-AC39-EEE0F29F8C42}" destId="{047085D1-8FC7-7A4A-9880-072C8319BEB8}" srcOrd="1" destOrd="0" parTransId="{D0D29A74-53E8-6847-BFD2-8DFE646D98B4}" sibTransId="{37F307D1-BC4F-044B-AF07-217973BB0A3A}"/>
    <dgm:cxn modelId="{740078BA-7A29-D645-B5C7-DD052D064C3D}" srcId="{CB6ADAD4-3BB8-E841-AC39-EEE0F29F8C42}" destId="{ACE807D0-1BFE-0A4B-88B7-D6E4995F765A}" srcOrd="0" destOrd="0" parTransId="{A803464B-40EB-0C47-9FFD-9A6C97E4A323}" sibTransId="{CD3226A8-7F4F-174E-8352-232D7EEC82F3}"/>
    <dgm:cxn modelId="{7779D6BA-8FAD-764E-8853-8E0D4F2635E2}" type="presOf" srcId="{DF1E8A91-12AA-5C4D-81ED-9F7662973621}" destId="{BFC7D280-0F3E-4445-A6B4-4AA9F811322D}" srcOrd="0" destOrd="2" presId="urn:microsoft.com/office/officeart/2005/8/layout/list1"/>
    <dgm:cxn modelId="{F087B5CA-2B83-2A4E-820E-40503803B4AB}" srcId="{C98E3AFF-F6E7-D04D-9371-2040D003DD99}" destId="{7BE86DD5-0181-C84E-B9A4-8FA5D43353AB}" srcOrd="0" destOrd="0" parTransId="{3897AB6B-4CAC-F240-881F-F1D9CD72DACA}" sibTransId="{C9E59F03-1B18-4649-8ADB-222B6CF6232A}"/>
    <dgm:cxn modelId="{2342F3D6-6AAE-6E42-A432-6E6E60E6B6CA}" type="presOf" srcId="{A12E8302-F307-2242-9C49-7918282325DC}" destId="{168A2798-317F-E747-A72C-2C5183D98C20}" srcOrd="0" destOrd="6" presId="urn:microsoft.com/office/officeart/2005/8/layout/list1"/>
    <dgm:cxn modelId="{5D59AEF4-2A39-4D49-B936-B1EBEA66D500}" srcId="{C98E3AFF-F6E7-D04D-9371-2040D003DD99}" destId="{C7714355-4081-2946-A0F2-1AA882D41CBF}" srcOrd="4" destOrd="0" parTransId="{9A02D4ED-0750-9D48-B030-8041B4B3FA2C}" sibTransId="{647EF532-CE05-6B42-9CDC-E29EA76D4BEA}"/>
    <dgm:cxn modelId="{962CF0FD-7732-5242-B00B-549F6167AB25}" type="presOf" srcId="{7134E012-6AC0-FB40-AA8B-1A37654C9549}" destId="{168A2798-317F-E747-A72C-2C5183D98C20}" srcOrd="0" destOrd="4" presId="urn:microsoft.com/office/officeart/2005/8/layout/list1"/>
    <dgm:cxn modelId="{C01CAE78-796B-0A40-9D2E-0E360C0AB946}" type="presParOf" srcId="{20DC3686-C10B-C349-838F-212CFA89D1F3}" destId="{09DDFE5A-7004-4844-97F3-BDF16342CA60}" srcOrd="0" destOrd="0" presId="urn:microsoft.com/office/officeart/2005/8/layout/list1"/>
    <dgm:cxn modelId="{4116B5BA-C2A1-B94B-9E37-05FE00E5F91C}" type="presParOf" srcId="{09DDFE5A-7004-4844-97F3-BDF16342CA60}" destId="{B0996E94-540C-F04D-8AC6-486BC4F374E6}" srcOrd="0" destOrd="0" presId="urn:microsoft.com/office/officeart/2005/8/layout/list1"/>
    <dgm:cxn modelId="{21248E7A-AC92-0D4D-A4E4-DBBED50E7EF7}" type="presParOf" srcId="{09DDFE5A-7004-4844-97F3-BDF16342CA60}" destId="{E4D6123A-0BF3-8B42-AACE-3E0C1682EED7}" srcOrd="1" destOrd="0" presId="urn:microsoft.com/office/officeart/2005/8/layout/list1"/>
    <dgm:cxn modelId="{BC863A6A-BE01-BC43-B903-03BCFBD7BAD8}" type="presParOf" srcId="{20DC3686-C10B-C349-838F-212CFA89D1F3}" destId="{6347DA51-EA3E-EC48-9F5C-2DE098AA74A4}" srcOrd="1" destOrd="0" presId="urn:microsoft.com/office/officeart/2005/8/layout/list1"/>
    <dgm:cxn modelId="{BCF1EF82-3A74-D745-8977-2914DDE6CA9C}" type="presParOf" srcId="{20DC3686-C10B-C349-838F-212CFA89D1F3}" destId="{168A2798-317F-E747-A72C-2C5183D98C20}" srcOrd="2" destOrd="0" presId="urn:microsoft.com/office/officeart/2005/8/layout/list1"/>
    <dgm:cxn modelId="{C2E11DF7-7E7E-B54B-AFF9-6A602F565FBE}" type="presParOf" srcId="{20DC3686-C10B-C349-838F-212CFA89D1F3}" destId="{8FD7D73D-FD80-C241-814E-B93714E630CF}" srcOrd="3" destOrd="0" presId="urn:microsoft.com/office/officeart/2005/8/layout/list1"/>
    <dgm:cxn modelId="{6C7EFF20-82D0-C649-B971-7999C2395730}" type="presParOf" srcId="{20DC3686-C10B-C349-838F-212CFA89D1F3}" destId="{AB916262-EE22-E545-B100-C06740B8A161}" srcOrd="4" destOrd="0" presId="urn:microsoft.com/office/officeart/2005/8/layout/list1"/>
    <dgm:cxn modelId="{1B112337-6273-DA48-8BCE-494EDD2172F9}" type="presParOf" srcId="{AB916262-EE22-E545-B100-C06740B8A161}" destId="{33969D24-3D74-8842-A763-FE52BA6F2298}" srcOrd="0" destOrd="0" presId="urn:microsoft.com/office/officeart/2005/8/layout/list1"/>
    <dgm:cxn modelId="{F50F6005-D62D-5442-8465-1D124A063ED3}" type="presParOf" srcId="{AB916262-EE22-E545-B100-C06740B8A161}" destId="{A8B2C737-7ACA-4C47-A210-C272C3E54BC2}" srcOrd="1" destOrd="0" presId="urn:microsoft.com/office/officeart/2005/8/layout/list1"/>
    <dgm:cxn modelId="{13865472-8FAD-C348-A8ED-A82FAA528703}" type="presParOf" srcId="{20DC3686-C10B-C349-838F-212CFA89D1F3}" destId="{CC87BACE-5A4D-F84F-AA5E-38DBD93D3054}" srcOrd="5" destOrd="0" presId="urn:microsoft.com/office/officeart/2005/8/layout/list1"/>
    <dgm:cxn modelId="{C1CEC122-B5DA-EC43-87F0-D225867EC3CD}" type="presParOf" srcId="{20DC3686-C10B-C349-838F-212CFA89D1F3}" destId="{BFC7D280-0F3E-4445-A6B4-4AA9F811322D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059D27F-1BF1-394A-96B2-F96FEDEC6ACD}" type="doc">
      <dgm:prSet loTypeId="urn:microsoft.com/office/officeart/2005/8/layout/hList7" loCatId="" qsTypeId="urn:microsoft.com/office/officeart/2005/8/quickstyle/simple1" qsCatId="simple" csTypeId="urn:microsoft.com/office/officeart/2005/8/colors/accent1_2" csCatId="accent1" phldr="1"/>
      <dgm:spPr/>
    </dgm:pt>
    <dgm:pt modelId="{6698C4F0-A333-A645-9E95-E1C9F3C308F1}">
      <dgm:prSet phldrT="[Text]"/>
      <dgm:spPr/>
      <dgm:t>
        <a:bodyPr/>
        <a:lstStyle/>
        <a:p>
          <a:pPr rtl="0"/>
          <a:r>
            <a:rPr lang="en-US" dirty="0"/>
            <a:t>Prepare Dataset</a:t>
          </a:r>
        </a:p>
      </dgm:t>
    </dgm:pt>
    <dgm:pt modelId="{3244D9F0-A908-8242-A23D-22109584E1B1}" type="parTrans" cxnId="{7405D160-9E6A-B145-B2F4-BB94B1772309}">
      <dgm:prSet/>
      <dgm:spPr/>
      <dgm:t>
        <a:bodyPr/>
        <a:lstStyle/>
        <a:p>
          <a:endParaRPr lang="en-US"/>
        </a:p>
      </dgm:t>
    </dgm:pt>
    <dgm:pt modelId="{D205967B-B8C6-5F4D-B4A5-9657BBB287CB}" type="sibTrans" cxnId="{7405D160-9E6A-B145-B2F4-BB94B1772309}">
      <dgm:prSet/>
      <dgm:spPr/>
      <dgm:t>
        <a:bodyPr/>
        <a:lstStyle/>
        <a:p>
          <a:endParaRPr lang="en-US"/>
        </a:p>
      </dgm:t>
    </dgm:pt>
    <dgm:pt modelId="{DECDC979-40D6-6949-BAE4-05AC697431A6}">
      <dgm:prSet phldrT="[Text]"/>
      <dgm:spPr/>
      <dgm:t>
        <a:bodyPr/>
        <a:lstStyle/>
        <a:p>
          <a:pPr rtl="0"/>
          <a:r>
            <a:rPr lang="en-US" dirty="0"/>
            <a:t>Load Model</a:t>
          </a:r>
        </a:p>
      </dgm:t>
    </dgm:pt>
    <dgm:pt modelId="{B4C55D7A-FEBA-B041-8137-B0AF83DD0DA1}" type="parTrans" cxnId="{DF197EFC-4B55-2142-ACB4-CC357B14E5D6}">
      <dgm:prSet/>
      <dgm:spPr/>
      <dgm:t>
        <a:bodyPr/>
        <a:lstStyle/>
        <a:p>
          <a:endParaRPr lang="en-US"/>
        </a:p>
      </dgm:t>
    </dgm:pt>
    <dgm:pt modelId="{3C76F8D0-A5F7-E742-A4C7-864C9EBCF830}" type="sibTrans" cxnId="{DF197EFC-4B55-2142-ACB4-CC357B14E5D6}">
      <dgm:prSet/>
      <dgm:spPr/>
      <dgm:t>
        <a:bodyPr/>
        <a:lstStyle/>
        <a:p>
          <a:endParaRPr lang="en-US"/>
        </a:p>
      </dgm:t>
    </dgm:pt>
    <dgm:pt modelId="{AC40F46C-0674-DE4D-BEFB-2258A722CD2B}">
      <dgm:prSet phldrT="[Text]"/>
      <dgm:spPr/>
      <dgm:t>
        <a:bodyPr/>
        <a:lstStyle/>
        <a:p>
          <a:pPr rtl="0"/>
          <a:r>
            <a:rPr lang="en-US" dirty="0"/>
            <a:t>Configure Training</a:t>
          </a:r>
        </a:p>
      </dgm:t>
    </dgm:pt>
    <dgm:pt modelId="{8B61FE7A-8965-8C45-8AD2-2CFE335247BC}" type="parTrans" cxnId="{1F0E681D-0D65-4947-91EC-D093210B329B}">
      <dgm:prSet/>
      <dgm:spPr/>
      <dgm:t>
        <a:bodyPr/>
        <a:lstStyle/>
        <a:p>
          <a:endParaRPr lang="en-US"/>
        </a:p>
      </dgm:t>
    </dgm:pt>
    <dgm:pt modelId="{D3E9079F-7E93-9842-985F-79096B480502}" type="sibTrans" cxnId="{1F0E681D-0D65-4947-91EC-D093210B329B}">
      <dgm:prSet/>
      <dgm:spPr/>
      <dgm:t>
        <a:bodyPr/>
        <a:lstStyle/>
        <a:p>
          <a:endParaRPr lang="en-US"/>
        </a:p>
      </dgm:t>
    </dgm:pt>
    <dgm:pt modelId="{D40E69A4-FD32-7247-A5D0-077012070CA1}">
      <dgm:prSet phldrT="[Text]"/>
      <dgm:spPr/>
      <dgm:t>
        <a:bodyPr/>
        <a:lstStyle/>
        <a:p>
          <a:pPr rtl="0"/>
          <a:r>
            <a:rPr lang="en-US" dirty="0"/>
            <a:t>Run Training</a:t>
          </a:r>
        </a:p>
      </dgm:t>
    </dgm:pt>
    <dgm:pt modelId="{03955634-A963-D641-A296-506480AE5D19}" type="parTrans" cxnId="{3A74DCC4-528B-EA47-899F-549914E7E20A}">
      <dgm:prSet/>
      <dgm:spPr/>
      <dgm:t>
        <a:bodyPr/>
        <a:lstStyle/>
        <a:p>
          <a:endParaRPr lang="en-US"/>
        </a:p>
      </dgm:t>
    </dgm:pt>
    <dgm:pt modelId="{8EC79C2E-18AE-6C48-87C1-272F06D7D96F}" type="sibTrans" cxnId="{3A74DCC4-528B-EA47-899F-549914E7E20A}">
      <dgm:prSet/>
      <dgm:spPr/>
      <dgm:t>
        <a:bodyPr/>
        <a:lstStyle/>
        <a:p>
          <a:endParaRPr lang="en-US"/>
        </a:p>
      </dgm:t>
    </dgm:pt>
    <dgm:pt modelId="{6FCA47C9-6644-304B-AE60-5E52A2FD4E22}">
      <dgm:prSet phldrT="[Text]"/>
      <dgm:spPr/>
      <dgm:t>
        <a:bodyPr/>
        <a:lstStyle/>
        <a:p>
          <a:pPr rtl="0"/>
          <a:r>
            <a:rPr lang="en-US" dirty="0"/>
            <a:t>Evaluate</a:t>
          </a:r>
        </a:p>
      </dgm:t>
    </dgm:pt>
    <dgm:pt modelId="{4CFF765B-D1A8-5B4B-9986-90E7F3CD968F}" type="parTrans" cxnId="{583346E3-312D-404C-BB56-DEB1FF095ABB}">
      <dgm:prSet/>
      <dgm:spPr/>
      <dgm:t>
        <a:bodyPr/>
        <a:lstStyle/>
        <a:p>
          <a:endParaRPr lang="en-US"/>
        </a:p>
      </dgm:t>
    </dgm:pt>
    <dgm:pt modelId="{A5F8E334-28B9-F340-BB03-0CDB594A1072}" type="sibTrans" cxnId="{583346E3-312D-404C-BB56-DEB1FF095ABB}">
      <dgm:prSet/>
      <dgm:spPr/>
      <dgm:t>
        <a:bodyPr/>
        <a:lstStyle/>
        <a:p>
          <a:endParaRPr lang="en-US"/>
        </a:p>
      </dgm:t>
    </dgm:pt>
    <dgm:pt modelId="{7EF260ED-28C2-A341-BDD8-CC6A9E0D8746}" type="pres">
      <dgm:prSet presAssocID="{B059D27F-1BF1-394A-96B2-F96FEDEC6ACD}" presName="Name0" presStyleCnt="0">
        <dgm:presLayoutVars>
          <dgm:dir/>
          <dgm:resizeHandles val="exact"/>
        </dgm:presLayoutVars>
      </dgm:prSet>
      <dgm:spPr/>
    </dgm:pt>
    <dgm:pt modelId="{C09FD0B5-D51F-8848-8724-07D88A3C852B}" type="pres">
      <dgm:prSet presAssocID="{B059D27F-1BF1-394A-96B2-F96FEDEC6ACD}" presName="fgShape" presStyleLbl="fgShp" presStyleIdx="0" presStyleCnt="1"/>
      <dgm:spPr/>
    </dgm:pt>
    <dgm:pt modelId="{63D5FE35-AF55-3643-BACB-00F705657B27}" type="pres">
      <dgm:prSet presAssocID="{B059D27F-1BF1-394A-96B2-F96FEDEC6ACD}" presName="linComp" presStyleCnt="0"/>
      <dgm:spPr/>
    </dgm:pt>
    <dgm:pt modelId="{B0DA5384-D4C0-3E4D-B05E-A8191FC3C9CF}" type="pres">
      <dgm:prSet presAssocID="{6698C4F0-A333-A645-9E95-E1C9F3C308F1}" presName="compNode" presStyleCnt="0"/>
      <dgm:spPr/>
    </dgm:pt>
    <dgm:pt modelId="{9DE8C68D-899F-214F-9D09-227B9D485364}" type="pres">
      <dgm:prSet presAssocID="{6698C4F0-A333-A645-9E95-E1C9F3C308F1}" presName="bkgdShape" presStyleLbl="node1" presStyleIdx="0" presStyleCnt="5"/>
      <dgm:spPr/>
    </dgm:pt>
    <dgm:pt modelId="{46DC118A-ED80-1648-95E3-E29E5654B4EC}" type="pres">
      <dgm:prSet presAssocID="{6698C4F0-A333-A645-9E95-E1C9F3C308F1}" presName="nodeTx" presStyleLbl="node1" presStyleIdx="0" presStyleCnt="5">
        <dgm:presLayoutVars>
          <dgm:bulletEnabled val="1"/>
        </dgm:presLayoutVars>
      </dgm:prSet>
      <dgm:spPr/>
    </dgm:pt>
    <dgm:pt modelId="{5EDE1F91-E65E-5647-976E-8C0B78756414}" type="pres">
      <dgm:prSet presAssocID="{6698C4F0-A333-A645-9E95-E1C9F3C308F1}" presName="invisiNode" presStyleLbl="node1" presStyleIdx="0" presStyleCnt="5"/>
      <dgm:spPr/>
    </dgm:pt>
    <dgm:pt modelId="{AAE2199A-77E0-9745-A80D-B754156D6F89}" type="pres">
      <dgm:prSet presAssocID="{6698C4F0-A333-A645-9E95-E1C9F3C308F1}" presName="imagNode" presStyleLbl="fgImgPlace1" presStyleIdx="0" presStyleCnt="5"/>
      <dgm:spPr/>
    </dgm:pt>
    <dgm:pt modelId="{6E78F0B6-E94F-D24E-9528-D6C6C49AA2CD}" type="pres">
      <dgm:prSet presAssocID="{D205967B-B8C6-5F4D-B4A5-9657BBB287CB}" presName="sibTrans" presStyleLbl="sibTrans2D1" presStyleIdx="0" presStyleCnt="0"/>
      <dgm:spPr/>
    </dgm:pt>
    <dgm:pt modelId="{D0B714D2-F664-B946-A96F-06C6639C9BB9}" type="pres">
      <dgm:prSet presAssocID="{DECDC979-40D6-6949-BAE4-05AC697431A6}" presName="compNode" presStyleCnt="0"/>
      <dgm:spPr/>
    </dgm:pt>
    <dgm:pt modelId="{0169EA20-F274-F14F-8AC5-E19890FC14B1}" type="pres">
      <dgm:prSet presAssocID="{DECDC979-40D6-6949-BAE4-05AC697431A6}" presName="bkgdShape" presStyleLbl="node1" presStyleIdx="1" presStyleCnt="5"/>
      <dgm:spPr/>
    </dgm:pt>
    <dgm:pt modelId="{46DF13AC-517D-474F-9FC8-CCC7C9E69FD5}" type="pres">
      <dgm:prSet presAssocID="{DECDC979-40D6-6949-BAE4-05AC697431A6}" presName="nodeTx" presStyleLbl="node1" presStyleIdx="1" presStyleCnt="5">
        <dgm:presLayoutVars>
          <dgm:bulletEnabled val="1"/>
        </dgm:presLayoutVars>
      </dgm:prSet>
      <dgm:spPr/>
    </dgm:pt>
    <dgm:pt modelId="{C7E22953-1410-4846-BD3A-3E18F5EEE950}" type="pres">
      <dgm:prSet presAssocID="{DECDC979-40D6-6949-BAE4-05AC697431A6}" presName="invisiNode" presStyleLbl="node1" presStyleIdx="1" presStyleCnt="5"/>
      <dgm:spPr/>
    </dgm:pt>
    <dgm:pt modelId="{822F892C-F010-334B-A281-1D6DCAA356CC}" type="pres">
      <dgm:prSet presAssocID="{DECDC979-40D6-6949-BAE4-05AC697431A6}" presName="imagNode" presStyleLbl="fgImgPlace1" presStyleIdx="1" presStyleCnt="5"/>
      <dgm:spPr/>
    </dgm:pt>
    <dgm:pt modelId="{C97E563A-D846-3546-ACF4-7E47D030C658}" type="pres">
      <dgm:prSet presAssocID="{3C76F8D0-A5F7-E742-A4C7-864C9EBCF830}" presName="sibTrans" presStyleLbl="sibTrans2D1" presStyleIdx="0" presStyleCnt="0"/>
      <dgm:spPr/>
    </dgm:pt>
    <dgm:pt modelId="{57AD4DFD-A43C-0348-B83C-4F71D37765AA}" type="pres">
      <dgm:prSet presAssocID="{AC40F46C-0674-DE4D-BEFB-2258A722CD2B}" presName="compNode" presStyleCnt="0"/>
      <dgm:spPr/>
    </dgm:pt>
    <dgm:pt modelId="{1421850A-0948-6147-AE35-67533D2D7494}" type="pres">
      <dgm:prSet presAssocID="{AC40F46C-0674-DE4D-BEFB-2258A722CD2B}" presName="bkgdShape" presStyleLbl="node1" presStyleIdx="2" presStyleCnt="5"/>
      <dgm:spPr/>
    </dgm:pt>
    <dgm:pt modelId="{FC45629A-9C95-9B44-815A-F7E4CF7A48E1}" type="pres">
      <dgm:prSet presAssocID="{AC40F46C-0674-DE4D-BEFB-2258A722CD2B}" presName="nodeTx" presStyleLbl="node1" presStyleIdx="2" presStyleCnt="5">
        <dgm:presLayoutVars>
          <dgm:bulletEnabled val="1"/>
        </dgm:presLayoutVars>
      </dgm:prSet>
      <dgm:spPr/>
    </dgm:pt>
    <dgm:pt modelId="{2A178D90-FB0B-F64B-9938-EB04B1762B57}" type="pres">
      <dgm:prSet presAssocID="{AC40F46C-0674-DE4D-BEFB-2258A722CD2B}" presName="invisiNode" presStyleLbl="node1" presStyleIdx="2" presStyleCnt="5"/>
      <dgm:spPr/>
    </dgm:pt>
    <dgm:pt modelId="{CA0CBC1D-2F36-2641-8D05-F9AF45A88AFF}" type="pres">
      <dgm:prSet presAssocID="{AC40F46C-0674-DE4D-BEFB-2258A722CD2B}" presName="imagNode" presStyleLbl="fgImgPlace1" presStyleIdx="2" presStyleCnt="5"/>
      <dgm:spPr/>
    </dgm:pt>
    <dgm:pt modelId="{52F51A40-DDFF-EB4E-B4C0-43DFED6F2ABD}" type="pres">
      <dgm:prSet presAssocID="{D3E9079F-7E93-9842-985F-79096B480502}" presName="sibTrans" presStyleLbl="sibTrans2D1" presStyleIdx="0" presStyleCnt="0"/>
      <dgm:spPr/>
    </dgm:pt>
    <dgm:pt modelId="{59A31897-92FC-0544-BE75-30F0AFBCD020}" type="pres">
      <dgm:prSet presAssocID="{D40E69A4-FD32-7247-A5D0-077012070CA1}" presName="compNode" presStyleCnt="0"/>
      <dgm:spPr/>
    </dgm:pt>
    <dgm:pt modelId="{5E6C8830-950F-8045-8C3A-D49EE998F2C7}" type="pres">
      <dgm:prSet presAssocID="{D40E69A4-FD32-7247-A5D0-077012070CA1}" presName="bkgdShape" presStyleLbl="node1" presStyleIdx="3" presStyleCnt="5"/>
      <dgm:spPr/>
    </dgm:pt>
    <dgm:pt modelId="{E808ADF9-7609-D044-AB19-DBB31DCE19B3}" type="pres">
      <dgm:prSet presAssocID="{D40E69A4-FD32-7247-A5D0-077012070CA1}" presName="nodeTx" presStyleLbl="node1" presStyleIdx="3" presStyleCnt="5">
        <dgm:presLayoutVars>
          <dgm:bulletEnabled val="1"/>
        </dgm:presLayoutVars>
      </dgm:prSet>
      <dgm:spPr/>
    </dgm:pt>
    <dgm:pt modelId="{CE0AF484-CB7D-0A40-BDEA-06B58649BCB9}" type="pres">
      <dgm:prSet presAssocID="{D40E69A4-FD32-7247-A5D0-077012070CA1}" presName="invisiNode" presStyleLbl="node1" presStyleIdx="3" presStyleCnt="5"/>
      <dgm:spPr/>
    </dgm:pt>
    <dgm:pt modelId="{AB0857FF-8E47-3A45-B95A-7687B1CD761C}" type="pres">
      <dgm:prSet presAssocID="{D40E69A4-FD32-7247-A5D0-077012070CA1}" presName="imagNode" presStyleLbl="fgImgPlace1" presStyleIdx="3" presStyleCnt="5"/>
      <dgm:spPr/>
    </dgm:pt>
    <dgm:pt modelId="{E3148B27-023D-B044-9F51-C6BEFCA5A502}" type="pres">
      <dgm:prSet presAssocID="{8EC79C2E-18AE-6C48-87C1-272F06D7D96F}" presName="sibTrans" presStyleLbl="sibTrans2D1" presStyleIdx="0" presStyleCnt="0"/>
      <dgm:spPr/>
    </dgm:pt>
    <dgm:pt modelId="{4B5C63AC-9679-AD41-BB5C-48E523AAAF56}" type="pres">
      <dgm:prSet presAssocID="{6FCA47C9-6644-304B-AE60-5E52A2FD4E22}" presName="compNode" presStyleCnt="0"/>
      <dgm:spPr/>
    </dgm:pt>
    <dgm:pt modelId="{40BB9665-C2E7-7146-B30C-B6DA33ACFA37}" type="pres">
      <dgm:prSet presAssocID="{6FCA47C9-6644-304B-AE60-5E52A2FD4E22}" presName="bkgdShape" presStyleLbl="node1" presStyleIdx="4" presStyleCnt="5"/>
      <dgm:spPr/>
    </dgm:pt>
    <dgm:pt modelId="{0DEBC069-5035-2E49-9A93-2C0CD94011C0}" type="pres">
      <dgm:prSet presAssocID="{6FCA47C9-6644-304B-AE60-5E52A2FD4E22}" presName="nodeTx" presStyleLbl="node1" presStyleIdx="4" presStyleCnt="5">
        <dgm:presLayoutVars>
          <dgm:bulletEnabled val="1"/>
        </dgm:presLayoutVars>
      </dgm:prSet>
      <dgm:spPr/>
    </dgm:pt>
    <dgm:pt modelId="{977ECACB-AC9C-CC4A-9F03-613D2F506729}" type="pres">
      <dgm:prSet presAssocID="{6FCA47C9-6644-304B-AE60-5E52A2FD4E22}" presName="invisiNode" presStyleLbl="node1" presStyleIdx="4" presStyleCnt="5"/>
      <dgm:spPr/>
    </dgm:pt>
    <dgm:pt modelId="{1614D2B7-B161-6842-AD46-FC3A564973F6}" type="pres">
      <dgm:prSet presAssocID="{6FCA47C9-6644-304B-AE60-5E52A2FD4E22}" presName="imagNode" presStyleLbl="fgImgPlace1" presStyleIdx="4" presStyleCnt="5"/>
      <dgm:spPr/>
    </dgm:pt>
  </dgm:ptLst>
  <dgm:cxnLst>
    <dgm:cxn modelId="{CDCC3F05-9C8E-BD44-8D27-69E0797B0F93}" type="presOf" srcId="{6FCA47C9-6644-304B-AE60-5E52A2FD4E22}" destId="{40BB9665-C2E7-7146-B30C-B6DA33ACFA37}" srcOrd="0" destOrd="0" presId="urn:microsoft.com/office/officeart/2005/8/layout/hList7"/>
    <dgm:cxn modelId="{755EAB08-F9C8-BC47-9034-E1A2964B2B80}" type="presOf" srcId="{8EC79C2E-18AE-6C48-87C1-272F06D7D96F}" destId="{E3148B27-023D-B044-9F51-C6BEFCA5A502}" srcOrd="0" destOrd="0" presId="urn:microsoft.com/office/officeart/2005/8/layout/hList7"/>
    <dgm:cxn modelId="{1F0E681D-0D65-4947-91EC-D093210B329B}" srcId="{B059D27F-1BF1-394A-96B2-F96FEDEC6ACD}" destId="{AC40F46C-0674-DE4D-BEFB-2258A722CD2B}" srcOrd="2" destOrd="0" parTransId="{8B61FE7A-8965-8C45-8AD2-2CFE335247BC}" sibTransId="{D3E9079F-7E93-9842-985F-79096B480502}"/>
    <dgm:cxn modelId="{C895901D-4F04-EE4D-BF61-3D0F7A9CD651}" type="presOf" srcId="{3C76F8D0-A5F7-E742-A4C7-864C9EBCF830}" destId="{C97E563A-D846-3546-ACF4-7E47D030C658}" srcOrd="0" destOrd="0" presId="urn:microsoft.com/office/officeart/2005/8/layout/hList7"/>
    <dgm:cxn modelId="{90025C2C-0779-1743-A4A2-696054FC9775}" type="presOf" srcId="{DECDC979-40D6-6949-BAE4-05AC697431A6}" destId="{46DF13AC-517D-474F-9FC8-CCC7C9E69FD5}" srcOrd="1" destOrd="0" presId="urn:microsoft.com/office/officeart/2005/8/layout/hList7"/>
    <dgm:cxn modelId="{0D6C803D-3230-F942-9DCF-440B956ED18A}" type="presOf" srcId="{D40E69A4-FD32-7247-A5D0-077012070CA1}" destId="{5E6C8830-950F-8045-8C3A-D49EE998F2C7}" srcOrd="0" destOrd="0" presId="urn:microsoft.com/office/officeart/2005/8/layout/hList7"/>
    <dgm:cxn modelId="{7405D160-9E6A-B145-B2F4-BB94B1772309}" srcId="{B059D27F-1BF1-394A-96B2-F96FEDEC6ACD}" destId="{6698C4F0-A333-A645-9E95-E1C9F3C308F1}" srcOrd="0" destOrd="0" parTransId="{3244D9F0-A908-8242-A23D-22109584E1B1}" sibTransId="{D205967B-B8C6-5F4D-B4A5-9657BBB287CB}"/>
    <dgm:cxn modelId="{E0FBF16A-ECCC-324A-A7F2-6E40FF370200}" type="presOf" srcId="{D3E9079F-7E93-9842-985F-79096B480502}" destId="{52F51A40-DDFF-EB4E-B4C0-43DFED6F2ABD}" srcOrd="0" destOrd="0" presId="urn:microsoft.com/office/officeart/2005/8/layout/hList7"/>
    <dgm:cxn modelId="{545C986E-B5AC-DD48-89AE-872A717585B5}" type="presOf" srcId="{AC40F46C-0674-DE4D-BEFB-2258A722CD2B}" destId="{FC45629A-9C95-9B44-815A-F7E4CF7A48E1}" srcOrd="1" destOrd="0" presId="urn:microsoft.com/office/officeart/2005/8/layout/hList7"/>
    <dgm:cxn modelId="{50798C85-25B0-0C4F-BAB2-6480A956BED8}" type="presOf" srcId="{DECDC979-40D6-6949-BAE4-05AC697431A6}" destId="{0169EA20-F274-F14F-8AC5-E19890FC14B1}" srcOrd="0" destOrd="0" presId="urn:microsoft.com/office/officeart/2005/8/layout/hList7"/>
    <dgm:cxn modelId="{4768CB86-3D8B-DD4F-B2BD-09A8E6AC3343}" type="presOf" srcId="{6698C4F0-A333-A645-9E95-E1C9F3C308F1}" destId="{9DE8C68D-899F-214F-9D09-227B9D485364}" srcOrd="0" destOrd="0" presId="urn:microsoft.com/office/officeart/2005/8/layout/hList7"/>
    <dgm:cxn modelId="{A4224E90-59D1-604F-B537-39EE7FE0B21A}" type="presOf" srcId="{D40E69A4-FD32-7247-A5D0-077012070CA1}" destId="{E808ADF9-7609-D044-AB19-DBB31DCE19B3}" srcOrd="1" destOrd="0" presId="urn:microsoft.com/office/officeart/2005/8/layout/hList7"/>
    <dgm:cxn modelId="{3A74DCC4-528B-EA47-899F-549914E7E20A}" srcId="{B059D27F-1BF1-394A-96B2-F96FEDEC6ACD}" destId="{D40E69A4-FD32-7247-A5D0-077012070CA1}" srcOrd="3" destOrd="0" parTransId="{03955634-A963-D641-A296-506480AE5D19}" sibTransId="{8EC79C2E-18AE-6C48-87C1-272F06D7D96F}"/>
    <dgm:cxn modelId="{3512B7D8-7A37-6048-A5B1-83C438CED014}" type="presOf" srcId="{B059D27F-1BF1-394A-96B2-F96FEDEC6ACD}" destId="{7EF260ED-28C2-A341-BDD8-CC6A9E0D8746}" srcOrd="0" destOrd="0" presId="urn:microsoft.com/office/officeart/2005/8/layout/hList7"/>
    <dgm:cxn modelId="{9AFCE3DB-F5B8-3545-BFE1-BB2A511976A6}" type="presOf" srcId="{6FCA47C9-6644-304B-AE60-5E52A2FD4E22}" destId="{0DEBC069-5035-2E49-9A93-2C0CD94011C0}" srcOrd="1" destOrd="0" presId="urn:microsoft.com/office/officeart/2005/8/layout/hList7"/>
    <dgm:cxn modelId="{E1DC44DF-5888-CE41-A27E-80394EDAB375}" type="presOf" srcId="{AC40F46C-0674-DE4D-BEFB-2258A722CD2B}" destId="{1421850A-0948-6147-AE35-67533D2D7494}" srcOrd="0" destOrd="0" presId="urn:microsoft.com/office/officeart/2005/8/layout/hList7"/>
    <dgm:cxn modelId="{583346E3-312D-404C-BB56-DEB1FF095ABB}" srcId="{B059D27F-1BF1-394A-96B2-F96FEDEC6ACD}" destId="{6FCA47C9-6644-304B-AE60-5E52A2FD4E22}" srcOrd="4" destOrd="0" parTransId="{4CFF765B-D1A8-5B4B-9986-90E7F3CD968F}" sibTransId="{A5F8E334-28B9-F340-BB03-0CDB594A1072}"/>
    <dgm:cxn modelId="{B9B8FAEC-BB61-9E4F-8851-31D9A05D51AC}" type="presOf" srcId="{D205967B-B8C6-5F4D-B4A5-9657BBB287CB}" destId="{6E78F0B6-E94F-D24E-9528-D6C6C49AA2CD}" srcOrd="0" destOrd="0" presId="urn:microsoft.com/office/officeart/2005/8/layout/hList7"/>
    <dgm:cxn modelId="{B8CA99F5-0438-8848-A554-272468FC7926}" type="presOf" srcId="{6698C4F0-A333-A645-9E95-E1C9F3C308F1}" destId="{46DC118A-ED80-1648-95E3-E29E5654B4EC}" srcOrd="1" destOrd="0" presId="urn:microsoft.com/office/officeart/2005/8/layout/hList7"/>
    <dgm:cxn modelId="{DF197EFC-4B55-2142-ACB4-CC357B14E5D6}" srcId="{B059D27F-1BF1-394A-96B2-F96FEDEC6ACD}" destId="{DECDC979-40D6-6949-BAE4-05AC697431A6}" srcOrd="1" destOrd="0" parTransId="{B4C55D7A-FEBA-B041-8137-B0AF83DD0DA1}" sibTransId="{3C76F8D0-A5F7-E742-A4C7-864C9EBCF830}"/>
    <dgm:cxn modelId="{E56F2F17-CE96-AC41-A4E5-8EE2087C393A}" type="presParOf" srcId="{7EF260ED-28C2-A341-BDD8-CC6A9E0D8746}" destId="{C09FD0B5-D51F-8848-8724-07D88A3C852B}" srcOrd="0" destOrd="0" presId="urn:microsoft.com/office/officeart/2005/8/layout/hList7"/>
    <dgm:cxn modelId="{AAB133ED-B917-D04F-ABE2-A61F47A407A9}" type="presParOf" srcId="{7EF260ED-28C2-A341-BDD8-CC6A9E0D8746}" destId="{63D5FE35-AF55-3643-BACB-00F705657B27}" srcOrd="1" destOrd="0" presId="urn:microsoft.com/office/officeart/2005/8/layout/hList7"/>
    <dgm:cxn modelId="{C23A6241-86D1-834E-92C4-84250F3A4BE4}" type="presParOf" srcId="{63D5FE35-AF55-3643-BACB-00F705657B27}" destId="{B0DA5384-D4C0-3E4D-B05E-A8191FC3C9CF}" srcOrd="0" destOrd="0" presId="urn:microsoft.com/office/officeart/2005/8/layout/hList7"/>
    <dgm:cxn modelId="{22969582-D9EA-8A40-B68E-CC6D9A723DB6}" type="presParOf" srcId="{B0DA5384-D4C0-3E4D-B05E-A8191FC3C9CF}" destId="{9DE8C68D-899F-214F-9D09-227B9D485364}" srcOrd="0" destOrd="0" presId="urn:microsoft.com/office/officeart/2005/8/layout/hList7"/>
    <dgm:cxn modelId="{548EBC71-8277-7A44-9784-814220989815}" type="presParOf" srcId="{B0DA5384-D4C0-3E4D-B05E-A8191FC3C9CF}" destId="{46DC118A-ED80-1648-95E3-E29E5654B4EC}" srcOrd="1" destOrd="0" presId="urn:microsoft.com/office/officeart/2005/8/layout/hList7"/>
    <dgm:cxn modelId="{F0205DA2-7912-4947-92F6-D83EB126222C}" type="presParOf" srcId="{B0DA5384-D4C0-3E4D-B05E-A8191FC3C9CF}" destId="{5EDE1F91-E65E-5647-976E-8C0B78756414}" srcOrd="2" destOrd="0" presId="urn:microsoft.com/office/officeart/2005/8/layout/hList7"/>
    <dgm:cxn modelId="{47FCDAD8-3F54-9B4C-A879-202C7D75B9EF}" type="presParOf" srcId="{B0DA5384-D4C0-3E4D-B05E-A8191FC3C9CF}" destId="{AAE2199A-77E0-9745-A80D-B754156D6F89}" srcOrd="3" destOrd="0" presId="urn:microsoft.com/office/officeart/2005/8/layout/hList7"/>
    <dgm:cxn modelId="{AFDA8841-B302-DF44-B1F2-073D27B3E9B5}" type="presParOf" srcId="{63D5FE35-AF55-3643-BACB-00F705657B27}" destId="{6E78F0B6-E94F-D24E-9528-D6C6C49AA2CD}" srcOrd="1" destOrd="0" presId="urn:microsoft.com/office/officeart/2005/8/layout/hList7"/>
    <dgm:cxn modelId="{6C222C19-E3DE-4941-BB90-D358F849CF17}" type="presParOf" srcId="{63D5FE35-AF55-3643-BACB-00F705657B27}" destId="{D0B714D2-F664-B946-A96F-06C6639C9BB9}" srcOrd="2" destOrd="0" presId="urn:microsoft.com/office/officeart/2005/8/layout/hList7"/>
    <dgm:cxn modelId="{3AA56AA5-64B8-5F49-AA0E-0CC70992BBE9}" type="presParOf" srcId="{D0B714D2-F664-B946-A96F-06C6639C9BB9}" destId="{0169EA20-F274-F14F-8AC5-E19890FC14B1}" srcOrd="0" destOrd="0" presId="urn:microsoft.com/office/officeart/2005/8/layout/hList7"/>
    <dgm:cxn modelId="{1ECF6C3B-CF82-124F-89EB-E0079CE10539}" type="presParOf" srcId="{D0B714D2-F664-B946-A96F-06C6639C9BB9}" destId="{46DF13AC-517D-474F-9FC8-CCC7C9E69FD5}" srcOrd="1" destOrd="0" presId="urn:microsoft.com/office/officeart/2005/8/layout/hList7"/>
    <dgm:cxn modelId="{6F1656E9-3E0B-0442-B1BE-2393818C6233}" type="presParOf" srcId="{D0B714D2-F664-B946-A96F-06C6639C9BB9}" destId="{C7E22953-1410-4846-BD3A-3E18F5EEE950}" srcOrd="2" destOrd="0" presId="urn:microsoft.com/office/officeart/2005/8/layout/hList7"/>
    <dgm:cxn modelId="{5EB13960-873C-394A-B30A-E18BF5820550}" type="presParOf" srcId="{D0B714D2-F664-B946-A96F-06C6639C9BB9}" destId="{822F892C-F010-334B-A281-1D6DCAA356CC}" srcOrd="3" destOrd="0" presId="urn:microsoft.com/office/officeart/2005/8/layout/hList7"/>
    <dgm:cxn modelId="{559F55E8-731B-0C45-A3F4-2602457C8BB7}" type="presParOf" srcId="{63D5FE35-AF55-3643-BACB-00F705657B27}" destId="{C97E563A-D846-3546-ACF4-7E47D030C658}" srcOrd="3" destOrd="0" presId="urn:microsoft.com/office/officeart/2005/8/layout/hList7"/>
    <dgm:cxn modelId="{82860FE9-5D25-A849-BA0E-A5B54AFAABD1}" type="presParOf" srcId="{63D5FE35-AF55-3643-BACB-00F705657B27}" destId="{57AD4DFD-A43C-0348-B83C-4F71D37765AA}" srcOrd="4" destOrd="0" presId="urn:microsoft.com/office/officeart/2005/8/layout/hList7"/>
    <dgm:cxn modelId="{C72A85B7-C49C-974C-89E7-ECF515200FC1}" type="presParOf" srcId="{57AD4DFD-A43C-0348-B83C-4F71D37765AA}" destId="{1421850A-0948-6147-AE35-67533D2D7494}" srcOrd="0" destOrd="0" presId="urn:microsoft.com/office/officeart/2005/8/layout/hList7"/>
    <dgm:cxn modelId="{E810B9A4-AC47-A74A-8FC6-18F010A2B2C2}" type="presParOf" srcId="{57AD4DFD-A43C-0348-B83C-4F71D37765AA}" destId="{FC45629A-9C95-9B44-815A-F7E4CF7A48E1}" srcOrd="1" destOrd="0" presId="urn:microsoft.com/office/officeart/2005/8/layout/hList7"/>
    <dgm:cxn modelId="{80C69C09-B00E-5345-B75F-4FC9C0940D8B}" type="presParOf" srcId="{57AD4DFD-A43C-0348-B83C-4F71D37765AA}" destId="{2A178D90-FB0B-F64B-9938-EB04B1762B57}" srcOrd="2" destOrd="0" presId="urn:microsoft.com/office/officeart/2005/8/layout/hList7"/>
    <dgm:cxn modelId="{110D111E-7981-F848-9FE9-56ECF8A9B1D4}" type="presParOf" srcId="{57AD4DFD-A43C-0348-B83C-4F71D37765AA}" destId="{CA0CBC1D-2F36-2641-8D05-F9AF45A88AFF}" srcOrd="3" destOrd="0" presId="urn:microsoft.com/office/officeart/2005/8/layout/hList7"/>
    <dgm:cxn modelId="{C4913896-3C2D-D546-AE8F-2A8A7A840C4D}" type="presParOf" srcId="{63D5FE35-AF55-3643-BACB-00F705657B27}" destId="{52F51A40-DDFF-EB4E-B4C0-43DFED6F2ABD}" srcOrd="5" destOrd="0" presId="urn:microsoft.com/office/officeart/2005/8/layout/hList7"/>
    <dgm:cxn modelId="{1A17E8C3-CA03-2546-B52E-788393CE45A1}" type="presParOf" srcId="{63D5FE35-AF55-3643-BACB-00F705657B27}" destId="{59A31897-92FC-0544-BE75-30F0AFBCD020}" srcOrd="6" destOrd="0" presId="urn:microsoft.com/office/officeart/2005/8/layout/hList7"/>
    <dgm:cxn modelId="{2E4154D9-BC4B-9E4F-8E27-6A75654B73AA}" type="presParOf" srcId="{59A31897-92FC-0544-BE75-30F0AFBCD020}" destId="{5E6C8830-950F-8045-8C3A-D49EE998F2C7}" srcOrd="0" destOrd="0" presId="urn:microsoft.com/office/officeart/2005/8/layout/hList7"/>
    <dgm:cxn modelId="{8AD3D943-0BD6-884B-818D-4545AED10445}" type="presParOf" srcId="{59A31897-92FC-0544-BE75-30F0AFBCD020}" destId="{E808ADF9-7609-D044-AB19-DBB31DCE19B3}" srcOrd="1" destOrd="0" presId="urn:microsoft.com/office/officeart/2005/8/layout/hList7"/>
    <dgm:cxn modelId="{B96E3BB1-FD3E-3D44-9CF7-D9986615D204}" type="presParOf" srcId="{59A31897-92FC-0544-BE75-30F0AFBCD020}" destId="{CE0AF484-CB7D-0A40-BDEA-06B58649BCB9}" srcOrd="2" destOrd="0" presId="urn:microsoft.com/office/officeart/2005/8/layout/hList7"/>
    <dgm:cxn modelId="{079C4F8C-509F-0C46-A30D-D7FBD420EA60}" type="presParOf" srcId="{59A31897-92FC-0544-BE75-30F0AFBCD020}" destId="{AB0857FF-8E47-3A45-B95A-7687B1CD761C}" srcOrd="3" destOrd="0" presId="urn:microsoft.com/office/officeart/2005/8/layout/hList7"/>
    <dgm:cxn modelId="{A2BCEC78-59E7-234A-9A31-E293248BB4AD}" type="presParOf" srcId="{63D5FE35-AF55-3643-BACB-00F705657B27}" destId="{E3148B27-023D-B044-9F51-C6BEFCA5A502}" srcOrd="7" destOrd="0" presId="urn:microsoft.com/office/officeart/2005/8/layout/hList7"/>
    <dgm:cxn modelId="{4D9D6688-634B-5048-A487-FF9FF5AA9A07}" type="presParOf" srcId="{63D5FE35-AF55-3643-BACB-00F705657B27}" destId="{4B5C63AC-9679-AD41-BB5C-48E523AAAF56}" srcOrd="8" destOrd="0" presId="urn:microsoft.com/office/officeart/2005/8/layout/hList7"/>
    <dgm:cxn modelId="{10E50157-5F32-8046-9412-C882C87DB237}" type="presParOf" srcId="{4B5C63AC-9679-AD41-BB5C-48E523AAAF56}" destId="{40BB9665-C2E7-7146-B30C-B6DA33ACFA37}" srcOrd="0" destOrd="0" presId="urn:microsoft.com/office/officeart/2005/8/layout/hList7"/>
    <dgm:cxn modelId="{B755312F-1DD5-5D43-915B-5AAA4967FE30}" type="presParOf" srcId="{4B5C63AC-9679-AD41-BB5C-48E523AAAF56}" destId="{0DEBC069-5035-2E49-9A93-2C0CD94011C0}" srcOrd="1" destOrd="0" presId="urn:microsoft.com/office/officeart/2005/8/layout/hList7"/>
    <dgm:cxn modelId="{1E6A84A4-C6AC-0043-8CEA-23843694A1D5}" type="presParOf" srcId="{4B5C63AC-9679-AD41-BB5C-48E523AAAF56}" destId="{977ECACB-AC9C-CC4A-9F03-613D2F506729}" srcOrd="2" destOrd="0" presId="urn:microsoft.com/office/officeart/2005/8/layout/hList7"/>
    <dgm:cxn modelId="{F081CE9A-53F7-9F40-968F-53FEACFCCDBF}" type="presParOf" srcId="{4B5C63AC-9679-AD41-BB5C-48E523AAAF56}" destId="{1614D2B7-B161-6842-AD46-FC3A564973F6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616064-9FEA-1E41-9B3D-F046147A9B8A}">
      <dsp:nvSpPr>
        <dsp:cNvPr id="0" name=""/>
        <dsp:cNvSpPr/>
      </dsp:nvSpPr>
      <dsp:spPr>
        <a:xfrm>
          <a:off x="0" y="598705"/>
          <a:ext cx="6735336" cy="352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EBC818-D1EC-A74E-A50E-4B4B6D7323F6}">
      <dsp:nvSpPr>
        <dsp:cNvPr id="0" name=""/>
        <dsp:cNvSpPr/>
      </dsp:nvSpPr>
      <dsp:spPr>
        <a:xfrm>
          <a:off x="336766" y="392065"/>
          <a:ext cx="4714735" cy="413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206" tIns="0" rIns="178206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Introduction to Pre-Training &amp; Fine-Tuning</a:t>
          </a:r>
        </a:p>
      </dsp:txBody>
      <dsp:txXfrm>
        <a:off x="356941" y="412240"/>
        <a:ext cx="4674385" cy="372929"/>
      </dsp:txXfrm>
    </dsp:sp>
    <dsp:sp modelId="{97D1A5F6-CD55-E84B-A06C-AC806A87BF68}">
      <dsp:nvSpPr>
        <dsp:cNvPr id="0" name=""/>
        <dsp:cNvSpPr/>
      </dsp:nvSpPr>
      <dsp:spPr>
        <a:xfrm>
          <a:off x="0" y="1233745"/>
          <a:ext cx="6735336" cy="352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3FBD46-0DA2-5641-A6F1-74D37ADF13AD}">
      <dsp:nvSpPr>
        <dsp:cNvPr id="0" name=""/>
        <dsp:cNvSpPr/>
      </dsp:nvSpPr>
      <dsp:spPr>
        <a:xfrm>
          <a:off x="336766" y="1027105"/>
          <a:ext cx="4714735" cy="413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206" tIns="0" rIns="178206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Why Fine-Tuning? The Transfer Learning Paradigm</a:t>
          </a:r>
        </a:p>
      </dsp:txBody>
      <dsp:txXfrm>
        <a:off x="356941" y="1047280"/>
        <a:ext cx="4674385" cy="372929"/>
      </dsp:txXfrm>
    </dsp:sp>
    <dsp:sp modelId="{41035278-260A-F146-A148-AB4FD8DAE2C8}">
      <dsp:nvSpPr>
        <dsp:cNvPr id="0" name=""/>
        <dsp:cNvSpPr/>
      </dsp:nvSpPr>
      <dsp:spPr>
        <a:xfrm>
          <a:off x="0" y="1868785"/>
          <a:ext cx="6735336" cy="352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92E3FF-2EF3-A54E-9F1E-1AF27CC2E670}">
      <dsp:nvSpPr>
        <dsp:cNvPr id="0" name=""/>
        <dsp:cNvSpPr/>
      </dsp:nvSpPr>
      <dsp:spPr>
        <a:xfrm>
          <a:off x="336766" y="1662145"/>
          <a:ext cx="4714735" cy="413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206" tIns="0" rIns="178206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Overview of Fine-Tuning Pipeline</a:t>
          </a:r>
        </a:p>
      </dsp:txBody>
      <dsp:txXfrm>
        <a:off x="356941" y="1682320"/>
        <a:ext cx="4674385" cy="372929"/>
      </dsp:txXfrm>
    </dsp:sp>
    <dsp:sp modelId="{654247D6-4D08-6A4F-8285-2B85F3F4D08D}">
      <dsp:nvSpPr>
        <dsp:cNvPr id="0" name=""/>
        <dsp:cNvSpPr/>
      </dsp:nvSpPr>
      <dsp:spPr>
        <a:xfrm>
          <a:off x="0" y="2503825"/>
          <a:ext cx="6735336" cy="352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50D905-E79D-2843-90D4-B5C78D0D0CF6}">
      <dsp:nvSpPr>
        <dsp:cNvPr id="0" name=""/>
        <dsp:cNvSpPr/>
      </dsp:nvSpPr>
      <dsp:spPr>
        <a:xfrm>
          <a:off x="336766" y="2297185"/>
          <a:ext cx="4714735" cy="413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206" tIns="0" rIns="178206" bIns="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Full Fine-Tuning vs. Parameter-Efficient Fine-Tuning (PEFT)</a:t>
          </a:r>
        </a:p>
      </dsp:txBody>
      <dsp:txXfrm>
        <a:off x="356941" y="2317360"/>
        <a:ext cx="4674385" cy="372929"/>
      </dsp:txXfrm>
    </dsp:sp>
    <dsp:sp modelId="{52B41192-C565-BB4B-B06B-C2B22AC50319}">
      <dsp:nvSpPr>
        <dsp:cNvPr id="0" name=""/>
        <dsp:cNvSpPr/>
      </dsp:nvSpPr>
      <dsp:spPr>
        <a:xfrm>
          <a:off x="0" y="3138865"/>
          <a:ext cx="6735336" cy="352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EEA471-3F41-7D4D-8502-3CEBD8B18E76}">
      <dsp:nvSpPr>
        <dsp:cNvPr id="0" name=""/>
        <dsp:cNvSpPr/>
      </dsp:nvSpPr>
      <dsp:spPr>
        <a:xfrm>
          <a:off x="336766" y="2932225"/>
          <a:ext cx="4714735" cy="413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206" tIns="0" rIns="178206" bIns="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LoRA</a:t>
          </a:r>
          <a:r>
            <a:rPr lang="en-US" sz="1400" kern="1200" dirty="0"/>
            <a:t>: Low-Rank Adaptation</a:t>
          </a:r>
        </a:p>
      </dsp:txBody>
      <dsp:txXfrm>
        <a:off x="356941" y="2952400"/>
        <a:ext cx="4674385" cy="372929"/>
      </dsp:txXfrm>
    </dsp:sp>
    <dsp:sp modelId="{657F21EC-4008-1742-AA36-86F09A9D3103}">
      <dsp:nvSpPr>
        <dsp:cNvPr id="0" name=""/>
        <dsp:cNvSpPr/>
      </dsp:nvSpPr>
      <dsp:spPr>
        <a:xfrm>
          <a:off x="0" y="3773905"/>
          <a:ext cx="6735336" cy="352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98E413-DC6E-AB41-8CF0-826C1F1C64A5}">
      <dsp:nvSpPr>
        <dsp:cNvPr id="0" name=""/>
        <dsp:cNvSpPr/>
      </dsp:nvSpPr>
      <dsp:spPr>
        <a:xfrm>
          <a:off x="336766" y="3567265"/>
          <a:ext cx="4714735" cy="413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206" tIns="0" rIns="178206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Practical Lab (Transcription Factor Binding Prediction)</a:t>
          </a:r>
        </a:p>
      </dsp:txBody>
      <dsp:txXfrm>
        <a:off x="356941" y="3587440"/>
        <a:ext cx="4674385" cy="3729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7C0D2D-D047-5D45-8961-21471AEBEFF3}">
      <dsp:nvSpPr>
        <dsp:cNvPr id="0" name=""/>
        <dsp:cNvSpPr/>
      </dsp:nvSpPr>
      <dsp:spPr>
        <a:xfrm rot="5400000">
          <a:off x="5928003" y="-2440559"/>
          <a:ext cx="889842" cy="5998046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Requires only a small labeled dataset to specialize for a new biological task.</a:t>
          </a:r>
          <a:endParaRPr lang="en-SA" sz="2300" kern="1200"/>
        </a:p>
      </dsp:txBody>
      <dsp:txXfrm rot="-5400000">
        <a:off x="3373902" y="156981"/>
        <a:ext cx="5954607" cy="802964"/>
      </dsp:txXfrm>
    </dsp:sp>
    <dsp:sp modelId="{BC482A41-2B84-424F-B80A-AFED0A1EF6B8}">
      <dsp:nvSpPr>
        <dsp:cNvPr id="0" name=""/>
        <dsp:cNvSpPr/>
      </dsp:nvSpPr>
      <dsp:spPr>
        <a:xfrm>
          <a:off x="0" y="2312"/>
          <a:ext cx="3373901" cy="111230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Data Efficiency: 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Learn More from Less</a:t>
          </a:r>
          <a:endParaRPr lang="en-SA" sz="2100" kern="1200" dirty="0"/>
        </a:p>
      </dsp:txBody>
      <dsp:txXfrm>
        <a:off x="54298" y="56610"/>
        <a:ext cx="3265305" cy="1003706"/>
      </dsp:txXfrm>
    </dsp:sp>
    <dsp:sp modelId="{990E0F6F-3507-1B4D-AA70-BC3FF52C81CD}">
      <dsp:nvSpPr>
        <dsp:cNvPr id="0" name=""/>
        <dsp:cNvSpPr/>
      </dsp:nvSpPr>
      <dsp:spPr>
        <a:xfrm rot="5400000">
          <a:off x="5928003" y="-1272641"/>
          <a:ext cx="889842" cy="5998046"/>
        </a:xfrm>
        <a:prstGeom prst="round2SameRect">
          <a:avLst/>
        </a:prstGeom>
        <a:solidFill>
          <a:schemeClr val="accent2">
            <a:tint val="40000"/>
            <a:alpha val="90000"/>
            <a:hueOff val="-3947238"/>
            <a:satOff val="-6888"/>
            <a:lumOff val="-83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3947238"/>
              <a:satOff val="-6888"/>
              <a:lumOff val="-8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Enables rapid iteration and experimentation across many tasks.</a:t>
          </a:r>
          <a:endParaRPr lang="en-SA" sz="2300" kern="1200"/>
        </a:p>
      </dsp:txBody>
      <dsp:txXfrm rot="-5400000">
        <a:off x="3373902" y="1324899"/>
        <a:ext cx="5954607" cy="802964"/>
      </dsp:txXfrm>
    </dsp:sp>
    <dsp:sp modelId="{1EBEBA5E-CEF2-4B46-A042-FB070AE32FCE}">
      <dsp:nvSpPr>
        <dsp:cNvPr id="0" name=""/>
        <dsp:cNvSpPr/>
      </dsp:nvSpPr>
      <dsp:spPr>
        <a:xfrm>
          <a:off x="0" y="1170230"/>
          <a:ext cx="3373901" cy="1112302"/>
        </a:xfrm>
        <a:prstGeom prst="roundRect">
          <a:avLst/>
        </a:prstGeom>
        <a:solidFill>
          <a:schemeClr val="accent2">
            <a:hueOff val="-3617575"/>
            <a:satOff val="-8106"/>
            <a:lumOff val="-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Compute &amp; Time Efficiency: Faster by Design</a:t>
          </a:r>
          <a:endParaRPr lang="en-SA" sz="2100" kern="1200" dirty="0"/>
        </a:p>
      </dsp:txBody>
      <dsp:txXfrm>
        <a:off x="54298" y="1224528"/>
        <a:ext cx="3265305" cy="1003706"/>
      </dsp:txXfrm>
    </dsp:sp>
    <dsp:sp modelId="{61E24A01-37F7-904B-8296-47F0AA6B7EAE}">
      <dsp:nvSpPr>
        <dsp:cNvPr id="0" name=""/>
        <dsp:cNvSpPr/>
      </dsp:nvSpPr>
      <dsp:spPr>
        <a:xfrm rot="5400000">
          <a:off x="5928003" y="-104723"/>
          <a:ext cx="889842" cy="5998046"/>
        </a:xfrm>
        <a:prstGeom prst="round2SameRect">
          <a:avLst/>
        </a:prstGeom>
        <a:solidFill>
          <a:schemeClr val="accent2">
            <a:tint val="40000"/>
            <a:alpha val="90000"/>
            <a:hueOff val="-7894476"/>
            <a:satOff val="-13775"/>
            <a:lumOff val="-167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7894476"/>
              <a:satOff val="-13775"/>
              <a:lumOff val="-1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Achieves strong accuracy and generalization with minimal additional training.</a:t>
          </a:r>
          <a:endParaRPr lang="en-SA" sz="2300" kern="1200"/>
        </a:p>
      </dsp:txBody>
      <dsp:txXfrm rot="-5400000">
        <a:off x="3373902" y="2492817"/>
        <a:ext cx="5954607" cy="802964"/>
      </dsp:txXfrm>
    </dsp:sp>
    <dsp:sp modelId="{1882894D-F6F9-AD46-8087-2653D8D1FF3E}">
      <dsp:nvSpPr>
        <dsp:cNvPr id="0" name=""/>
        <dsp:cNvSpPr/>
      </dsp:nvSpPr>
      <dsp:spPr>
        <a:xfrm>
          <a:off x="0" y="2338148"/>
          <a:ext cx="3373901" cy="1112302"/>
        </a:xfrm>
        <a:prstGeom prst="roundRect">
          <a:avLst/>
        </a:prstGeom>
        <a:solidFill>
          <a:schemeClr val="accent2">
            <a:hueOff val="-7235150"/>
            <a:satOff val="-16213"/>
            <a:lumOff val="-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Performance Boost: Smarter Starting Point</a:t>
          </a:r>
          <a:endParaRPr lang="en-SA" sz="2100" kern="1200"/>
        </a:p>
      </dsp:txBody>
      <dsp:txXfrm>
        <a:off x="54298" y="2392446"/>
        <a:ext cx="3265305" cy="1003706"/>
      </dsp:txXfrm>
    </dsp:sp>
    <dsp:sp modelId="{19837995-5BEC-C647-AB6C-124AA7CB3A4F}">
      <dsp:nvSpPr>
        <dsp:cNvPr id="0" name=""/>
        <dsp:cNvSpPr/>
      </dsp:nvSpPr>
      <dsp:spPr>
        <a:xfrm rot="5400000">
          <a:off x="5928003" y="1063194"/>
          <a:ext cx="889842" cy="5998046"/>
        </a:xfrm>
        <a:prstGeom prst="round2SameRect">
          <a:avLst/>
        </a:prstGeom>
        <a:solidFill>
          <a:schemeClr val="accent2">
            <a:tint val="40000"/>
            <a:alpha val="90000"/>
            <a:hueOff val="-11841714"/>
            <a:satOff val="-20663"/>
            <a:lumOff val="-25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1841714"/>
              <a:satOff val="-20663"/>
              <a:lumOff val="-25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Reuses existing foundation models instead of retraining from scratch.</a:t>
          </a:r>
          <a:endParaRPr lang="en-SA" sz="2300" kern="1200"/>
        </a:p>
      </dsp:txBody>
      <dsp:txXfrm rot="-5400000">
        <a:off x="3373902" y="3660735"/>
        <a:ext cx="5954607" cy="802964"/>
      </dsp:txXfrm>
    </dsp:sp>
    <dsp:sp modelId="{EF2F0DAF-315C-B94D-A550-8E67B9B09006}">
      <dsp:nvSpPr>
        <dsp:cNvPr id="0" name=""/>
        <dsp:cNvSpPr/>
      </dsp:nvSpPr>
      <dsp:spPr>
        <a:xfrm>
          <a:off x="0" y="3506066"/>
          <a:ext cx="3373901" cy="1112302"/>
        </a:xfrm>
        <a:prstGeom prst="roundRect">
          <a:avLst/>
        </a:prstGeom>
        <a:solidFill>
          <a:schemeClr val="accent2">
            <a:hueOff val="-10852725"/>
            <a:satOff val="-24319"/>
            <a:lumOff val="-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Sustainability &amp; Reusability: Train Once, Use Many Times</a:t>
          </a:r>
          <a:endParaRPr lang="en-SA" sz="2100" kern="1200"/>
        </a:p>
      </dsp:txBody>
      <dsp:txXfrm>
        <a:off x="54298" y="3560364"/>
        <a:ext cx="3265305" cy="10037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8A2798-317F-E747-A72C-2C5183D98C20}">
      <dsp:nvSpPr>
        <dsp:cNvPr id="0" name=""/>
        <dsp:cNvSpPr/>
      </dsp:nvSpPr>
      <dsp:spPr>
        <a:xfrm>
          <a:off x="0" y="256637"/>
          <a:ext cx="9372600" cy="24097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7418" tIns="354076" rIns="727418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kern="1200" dirty="0"/>
            <a:t>Full fine-tuning:</a:t>
          </a:r>
          <a:r>
            <a:rPr lang="en-US" sz="1700" kern="1200" dirty="0"/>
            <a:t> </a:t>
          </a:r>
          <a14:m xmlns:a14="http://schemas.microsoft.com/office/drawing/2010/main">
            <m:oMath xmlns:m="http://schemas.openxmlformats.org/officeDocument/2006/math">
              <m:r>
                <a:rPr lang="en-US" sz="1700" i="1" kern="1200" dirty="0" smtClean="0">
                  <a:latin typeface="Cambria Math" panose="02040503050406030204" pitchFamily="18" charset="0"/>
                </a:rPr>
                <m:t>𝑑</m:t>
              </m:r>
              <m:r>
                <a:rPr lang="en-US" sz="1700" i="1" kern="1200" dirty="0" smtClean="0">
                  <a:latin typeface="Cambria Math" panose="02040503050406030204" pitchFamily="18" charset="0"/>
                </a:rPr>
                <m:t> × </m:t>
              </m:r>
              <m:r>
                <a:rPr lang="en-US" sz="1700" i="1" kern="1200" dirty="0" smtClean="0">
                  <a:latin typeface="Cambria Math" panose="02040503050406030204" pitchFamily="18" charset="0"/>
                </a:rPr>
                <m:t>𝑘</m:t>
              </m:r>
              <m:r>
                <a:rPr lang="en-US" sz="1700" i="1" kern="1200" dirty="0" smtClean="0">
                  <a:latin typeface="Cambria Math" panose="02040503050406030204" pitchFamily="18" charset="0"/>
                </a:rPr>
                <m:t> </m:t>
              </m:r>
            </m:oMath>
          </a14:m>
          <a:r>
            <a:rPr lang="en-US" sz="1700" kern="1200" dirty="0"/>
            <a:t>parameters to update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kern="1200" dirty="0"/>
            <a:t>LoRA:</a:t>
          </a:r>
          <a14:m xmlns:a14="http://schemas.microsoft.com/office/drawing/2010/main">
            <m:oMath xmlns:m="http://schemas.openxmlformats.org/officeDocument/2006/math">
              <m:r>
                <a:rPr lang="en-US" sz="1700" i="1" kern="1200" dirty="0" smtClean="0">
                  <a:latin typeface="Cambria Math" panose="02040503050406030204" pitchFamily="18" charset="0"/>
                </a:rPr>
                <m:t> </m:t>
              </m:r>
              <m:r>
                <a:rPr lang="en-US" sz="1700" i="1" kern="1200" dirty="0" smtClean="0">
                  <a:latin typeface="Cambria Math" panose="02040503050406030204" pitchFamily="18" charset="0"/>
                </a:rPr>
                <m:t>𝑟</m:t>
              </m:r>
              <m:r>
                <a:rPr lang="en-US" sz="1700" i="1" kern="1200" dirty="0" smtClean="0">
                  <a:latin typeface="Cambria Math" panose="02040503050406030204" pitchFamily="18" charset="0"/>
                </a:rPr>
                <m:t> × (</m:t>
              </m:r>
              <m:r>
                <a:rPr lang="en-US" sz="1700" i="1" kern="1200" dirty="0" smtClean="0">
                  <a:latin typeface="Cambria Math" panose="02040503050406030204" pitchFamily="18" charset="0"/>
                </a:rPr>
                <m:t>𝑑</m:t>
              </m:r>
              <m:r>
                <a:rPr lang="en-US" sz="1700" i="1" kern="1200" dirty="0" smtClean="0">
                  <a:latin typeface="Cambria Math" panose="02040503050406030204" pitchFamily="18" charset="0"/>
                </a:rPr>
                <m:t> + </m:t>
              </m:r>
              <m:r>
                <a:rPr lang="en-US" sz="1700" i="1" kern="1200" dirty="0" smtClean="0">
                  <a:latin typeface="Cambria Math" panose="02040503050406030204" pitchFamily="18" charset="0"/>
                </a:rPr>
                <m:t>𝑘</m:t>
              </m:r>
              <m:r>
                <a:rPr lang="en-US" sz="1700" i="1" kern="1200" dirty="0" smtClean="0">
                  <a:latin typeface="Cambria Math" panose="02040503050406030204" pitchFamily="18" charset="0"/>
                </a:rPr>
                <m:t>) </m:t>
              </m:r>
            </m:oMath>
          </a14:m>
          <a:r>
            <a:rPr lang="en-US" sz="1700" kern="1200" dirty="0"/>
            <a:t>parameters to update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r>
                <a:rPr lang="en-US" sz="1700" i="1" kern="1200" dirty="0" smtClean="0">
                  <a:latin typeface="Cambria Math" panose="02040503050406030204" pitchFamily="18" charset="0"/>
                </a:rPr>
                <m:t>𝑑</m:t>
              </m:r>
              <m:r>
                <a:rPr lang="en-US" sz="1700" i="1" kern="1200" dirty="0" smtClean="0">
                  <a:latin typeface="Cambria Math" panose="02040503050406030204" pitchFamily="18" charset="0"/>
                </a:rPr>
                <m:t> = 4096, </m:t>
              </m:r>
              <m:r>
                <a:rPr lang="en-US" sz="1700" i="1" kern="1200" dirty="0" smtClean="0">
                  <a:latin typeface="Cambria Math" panose="02040503050406030204" pitchFamily="18" charset="0"/>
                </a:rPr>
                <m:t>𝑘</m:t>
              </m:r>
              <m:r>
                <a:rPr lang="en-US" sz="1700" i="1" kern="1200" dirty="0" smtClean="0">
                  <a:latin typeface="Cambria Math" panose="02040503050406030204" pitchFamily="18" charset="0"/>
                </a:rPr>
                <m:t> = 4096, </m:t>
              </m:r>
              <m:r>
                <a:rPr lang="en-US" sz="1700" i="1" kern="1200" dirty="0" smtClean="0">
                  <a:latin typeface="Cambria Math" panose="02040503050406030204" pitchFamily="18" charset="0"/>
                </a:rPr>
                <m:t>𝑟</m:t>
              </m:r>
              <m:r>
                <a:rPr lang="en-US" sz="1700" i="1" kern="1200" dirty="0" smtClean="0">
                  <a:latin typeface="Cambria Math" panose="02040503050406030204" pitchFamily="18" charset="0"/>
                </a:rPr>
                <m:t> = 8</m:t>
              </m:r>
            </m:oMath>
          </a14:m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kern="1200" dirty="0"/>
            <a:t>Full fine-tuning</a:t>
          </a:r>
          <a14:m xmlns:a14="http://schemas.microsoft.com/office/drawing/2010/main">
            <m:oMath xmlns:m="http://schemas.openxmlformats.org/officeDocument/2006/math">
              <m:r>
                <a:rPr lang="en-US" sz="1700" i="1" kern="1200" dirty="0" smtClean="0">
                  <a:latin typeface="Cambria Math" panose="02040503050406030204" pitchFamily="18" charset="0"/>
                </a:rPr>
                <m:t>: 4096 × 4096 = 16,777,216 (16.7 </m:t>
              </m:r>
              <m:r>
                <a:rPr lang="en-US" sz="1700" i="1" kern="1200" dirty="0" smtClean="0">
                  <a:latin typeface="Cambria Math" panose="02040503050406030204" pitchFamily="18" charset="0"/>
                </a:rPr>
                <m:t>𝑀</m:t>
              </m:r>
              <m:r>
                <a:rPr lang="en-US" sz="1700" i="1" kern="1200" dirty="0" smtClean="0">
                  <a:latin typeface="Cambria Math" panose="02040503050406030204" pitchFamily="18" charset="0"/>
                </a:rPr>
                <m:t>) </m:t>
              </m:r>
            </m:oMath>
          </a14:m>
          <a:r>
            <a:rPr lang="en-US" sz="1700" kern="1200" dirty="0"/>
            <a:t>parameters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kern="1200" dirty="0" err="1"/>
            <a:t>LoRA</a:t>
          </a:r>
          <a14:m xmlns:a14="http://schemas.microsoft.com/office/drawing/2010/main">
            <m:oMath xmlns:m="http://schemas.openxmlformats.org/officeDocument/2006/math">
              <m:r>
                <a:rPr lang="en-US" sz="1700" i="1" kern="1200" dirty="0" smtClean="0">
                  <a:latin typeface="Cambria Math" panose="02040503050406030204" pitchFamily="18" charset="0"/>
                </a:rPr>
                <m:t>: 8 × (4096 + 4096) = 8 × 8192 = 65,536 (65.5 </m:t>
              </m:r>
              <m:r>
                <a:rPr lang="en-US" sz="1700" i="1" kern="1200" dirty="0" smtClean="0">
                  <a:latin typeface="Cambria Math" panose="02040503050406030204" pitchFamily="18" charset="0"/>
                </a:rPr>
                <m:t>𝐾</m:t>
              </m:r>
              <m:r>
                <a:rPr lang="en-US" sz="1700" i="1" kern="1200" dirty="0" smtClean="0">
                  <a:latin typeface="Cambria Math" panose="02040503050406030204" pitchFamily="18" charset="0"/>
                </a:rPr>
                <m:t>) </m:t>
              </m:r>
            </m:oMath>
          </a14:m>
          <a:r>
            <a:rPr lang="en-US" sz="1700" kern="1200" dirty="0"/>
            <a:t>parameters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kern="1200" dirty="0"/>
            <a:t>Reduction factor:</a:t>
          </a:r>
          <a:r>
            <a:rPr lang="en-US" sz="1700" kern="1200" dirty="0"/>
            <a:t> </a:t>
          </a:r>
          <a14:m xmlns:a14="http://schemas.microsoft.com/office/drawing/2010/main">
            <m:oMath xmlns:m="http://schemas.openxmlformats.org/officeDocument/2006/math">
              <m:r>
                <a:rPr lang="en-US" sz="1700" i="1" kern="1200" dirty="0" smtClean="0">
                  <a:latin typeface="Cambria Math" panose="02040503050406030204" pitchFamily="18" charset="0"/>
                </a:rPr>
                <m:t>16,777,216 / 65,536 = 256× </m:t>
              </m:r>
            </m:oMath>
          </a14:m>
          <a:r>
            <a:rPr lang="en-US" sz="1700" kern="1200" dirty="0"/>
            <a:t>fewer trainable parameters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kern="1200" dirty="0"/>
            <a:t>%age reduction:</a:t>
          </a:r>
          <a14:m xmlns:a14="http://schemas.microsoft.com/office/drawing/2010/main">
            <m:oMath xmlns:m="http://schemas.openxmlformats.org/officeDocument/2006/math">
              <m:r>
                <a:rPr lang="en-US" sz="1700" i="1" kern="1200" dirty="0" smtClean="0">
                  <a:latin typeface="Cambria Math" panose="02040503050406030204" pitchFamily="18" charset="0"/>
                </a:rPr>
                <m:t> 99.6% </m:t>
              </m:r>
            </m:oMath>
          </a14:m>
          <a:r>
            <a:rPr lang="en-US" sz="1700" kern="1200" dirty="0"/>
            <a:t>fewer parameters to train</a:t>
          </a:r>
        </a:p>
      </dsp:txBody>
      <dsp:txXfrm>
        <a:off x="0" y="256637"/>
        <a:ext cx="9372600" cy="2409749"/>
      </dsp:txXfrm>
    </dsp:sp>
    <dsp:sp modelId="{E4D6123A-0BF3-8B42-AACE-3E0C1682EED7}">
      <dsp:nvSpPr>
        <dsp:cNvPr id="0" name=""/>
        <dsp:cNvSpPr/>
      </dsp:nvSpPr>
      <dsp:spPr>
        <a:xfrm>
          <a:off x="468630" y="5717"/>
          <a:ext cx="656082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983" tIns="0" rIns="247983" bIns="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Parameter Saving Calculations</a:t>
          </a:r>
        </a:p>
      </dsp:txBody>
      <dsp:txXfrm>
        <a:off x="493128" y="30215"/>
        <a:ext cx="6511824" cy="452844"/>
      </dsp:txXfrm>
    </dsp:sp>
    <dsp:sp modelId="{BFC7D280-0F3E-4445-A6B4-4AA9F811322D}">
      <dsp:nvSpPr>
        <dsp:cNvPr id="0" name=""/>
        <dsp:cNvSpPr/>
      </dsp:nvSpPr>
      <dsp:spPr>
        <a:xfrm>
          <a:off x="0" y="3009107"/>
          <a:ext cx="9372600" cy="1820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7418" tIns="354076" rIns="727418" bIns="120904" numCol="1" spcCol="1270" anchor="t" anchorCtr="0">
          <a:noAutofit/>
        </a:bodyPr>
        <a:lstStyle/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kern="1200" dirty="0"/>
            <a:t>Cheap + strong baseline:</a:t>
          </a:r>
          <a:r>
            <a:rPr lang="en-US" sz="1700" kern="1200" dirty="0"/>
            <a:t> </a:t>
          </a:r>
          <a:r>
            <a:rPr lang="en-US" sz="1700" kern="1200" dirty="0" err="1"/>
            <a:t>LoRA</a:t>
          </a:r>
          <a:r>
            <a:rPr lang="en-US" sz="1700" kern="1200" dirty="0"/>
            <a:t> on Q and V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kern="1200" dirty="0"/>
            <a:t>Stronger:</a:t>
          </a:r>
          <a:r>
            <a:rPr lang="en-US" sz="1700" kern="1200" dirty="0"/>
            <a:t> </a:t>
          </a:r>
          <a:r>
            <a:rPr lang="en-US" sz="1700" kern="1200" dirty="0" err="1"/>
            <a:t>LoRA</a:t>
          </a:r>
          <a:r>
            <a:rPr lang="en-US" sz="1700" kern="1200" dirty="0"/>
            <a:t> on Q, K, V, O</a:t>
          </a:r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kern="1200" dirty="0"/>
            <a:t>Even stronger:</a:t>
          </a:r>
          <a:r>
            <a:rPr lang="en-US" sz="1700" kern="1200" dirty="0"/>
            <a:t> </a:t>
          </a:r>
          <a:r>
            <a:rPr lang="en-US" sz="1700" kern="1200" dirty="0" err="1"/>
            <a:t>LoRA</a:t>
          </a:r>
          <a:r>
            <a:rPr lang="en-US" sz="1700" kern="1200" dirty="0"/>
            <a:t> on attention + MLP projections</a:t>
          </a:r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The output head is also trained</a:t>
          </a:r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Base model weights (all original Transformer weights) are frozen</a:t>
          </a:r>
        </a:p>
      </dsp:txBody>
      <dsp:txXfrm>
        <a:off x="0" y="3009107"/>
        <a:ext cx="9372600" cy="1820700"/>
      </dsp:txXfrm>
    </dsp:sp>
    <dsp:sp modelId="{A8B2C737-7ACA-4C47-A210-C272C3E54BC2}">
      <dsp:nvSpPr>
        <dsp:cNvPr id="0" name=""/>
        <dsp:cNvSpPr/>
      </dsp:nvSpPr>
      <dsp:spPr>
        <a:xfrm>
          <a:off x="468630" y="2758187"/>
          <a:ext cx="656082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983" tIns="0" rIns="247983" bIns="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Where </a:t>
          </a:r>
          <a:r>
            <a:rPr lang="en-US" sz="1700" kern="1200" dirty="0" err="1"/>
            <a:t>LoRA</a:t>
          </a:r>
          <a:r>
            <a:rPr lang="en-US" sz="1700" kern="1200" dirty="0"/>
            <a:t> is added usually</a:t>
          </a:r>
        </a:p>
      </dsp:txBody>
      <dsp:txXfrm>
        <a:off x="493128" y="2782685"/>
        <a:ext cx="6511824" cy="45284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E8C68D-899F-214F-9D09-227B9D485364}">
      <dsp:nvSpPr>
        <dsp:cNvPr id="0" name=""/>
        <dsp:cNvSpPr/>
      </dsp:nvSpPr>
      <dsp:spPr>
        <a:xfrm>
          <a:off x="0" y="0"/>
          <a:ext cx="1830585" cy="42278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Prepare Dataset</a:t>
          </a:r>
        </a:p>
      </dsp:txBody>
      <dsp:txXfrm>
        <a:off x="0" y="1691131"/>
        <a:ext cx="1830585" cy="1691131"/>
      </dsp:txXfrm>
    </dsp:sp>
    <dsp:sp modelId="{AAE2199A-77E0-9745-A80D-B754156D6F89}">
      <dsp:nvSpPr>
        <dsp:cNvPr id="0" name=""/>
        <dsp:cNvSpPr/>
      </dsp:nvSpPr>
      <dsp:spPr>
        <a:xfrm>
          <a:off x="211359" y="253669"/>
          <a:ext cx="1407867" cy="140786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69EA20-F274-F14F-8AC5-E19890FC14B1}">
      <dsp:nvSpPr>
        <dsp:cNvPr id="0" name=""/>
        <dsp:cNvSpPr/>
      </dsp:nvSpPr>
      <dsp:spPr>
        <a:xfrm>
          <a:off x="1885503" y="0"/>
          <a:ext cx="1830585" cy="42278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Load Model</a:t>
          </a:r>
        </a:p>
      </dsp:txBody>
      <dsp:txXfrm>
        <a:off x="1885503" y="1691131"/>
        <a:ext cx="1830585" cy="1691131"/>
      </dsp:txXfrm>
    </dsp:sp>
    <dsp:sp modelId="{822F892C-F010-334B-A281-1D6DCAA356CC}">
      <dsp:nvSpPr>
        <dsp:cNvPr id="0" name=""/>
        <dsp:cNvSpPr/>
      </dsp:nvSpPr>
      <dsp:spPr>
        <a:xfrm>
          <a:off x="2096862" y="253669"/>
          <a:ext cx="1407867" cy="140786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21850A-0948-6147-AE35-67533D2D7494}">
      <dsp:nvSpPr>
        <dsp:cNvPr id="0" name=""/>
        <dsp:cNvSpPr/>
      </dsp:nvSpPr>
      <dsp:spPr>
        <a:xfrm>
          <a:off x="3771007" y="0"/>
          <a:ext cx="1830585" cy="42278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Configure Training</a:t>
          </a:r>
        </a:p>
      </dsp:txBody>
      <dsp:txXfrm>
        <a:off x="3771007" y="1691131"/>
        <a:ext cx="1830585" cy="1691131"/>
      </dsp:txXfrm>
    </dsp:sp>
    <dsp:sp modelId="{CA0CBC1D-2F36-2641-8D05-F9AF45A88AFF}">
      <dsp:nvSpPr>
        <dsp:cNvPr id="0" name=""/>
        <dsp:cNvSpPr/>
      </dsp:nvSpPr>
      <dsp:spPr>
        <a:xfrm>
          <a:off x="3982366" y="253669"/>
          <a:ext cx="1407867" cy="140786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6C8830-950F-8045-8C3A-D49EE998F2C7}">
      <dsp:nvSpPr>
        <dsp:cNvPr id="0" name=""/>
        <dsp:cNvSpPr/>
      </dsp:nvSpPr>
      <dsp:spPr>
        <a:xfrm>
          <a:off x="5656510" y="0"/>
          <a:ext cx="1830585" cy="42278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Run Training</a:t>
          </a:r>
        </a:p>
      </dsp:txBody>
      <dsp:txXfrm>
        <a:off x="5656510" y="1691131"/>
        <a:ext cx="1830585" cy="1691131"/>
      </dsp:txXfrm>
    </dsp:sp>
    <dsp:sp modelId="{AB0857FF-8E47-3A45-B95A-7687B1CD761C}">
      <dsp:nvSpPr>
        <dsp:cNvPr id="0" name=""/>
        <dsp:cNvSpPr/>
      </dsp:nvSpPr>
      <dsp:spPr>
        <a:xfrm>
          <a:off x="5867869" y="253669"/>
          <a:ext cx="1407867" cy="140786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BB9665-C2E7-7146-B30C-B6DA33ACFA37}">
      <dsp:nvSpPr>
        <dsp:cNvPr id="0" name=""/>
        <dsp:cNvSpPr/>
      </dsp:nvSpPr>
      <dsp:spPr>
        <a:xfrm>
          <a:off x="7542014" y="0"/>
          <a:ext cx="1830585" cy="42278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Evaluate</a:t>
          </a:r>
        </a:p>
      </dsp:txBody>
      <dsp:txXfrm>
        <a:off x="7542014" y="1691131"/>
        <a:ext cx="1830585" cy="1691131"/>
      </dsp:txXfrm>
    </dsp:sp>
    <dsp:sp modelId="{1614D2B7-B161-6842-AD46-FC3A564973F6}">
      <dsp:nvSpPr>
        <dsp:cNvPr id="0" name=""/>
        <dsp:cNvSpPr/>
      </dsp:nvSpPr>
      <dsp:spPr>
        <a:xfrm>
          <a:off x="7753373" y="253669"/>
          <a:ext cx="1407867" cy="140786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9FD0B5-D51F-8848-8724-07D88A3C852B}">
      <dsp:nvSpPr>
        <dsp:cNvPr id="0" name=""/>
        <dsp:cNvSpPr/>
      </dsp:nvSpPr>
      <dsp:spPr>
        <a:xfrm>
          <a:off x="374904" y="3382263"/>
          <a:ext cx="8622792" cy="634174"/>
        </a:xfrm>
        <a:prstGeom prst="left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E08F2E-5F06-4CE2-A139-452A1382A6F0}" type="datetimeFigureOut">
              <a:rPr lang="en-US"/>
              <a:t>2/15/26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28588A-5C4E-401A-AECC-B6F63A9DE965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99797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4C5DC6-1594-414D-9341-ABA08739246C}" type="datetimeFigureOut">
              <a:rPr lang="en-US"/>
              <a:t>2/15/26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542409-6A04-4DC6-AC3A-D3758287A8F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1150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82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42409-6A04-4DC6-AC3A-D3758287A8F2}" type="slidenum">
              <a:rPr lang="en-SA" smtClean="0"/>
              <a:t>3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8603626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4D1CD-7D45-E315-2A55-8D9E41203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B6E564-36C0-A37E-BE45-510F0184F5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E93ECE-D5FA-291E-35E3-A5E3B58F0C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256FE-3FF5-7283-ED17-8EDCD44638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42409-6A04-4DC6-AC3A-D3758287A8F2}" type="slidenum">
              <a:rPr lang="en-SA" smtClean="0"/>
              <a:t>4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9818057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55C34-8B49-8E22-F50B-90D1E8DE9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12C14F-F8B7-EF83-EB5A-031CD4C8B5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2E8127-970A-CF2D-A327-2ECB29C66E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BDEA7-6E41-E97F-D8FE-1E91FEF7C6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42409-6A04-4DC6-AC3A-D3758287A8F2}" type="slidenum">
              <a:rPr lang="en-SA" smtClean="0"/>
              <a:t>6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019234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ctr" latinLnBrk="0" hangingPunct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 Memory Requirement</a:t>
            </a:r>
            <a:r>
              <a:rPr lang="en-S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Very high (≈30 GB or more)</a:t>
            </a:r>
            <a:r>
              <a:rPr lang="en-S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 (≈4× less)</a:t>
            </a:r>
            <a:endParaRPr lang="en-SA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42409-6A04-4DC6-AC3A-D3758287A8F2}" type="slidenum">
              <a:rPr lang="en-SA" smtClean="0"/>
              <a:t>9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2212249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5E3A8-CB46-E547-B291-9F8BA4BD3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7A6B59-1697-D32C-F555-7E7A9C57C2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B8836F-DBE9-41C0-1756-E4BAEBCAE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D292E-0984-9778-E1BA-FC0FDF3072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42409-6A04-4DC6-AC3A-D3758287A8F2}" type="slidenum">
              <a:rPr lang="en-SA" smtClean="0"/>
              <a:t>10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42188334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F734C-9688-102A-C3A2-1EA928A38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98C863-078C-E9DD-FA2A-618C5F253C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B3DD7B-D24D-5576-623A-83E54DBE7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2E1ECD-0A1A-DFAE-51B3-2C94EBEAAC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42409-6A04-4DC6-AC3A-D3758287A8F2}" type="slidenum">
              <a:rPr lang="en-SA" smtClean="0"/>
              <a:t>14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8176370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6FD25-423D-C530-CF30-D183D3BEA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C8ABF8-A723-8E93-EF69-7198CD5788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5CD995-FE03-959B-2E91-0BC87AA55E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219F9-AF2D-693F-DBC3-B119648FA4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42409-6A04-4DC6-AC3A-D3758287A8F2}" type="slidenum">
              <a:rPr lang="en-SA" smtClean="0"/>
              <a:t>15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9264442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EC015-7A65-58E1-2CE1-680142479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87E606-035C-174E-5F3A-E1312EBA0E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C4A2ED-667E-C52D-DDE4-143AD13013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6E37E-D3E9-3767-5396-953976FA9D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42409-6A04-4DC6-AC3A-D3758287A8F2}" type="slidenum">
              <a:rPr lang="en-SA" smtClean="0"/>
              <a:t>16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5853124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36E56-AB17-EFC9-462C-DF7A2A437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4B6307-B6E2-ABFB-6782-68AAF7518D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8595BC-1387-6286-B0D3-C778539F7E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12685-DEF7-47D1-1A6B-20A0D12D49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42409-6A04-4DC6-AC3A-D3758287A8F2}" type="slidenum">
              <a:rPr lang="en-SA" smtClean="0"/>
              <a:t>17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368254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600200" y="0"/>
            <a:ext cx="5029200" cy="594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loseup of plant shoot" title="Slide Design Picture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60567" y="2057400"/>
            <a:ext cx="2060767" cy="3886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777" y="3019706"/>
            <a:ext cx="4846320" cy="23876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777" y="5381894"/>
            <a:ext cx="4846320" cy="448056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98731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511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751777" y="2263913"/>
            <a:ext cx="7199696" cy="21883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777" y="2263913"/>
            <a:ext cx="6949440" cy="2188355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0851" y="4524522"/>
            <a:ext cx="7220622" cy="44952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89894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768">
          <p15:clr>
            <a:srgbClr val="FDE53C"/>
          </p15:clr>
        </p15:guide>
        <p15:guide id="2" orient="horz" pos="1296">
          <p15:clr>
            <a:srgbClr val="FDE53C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09700" y="1556281"/>
            <a:ext cx="4610099" cy="4620682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556281"/>
            <a:ext cx="4609775" cy="4620682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1687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09699" y="1554480"/>
            <a:ext cx="4608576" cy="823912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09699" y="2378392"/>
            <a:ext cx="4608576" cy="3811271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554480"/>
            <a:ext cx="4610100" cy="823912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378392"/>
            <a:ext cx="4610100" cy="3811271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7180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5877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7393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6679" y="919616"/>
            <a:ext cx="4155622" cy="2532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9699" y="915923"/>
            <a:ext cx="5216979" cy="5065776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6679" y="3446396"/>
            <a:ext cx="4155622" cy="2535303"/>
          </a:xfrm>
        </p:spPr>
        <p:txBody>
          <a:bodyPr>
            <a:normAutofit/>
          </a:bodyPr>
          <a:lstStyle>
            <a:lvl1pPr marL="0" indent="0">
              <a:spcBef>
                <a:spcPts val="9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3549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6680" y="919616"/>
            <a:ext cx="4155622" cy="2532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915923"/>
            <a:ext cx="6626677" cy="5065776"/>
          </a:xfrm>
        </p:spPr>
        <p:txBody>
          <a:bodyPr tIns="1371600">
            <a:normAutofit/>
          </a:bodyPr>
          <a:lstStyle>
            <a:lvl1pPr marL="0" indent="0" algn="ctr">
              <a:spcBef>
                <a:spcPts val="0"/>
              </a:spcBef>
              <a:buNone/>
              <a:defRPr sz="2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6680" y="3446397"/>
            <a:ext cx="4155622" cy="2535304"/>
          </a:xfrm>
        </p:spPr>
        <p:txBody>
          <a:bodyPr>
            <a:normAutofit/>
          </a:bodyPr>
          <a:lstStyle>
            <a:lvl1pPr marL="0" indent="0">
              <a:spcBef>
                <a:spcPts val="9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422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0709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90500"/>
            <a:ext cx="2057400" cy="5986463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90500"/>
            <a:ext cx="7734300" cy="5986463"/>
          </a:xfrm>
        </p:spPr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1014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6629400"/>
            <a:ext cx="1499616" cy="228600"/>
          </a:xfrm>
          <a:prstGeom prst="rect">
            <a:avLst/>
          </a:prstGeom>
          <a:gradFill>
            <a:gsLst>
              <a:gs pos="0">
                <a:schemeClr val="accent1">
                  <a:lumMod val="15000"/>
                  <a:lumOff val="85000"/>
                </a:schemeClr>
              </a:gs>
              <a:gs pos="100000">
                <a:schemeClr val="accent1">
                  <a:lumMod val="15000"/>
                  <a:lumOff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609344" y="6629400"/>
            <a:ext cx="10582656" cy="228600"/>
          </a:xfrm>
          <a:prstGeom prst="rect">
            <a:avLst/>
          </a:prstGeom>
          <a:gradFill>
            <a:gsLst>
              <a:gs pos="0">
                <a:schemeClr val="accent1">
                  <a:lumMod val="35000"/>
                  <a:lumOff val="65000"/>
                </a:schemeClr>
              </a:gs>
              <a:gs pos="100000">
                <a:schemeClr val="accent1">
                  <a:lumMod val="35000"/>
                  <a:lumOff val="6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10026" y="276087"/>
            <a:ext cx="9371949" cy="11835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0027" y="1566001"/>
            <a:ext cx="9371948" cy="4620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6629400"/>
            <a:ext cx="410402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9CD8D479-8942-46E8-A226-A4E01F7A105C}" type="slidenum">
              <a:rPr/>
              <a:pPr/>
              <a:t>‹#›</a:t>
            </a:fld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31101" y="6629400"/>
            <a:ext cx="1000662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July 22, 2012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37716" y="6629400"/>
            <a:ext cx="914425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dirty="0"/>
              <a:t>Footer text here</a:t>
            </a:r>
          </a:p>
        </p:txBody>
      </p:sp>
    </p:spTree>
    <p:extLst>
      <p:ext uri="{BB962C8B-B14F-4D97-AF65-F5344CB8AC3E}">
        <p14:creationId xmlns:p14="http://schemas.microsoft.com/office/powerpoint/2010/main" val="2866046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10312" indent="-210312" algn="l" defTabSz="91440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38912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766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052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338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3624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5910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196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0482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diagramData" Target="../diagrams/data5.xml"/><Relationship Id="rId16" Type="http://schemas.openxmlformats.org/officeDocument/2006/relationships/image" Target="../media/image19.svg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openxmlformats.org/officeDocument/2006/relationships/image" Target="../media/image14.png"/><Relationship Id="rId5" Type="http://schemas.openxmlformats.org/officeDocument/2006/relationships/diagramColors" Target="../diagrams/colors4.xml"/><Relationship Id="rId15" Type="http://schemas.openxmlformats.org/officeDocument/2006/relationships/image" Target="../media/image18.png"/><Relationship Id="rId10" Type="http://schemas.openxmlformats.org/officeDocument/2006/relationships/image" Target="../media/image13.svg"/><Relationship Id="rId4" Type="http://schemas.openxmlformats.org/officeDocument/2006/relationships/diagramQuickStyle" Target="../diagrams/quickStyle4.xml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5E43459-5AD6-05A7-68C8-F3E8FBC3CB19}"/>
              </a:ext>
            </a:extLst>
          </p:cNvPr>
          <p:cNvSpPr/>
          <p:nvPr/>
        </p:nvSpPr>
        <p:spPr>
          <a:xfrm>
            <a:off x="6705600" y="2036618"/>
            <a:ext cx="5486400" cy="403167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Fine-Tuning Genomic Foundation Models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Ikram Ullah, Staff Scientist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258AC2-6818-6EFB-B085-929213EE1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1909794"/>
            <a:ext cx="2711359" cy="403167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CDA2E77-8433-8039-37B0-94FB05392400}"/>
              </a:ext>
            </a:extLst>
          </p:cNvPr>
          <p:cNvSpPr txBox="1"/>
          <p:nvPr/>
        </p:nvSpPr>
        <p:spPr>
          <a:xfrm>
            <a:off x="6045844" y="6607502"/>
            <a:ext cx="6146156" cy="250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Image taken from – Tang, Lin. "Large models for genomics." 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Nature Methods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20.12 (2023): 1868-1868.</a:t>
            </a:r>
            <a:endParaRPr lang="en-SA" sz="1000" dirty="0"/>
          </a:p>
        </p:txBody>
      </p:sp>
    </p:spTree>
    <p:extLst>
      <p:ext uri="{BB962C8B-B14F-4D97-AF65-F5344CB8AC3E}">
        <p14:creationId xmlns:p14="http://schemas.microsoft.com/office/powerpoint/2010/main" val="4261546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2FA6A-8F52-70E4-545F-001D16504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A" dirty="0"/>
              <a:t>Agenda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CC5D2BE-02E5-9BCD-B80A-9A97F71644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689422"/>
              </p:ext>
            </p:extLst>
          </p:nvPr>
        </p:nvGraphicFramePr>
        <p:xfrm>
          <a:off x="1540564" y="1588861"/>
          <a:ext cx="6735336" cy="45187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EB9A7683-5B0B-F3F7-0AC4-AD118CD7FD49}"/>
              </a:ext>
            </a:extLst>
          </p:cNvPr>
          <p:cNvGrpSpPr/>
          <p:nvPr/>
        </p:nvGrpSpPr>
        <p:grpSpPr>
          <a:xfrm>
            <a:off x="8710647" y="1818152"/>
            <a:ext cx="2998149" cy="3868026"/>
            <a:chOff x="8710647" y="1818152"/>
            <a:chExt cx="2998149" cy="386802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FDDDFE0-24A9-8615-9CE4-16E3D0C3E20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710647" y="1818152"/>
              <a:ext cx="2998149" cy="322169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EA93968-4040-7EA2-D2D3-3348BE32EA65}"/>
                </a:ext>
              </a:extLst>
            </p:cNvPr>
            <p:cNvSpPr txBox="1"/>
            <p:nvPr/>
          </p:nvSpPr>
          <p:spPr>
            <a:xfrm>
              <a:off x="8710648" y="5039847"/>
              <a:ext cx="299814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1200" b="0" i="0" dirty="0">
                  <a:solidFill>
                    <a:srgbClr val="222222"/>
                  </a:solidFill>
                  <a:effectLst/>
                  <a:latin typeface="Harding"/>
                </a:rPr>
                <a:t>UMAP visualization of the pretrained </a:t>
              </a:r>
              <a:r>
                <a:rPr lang="en-US" sz="1200" b="0" i="0" dirty="0" err="1">
                  <a:solidFill>
                    <a:srgbClr val="222222"/>
                  </a:solidFill>
                  <a:effectLst/>
                  <a:latin typeface="Harding"/>
                </a:rPr>
                <a:t>scGPT</a:t>
              </a:r>
              <a:r>
                <a:rPr lang="en-US" sz="1200" b="0" i="0" dirty="0">
                  <a:solidFill>
                    <a:srgbClr val="222222"/>
                  </a:solidFill>
                  <a:effectLst/>
                  <a:latin typeface="Harding"/>
                </a:rPr>
                <a:t> cell embeddings (</a:t>
              </a:r>
              <a:r>
                <a:rPr lang="en-US" sz="1200" b="0" i="0" dirty="0" err="1">
                  <a:solidFill>
                    <a:srgbClr val="222222"/>
                  </a:solidFill>
                  <a:effectLst/>
                  <a:latin typeface="Harding"/>
                </a:rPr>
                <a:t>emb</a:t>
              </a:r>
              <a:r>
                <a:rPr lang="en-US" sz="1200" b="0" i="0" dirty="0">
                  <a:solidFill>
                    <a:srgbClr val="222222"/>
                  </a:solidFill>
                  <a:effectLst/>
                  <a:latin typeface="Harding"/>
                </a:rPr>
                <a:t>; a random 10% subset), colored by major cell types</a:t>
              </a:r>
              <a:endParaRPr lang="en-SA" sz="1200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021A0DA-5FF3-A5EF-75F7-81D921B4EB0A}"/>
              </a:ext>
            </a:extLst>
          </p:cNvPr>
          <p:cNvSpPr txBox="1"/>
          <p:nvPr/>
        </p:nvSpPr>
        <p:spPr>
          <a:xfrm>
            <a:off x="1686309" y="6611779"/>
            <a:ext cx="930668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Cui, Haotian, et al. "</a:t>
            </a:r>
            <a:r>
              <a:rPr lang="en-US" sz="1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scGPT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toward building a foundation model for single-cell multi-omics using generative AI." 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Nature Methods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21.8 (2024): 1470-1480.</a:t>
            </a:r>
            <a:endParaRPr lang="en-SA" sz="1000" dirty="0"/>
          </a:p>
        </p:txBody>
      </p:sp>
    </p:spTree>
    <p:extLst>
      <p:ext uri="{BB962C8B-B14F-4D97-AF65-F5344CB8AC3E}">
        <p14:creationId xmlns:p14="http://schemas.microsoft.com/office/powerpoint/2010/main" val="137574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92258-F3BB-4716-1D4C-EC7CA37F79D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Building General Knowledge</a:t>
            </a:r>
          </a:p>
          <a:p>
            <a:pPr lvl="1"/>
            <a:r>
              <a:rPr lang="en-US" dirty="0"/>
              <a:t>Training on massive unlabeled genomic data to learn patterns</a:t>
            </a:r>
            <a:endParaRPr lang="en-US" b="1" dirty="0"/>
          </a:p>
          <a:p>
            <a:r>
              <a:rPr lang="en-US" dirty="0"/>
              <a:t>Key Points:</a:t>
            </a:r>
          </a:p>
          <a:p>
            <a:pPr lvl="1"/>
            <a:r>
              <a:rPr lang="en-US" dirty="0"/>
              <a:t>Huge datasets (billions of sequences)</a:t>
            </a:r>
          </a:p>
          <a:p>
            <a:pPr lvl="1"/>
            <a:r>
              <a:rPr lang="en-US" dirty="0"/>
              <a:t>Self-supervised learning</a:t>
            </a:r>
          </a:p>
          <a:p>
            <a:pPr lvl="1"/>
            <a:r>
              <a:rPr lang="en-US" dirty="0"/>
              <a:t>General patterns learned</a:t>
            </a:r>
          </a:p>
          <a:p>
            <a:pPr lvl="1"/>
            <a:r>
              <a:rPr lang="en-US" dirty="0"/>
              <a:t>Compute-intensive (days/weeks on GPUs)</a:t>
            </a:r>
          </a:p>
          <a:p>
            <a:pPr lvl="1"/>
            <a:r>
              <a:rPr lang="en-US" dirty="0"/>
              <a:t>Foundation model as output</a:t>
            </a:r>
          </a:p>
          <a:p>
            <a:r>
              <a:rPr lang="en-US" dirty="0"/>
              <a:t>Examples</a:t>
            </a:r>
          </a:p>
          <a:p>
            <a:pPr lvl="1"/>
            <a:r>
              <a:rPr lang="en-US" dirty="0"/>
              <a:t>DNABERT pre-trained on Human DNA</a:t>
            </a:r>
          </a:p>
          <a:p>
            <a:pPr lvl="1"/>
            <a:r>
              <a:rPr lang="en-US" dirty="0"/>
              <a:t>NT-v2-500m-multi-species pre-trained on a collection of 850 genomes from a wide range of species, including model and non-model organisms</a:t>
            </a:r>
            <a:endParaRPr lang="en-S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99B6C5-E2FB-47BC-0948-706B2267D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Pre-training?</a:t>
            </a:r>
            <a:endParaRPr lang="en-SA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5E80757-1DE5-7731-2B7B-A62AF10533D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969034" y="2092729"/>
            <a:ext cx="4610100" cy="2931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39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2B83A-EE41-227F-41A0-EEC7EEC8B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F8067-16C5-8D5E-670F-514456370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Quick Check: Pre-training</a:t>
            </a:r>
            <a:endParaRPr lang="en-SA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9B296-59D8-FED9-74B7-CBE83F775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Which of the following is a realistic example of a pre-trained genomic foundation model?​</a:t>
            </a:r>
          </a:p>
          <a:p>
            <a:endParaRPr lang="en-US" dirty="0"/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A model trained only on pathogenic variants for a single disease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A model trained on DNA sequences from Mouse genome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A model trained on one </a:t>
            </a:r>
            <a:r>
              <a:rPr lang="en-US" dirty="0" err="1"/>
              <a:t>ChIP</a:t>
            </a:r>
            <a:r>
              <a:rPr lang="en-US" dirty="0"/>
              <a:t>-seq experiment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A logistic regression on GC-content and motif scores</a:t>
            </a:r>
            <a:br>
              <a:rPr lang="en-US" sz="2400" dirty="0"/>
            </a:br>
            <a:endParaRPr lang="en-S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A305E6-52A1-BA5C-A020-89D3B35AD512}"/>
              </a:ext>
            </a:extLst>
          </p:cNvPr>
          <p:cNvSpPr txBox="1"/>
          <p:nvPr/>
        </p:nvSpPr>
        <p:spPr>
          <a:xfrm>
            <a:off x="1410025" y="5418665"/>
            <a:ext cx="90071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000" b="1" i="0" dirty="0">
                <a:solidFill>
                  <a:srgbClr val="00B050"/>
                </a:solidFill>
                <a:effectLst/>
                <a:latin typeface="Segoe UI" panose="020B0502040204020203" pitchFamily="34" charset="0"/>
              </a:rPr>
              <a:t>Answer: </a:t>
            </a:r>
            <a:r>
              <a:rPr lang="en-US" sz="2000" b="1" dirty="0">
                <a:solidFill>
                  <a:srgbClr val="00B050"/>
                </a:solidFill>
                <a:latin typeface="Segoe UI" panose="020B0502040204020203" pitchFamily="34" charset="0"/>
              </a:rPr>
              <a:t>B. </a:t>
            </a:r>
          </a:p>
          <a:p>
            <a:pPr lvl="0">
              <a:defRPr/>
            </a:pPr>
            <a:r>
              <a:rPr lang="en-US" sz="2000" dirty="0">
                <a:solidFill>
                  <a:srgbClr val="00B050"/>
                </a:solidFill>
                <a:latin typeface="Segoe UI" panose="020B0502040204020203" pitchFamily="34" charset="0"/>
              </a:rPr>
              <a:t>A model trained on whole Mouse genome sequences</a:t>
            </a:r>
            <a:endParaRPr lang="en-SA" sz="2000" dirty="0"/>
          </a:p>
        </p:txBody>
      </p:sp>
    </p:spTree>
    <p:extLst>
      <p:ext uri="{BB962C8B-B14F-4D97-AF65-F5344CB8AC3E}">
        <p14:creationId xmlns:p14="http://schemas.microsoft.com/office/powerpoint/2010/main" val="9405992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32551-6FEF-BF84-517D-EC3C482A8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Fine-tuning?</a:t>
            </a:r>
            <a:endParaRPr lang="en-S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5ACBB-010B-8288-937B-32D54A007B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9700" y="1556281"/>
            <a:ext cx="5661660" cy="462068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Specialization for Your Task</a:t>
            </a:r>
          </a:p>
          <a:p>
            <a:pPr lvl="1"/>
            <a:r>
              <a:rPr lang="en-US" dirty="0"/>
              <a:t>Adapt a pre-trained model to specific tasks using labeled data.</a:t>
            </a:r>
          </a:p>
          <a:p>
            <a:r>
              <a:rPr lang="en-US" dirty="0"/>
              <a:t>Key Points:</a:t>
            </a:r>
          </a:p>
          <a:p>
            <a:pPr lvl="1"/>
            <a:r>
              <a:rPr lang="en-US" dirty="0"/>
              <a:t>Small datasets (thousands/tens-of-thousand of sequences)</a:t>
            </a:r>
          </a:p>
          <a:p>
            <a:pPr lvl="1"/>
            <a:r>
              <a:rPr lang="en-US" dirty="0"/>
              <a:t>Labels required</a:t>
            </a:r>
          </a:p>
          <a:p>
            <a:pPr lvl="1"/>
            <a:r>
              <a:rPr lang="en-US" dirty="0"/>
              <a:t>Adapts knowledge to your problem</a:t>
            </a:r>
          </a:p>
          <a:p>
            <a:pPr lvl="1"/>
            <a:r>
              <a:rPr lang="en-US" dirty="0"/>
              <a:t>Faster &amp; cheaper compared to pretraining</a:t>
            </a:r>
          </a:p>
          <a:p>
            <a:pPr lvl="1"/>
            <a:r>
              <a:rPr lang="en-US" dirty="0"/>
              <a:t>Task-specific output</a:t>
            </a:r>
          </a:p>
          <a:p>
            <a:r>
              <a:rPr lang="en-US" dirty="0"/>
              <a:t>Example: </a:t>
            </a:r>
          </a:p>
          <a:p>
            <a:pPr lvl="1"/>
            <a:r>
              <a:rPr lang="en-US" dirty="0"/>
              <a:t>Use pathogenic variants to identify disease mutations</a:t>
            </a:r>
          </a:p>
          <a:p>
            <a:pPr lvl="1"/>
            <a:r>
              <a:rPr lang="en-US" dirty="0"/>
              <a:t>Understanding gene regulation</a:t>
            </a:r>
          </a:p>
          <a:p>
            <a:pPr lvl="1"/>
            <a:r>
              <a:rPr lang="en-US" dirty="0"/>
              <a:t>Synthetic element design</a:t>
            </a:r>
            <a:endParaRPr lang="en-S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C9826C-969F-16C5-37E5-040FEC403E7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71360" y="2596964"/>
            <a:ext cx="4610100" cy="222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067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C959B-BCBA-8A3E-DEDA-AE3DB533C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E3817-3811-08E5-27A2-5A8D80B2B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Quick Check: Fine-tuning</a:t>
            </a:r>
            <a:endParaRPr lang="en-SA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82C50-6E2F-509F-F5D7-5217DBEB5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Which scenario best illustrates a realistic fine-tuning task in biosciences?</a:t>
            </a:r>
            <a:br>
              <a:rPr lang="en-US" dirty="0"/>
            </a:br>
            <a:r>
              <a:rPr lang="en-US" dirty="0"/>
              <a:t>​</a:t>
            </a:r>
          </a:p>
          <a:p>
            <a:endParaRPr lang="en-US" dirty="0"/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Pre-training a model on billions of unlabeled genomes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Adapting a pre-trained model using labeled pathogenic vs non‑pathogenic sequences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Training a model only on random DNA fragments without labels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Compressing a model using 4‑bit quantization</a:t>
            </a:r>
          </a:p>
          <a:p>
            <a:pPr marL="457200" indent="-457200">
              <a:buFont typeface="+mj-lt"/>
              <a:buAutoNum type="alphaUcPeriod"/>
            </a:pPr>
            <a:endParaRPr lang="en-US" sz="2400" dirty="0"/>
          </a:p>
          <a:p>
            <a:pPr marL="0" indent="0">
              <a:buNone/>
            </a:pPr>
            <a:br>
              <a:rPr lang="en-US" sz="2400" dirty="0"/>
            </a:br>
            <a:endParaRPr lang="en-S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80E87A-C8C2-4293-2368-C992887BBAA5}"/>
              </a:ext>
            </a:extLst>
          </p:cNvPr>
          <p:cNvSpPr txBox="1"/>
          <p:nvPr/>
        </p:nvSpPr>
        <p:spPr>
          <a:xfrm>
            <a:off x="1410025" y="5291999"/>
            <a:ext cx="900719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000" b="1" i="0" dirty="0">
                <a:solidFill>
                  <a:srgbClr val="00B050"/>
                </a:solidFill>
                <a:effectLst/>
                <a:latin typeface="Segoe UI" panose="020B0502040204020203" pitchFamily="34" charset="0"/>
              </a:rPr>
              <a:t>Answer: </a:t>
            </a:r>
            <a:r>
              <a:rPr lang="en-US" sz="2000" b="1" dirty="0">
                <a:solidFill>
                  <a:srgbClr val="00B050"/>
                </a:solidFill>
                <a:latin typeface="Segoe UI" panose="020B0502040204020203" pitchFamily="34" charset="0"/>
              </a:rPr>
              <a:t>B. </a:t>
            </a:r>
          </a:p>
          <a:p>
            <a:pPr lvl="0">
              <a:defRPr/>
            </a:pPr>
            <a:r>
              <a:rPr lang="en-US" sz="2000" dirty="0">
                <a:solidFill>
                  <a:srgbClr val="00B050"/>
                </a:solidFill>
                <a:latin typeface="Segoe UI" panose="020B0502040204020203" pitchFamily="34" charset="0"/>
              </a:rPr>
              <a:t>Adapting a pre-trained model using labeled pathogenic vs non‑pathogenic sequences</a:t>
            </a:r>
          </a:p>
        </p:txBody>
      </p:sp>
    </p:spTree>
    <p:extLst>
      <p:ext uri="{BB962C8B-B14F-4D97-AF65-F5344CB8AC3E}">
        <p14:creationId xmlns:p14="http://schemas.microsoft.com/office/powerpoint/2010/main" val="2975435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3B1D9-F92B-1134-BC86-A93D7D8B8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Pre-training vs Fine-tuning</a:t>
            </a:r>
            <a:endParaRPr lang="en-SA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361972E-1A21-D1EE-D7F8-BFBC6A886E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3824157"/>
              </p:ext>
            </p:extLst>
          </p:nvPr>
        </p:nvGraphicFramePr>
        <p:xfrm>
          <a:off x="1324356" y="1658113"/>
          <a:ext cx="8843772" cy="4435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7924">
                  <a:extLst>
                    <a:ext uri="{9D8B030D-6E8A-4147-A177-3AD203B41FA5}">
                      <a16:colId xmlns:a16="http://schemas.microsoft.com/office/drawing/2014/main" val="279007629"/>
                    </a:ext>
                  </a:extLst>
                </a:gridCol>
                <a:gridCol w="2947924">
                  <a:extLst>
                    <a:ext uri="{9D8B030D-6E8A-4147-A177-3AD203B41FA5}">
                      <a16:colId xmlns:a16="http://schemas.microsoft.com/office/drawing/2014/main" val="3857505921"/>
                    </a:ext>
                  </a:extLst>
                </a:gridCol>
                <a:gridCol w="2947924">
                  <a:extLst>
                    <a:ext uri="{9D8B030D-6E8A-4147-A177-3AD203B41FA5}">
                      <a16:colId xmlns:a16="http://schemas.microsoft.com/office/drawing/2014/main" val="2280457091"/>
                    </a:ext>
                  </a:extLst>
                </a:gridCol>
              </a:tblGrid>
              <a:tr h="3188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Aspect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Pre-training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Fine-tuning</a:t>
                      </a:r>
                      <a:endParaRPr 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3350808"/>
                  </a:ext>
                </a:extLst>
              </a:tr>
              <a:tr h="602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Data Size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Multimillions to Billions of sequence (e.g., genomes, proteomes)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Thousands to hundreds of thousands of labeled samples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5796692"/>
                  </a:ext>
                </a:extLst>
              </a:tr>
              <a:tr h="7827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Data Type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Unlabeled biological sequences (self-supervised tasks)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Labeled data for specific tasks (e.g., promoters, variants, binding sites)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0841184"/>
                  </a:ext>
                </a:extLst>
              </a:tr>
              <a:tr h="602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Objective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Learn general biological representations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Adapt representations to a specific prediction task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0030319"/>
                  </a:ext>
                </a:extLst>
              </a:tr>
              <a:tr h="3188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Time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Weeks to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Hours to days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9025418"/>
                  </a:ext>
                </a:extLst>
              </a:tr>
              <a:tr h="602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Compute &amp; GPUs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Multi-GPU or TPU clusters (e.g., 10–100s of GPUs)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Single or few GPUs (e.g., LoRA on RTX 3090)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5750006"/>
                  </a:ext>
                </a:extLst>
              </a:tr>
              <a:tr h="3188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Cost Estimate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1000s to millions $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Hundreds to thousands of $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6632372"/>
                  </a:ext>
                </a:extLst>
              </a:tr>
              <a:tr h="5507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Result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Foundation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Task-adapted (specialized)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98520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85E2337-1C93-C188-724C-D68A91F65301}"/>
              </a:ext>
            </a:extLst>
          </p:cNvPr>
          <p:cNvSpPr txBox="1"/>
          <p:nvPr/>
        </p:nvSpPr>
        <p:spPr>
          <a:xfrm>
            <a:off x="1324356" y="6200858"/>
            <a:ext cx="7900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Pretraining builds “biological intelligence,” fine-tuning channels it for specific task</a:t>
            </a:r>
            <a:endParaRPr lang="en-S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4422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7A2FB-9353-CC79-A754-C9479296E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Fine-Tuning: The Transfer Learning Paradigm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72899C6-8619-BB50-591A-B22B676E6A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9466501"/>
              </p:ext>
            </p:extLst>
          </p:nvPr>
        </p:nvGraphicFramePr>
        <p:xfrm>
          <a:off x="1410027" y="1566001"/>
          <a:ext cx="9371948" cy="46206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61701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0A2C8-3D69-4CFB-B3AC-4EC29CD2D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Fine-Tuning vs. Parameter-Efficient Fine-Tuning</a:t>
            </a:r>
            <a:endParaRPr lang="en-SA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FBAF3A40-2AA7-95B0-380A-1E136A14C5C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72987247"/>
              </p:ext>
            </p:extLst>
          </p:nvPr>
        </p:nvGraphicFramePr>
        <p:xfrm>
          <a:off x="1409700" y="2480203"/>
          <a:ext cx="9759043" cy="38570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4721">
                  <a:extLst>
                    <a:ext uri="{9D8B030D-6E8A-4147-A177-3AD203B41FA5}">
                      <a16:colId xmlns:a16="http://schemas.microsoft.com/office/drawing/2014/main" val="3503124722"/>
                    </a:ext>
                  </a:extLst>
                </a:gridCol>
                <a:gridCol w="3417603">
                  <a:extLst>
                    <a:ext uri="{9D8B030D-6E8A-4147-A177-3AD203B41FA5}">
                      <a16:colId xmlns:a16="http://schemas.microsoft.com/office/drawing/2014/main" val="2901146845"/>
                    </a:ext>
                  </a:extLst>
                </a:gridCol>
                <a:gridCol w="4136719">
                  <a:extLst>
                    <a:ext uri="{9D8B030D-6E8A-4147-A177-3AD203B41FA5}">
                      <a16:colId xmlns:a16="http://schemas.microsoft.com/office/drawing/2014/main" val="3576984174"/>
                    </a:ext>
                  </a:extLst>
                </a:gridCol>
              </a:tblGrid>
              <a:tr h="623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Aspect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Full Fine-Tuning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Parameter-Efficient Fine-Tuning (PEFT)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8881923"/>
                  </a:ext>
                </a:extLst>
              </a:tr>
              <a:tr h="564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Parameters Updated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All model 117M parameters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Only a small subset (e.g., LoRA or adapter weights)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590799"/>
                  </a:ext>
                </a:extLst>
              </a:tr>
              <a:tr h="564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GPU Memory Requirement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1548175"/>
                  </a:ext>
                </a:extLst>
              </a:tr>
              <a:tr h="337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Training Speed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Slow — hours to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Fast — minutes to a few hours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3313429"/>
                  </a:ext>
                </a:extLst>
              </a:tr>
              <a:tr h="564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Risk of Catastrophic Forgetting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High — overwrites pre-trained knowledge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Low — base model remains frozen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2148759"/>
                  </a:ext>
                </a:extLst>
              </a:tr>
              <a:tr h="564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Flexibility / Adaptability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Full flexibility — can adapt all layers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Moderate — only modifies low-rank or adapter components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5798335"/>
                  </a:ext>
                </a:extLst>
              </a:tr>
              <a:tr h="564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Best Suited For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Large institutions or foundational model creators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Research labs and applied task fine-tuning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357837"/>
                  </a:ext>
                </a:extLst>
              </a:tr>
            </a:tbl>
          </a:graphicData>
        </a:graphic>
      </p:graphicFrame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533F6C46-E0A0-BD87-22C7-4DE1798ED5B4}"/>
              </a:ext>
            </a:extLst>
          </p:cNvPr>
          <p:cNvSpPr txBox="1">
            <a:spLocks/>
          </p:cNvSpPr>
          <p:nvPr/>
        </p:nvSpPr>
        <p:spPr>
          <a:xfrm>
            <a:off x="1409700" y="1736611"/>
            <a:ext cx="9371949" cy="712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0312" indent="-210312" algn="l" defTabSz="91440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8912" indent="-155448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76656" indent="-155448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5256" indent="-155448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3856" indent="-155448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62456" indent="-155448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91056" indent="-155448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19656" indent="-155448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48256" indent="-155448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A" dirty="0"/>
              <a:t>Finetuning full model can be very compute-heavy and complex</a:t>
            </a:r>
          </a:p>
          <a:p>
            <a:pPr lvl="1"/>
            <a:r>
              <a:rPr lang="en-SA" dirty="0"/>
              <a:t>Let’s take examle of DNABERT-2 model (117 Million parameters)</a:t>
            </a:r>
          </a:p>
        </p:txBody>
      </p:sp>
    </p:spTree>
    <p:extLst>
      <p:ext uri="{BB962C8B-B14F-4D97-AF65-F5344CB8AC3E}">
        <p14:creationId xmlns:p14="http://schemas.microsoft.com/office/powerpoint/2010/main" val="874211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74591-0F2D-8F95-D42B-0E8EBC2E4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ED95D-0805-9B7A-E9BC-73451B33E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Quick Check: Full Fine-Tuning vs PEFT</a:t>
            </a:r>
            <a:endParaRPr lang="en-SA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2ED13-E932-0E5D-05E5-23D48BD7A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is a key difference between full fine-tuning and parameter-efficient fine-tuning (PEFT)?​</a:t>
            </a:r>
          </a:p>
          <a:p>
            <a:endParaRPr lang="en-US" dirty="0"/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Full fine-tuning requires no labeled data, whereas PEFT does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Full fine-tuning updates all model parameters; PEFT updates only a small subset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PEFT always increases GPU memory usage compared to full fine-tuning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PEFT discards the pre-trained weights entirely</a:t>
            </a:r>
            <a:endParaRPr lang="en-US" sz="2400" dirty="0"/>
          </a:p>
          <a:p>
            <a:pPr marL="0" indent="0">
              <a:buNone/>
            </a:pPr>
            <a:br>
              <a:rPr lang="en-US" sz="2400" dirty="0"/>
            </a:br>
            <a:endParaRPr lang="en-S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1C8160-004B-99AD-A6FA-510425BFA029}"/>
              </a:ext>
            </a:extLst>
          </p:cNvPr>
          <p:cNvSpPr txBox="1"/>
          <p:nvPr/>
        </p:nvSpPr>
        <p:spPr>
          <a:xfrm>
            <a:off x="1410025" y="5291999"/>
            <a:ext cx="900719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000" b="1" i="0" dirty="0">
                <a:solidFill>
                  <a:srgbClr val="00B050"/>
                </a:solidFill>
                <a:effectLst/>
                <a:latin typeface="Segoe UI" panose="020B0502040204020203" pitchFamily="34" charset="0"/>
              </a:rPr>
              <a:t>Answer: </a:t>
            </a:r>
            <a:r>
              <a:rPr lang="en-US" sz="2000" b="1" dirty="0">
                <a:solidFill>
                  <a:srgbClr val="00B050"/>
                </a:solidFill>
                <a:latin typeface="Segoe UI" panose="020B0502040204020203" pitchFamily="34" charset="0"/>
              </a:rPr>
              <a:t>B. </a:t>
            </a:r>
          </a:p>
          <a:p>
            <a:pPr lvl="0">
              <a:defRPr/>
            </a:pPr>
            <a:r>
              <a:rPr lang="en-US" sz="2000" dirty="0">
                <a:solidFill>
                  <a:srgbClr val="00B050"/>
                </a:solidFill>
                <a:latin typeface="Segoe UI" panose="020B0502040204020203" pitchFamily="34" charset="0"/>
              </a:rPr>
              <a:t>Full fine-tuning updates all model parameters; PEFT updates only a small subset</a:t>
            </a:r>
          </a:p>
        </p:txBody>
      </p:sp>
    </p:spTree>
    <p:extLst>
      <p:ext uri="{BB962C8B-B14F-4D97-AF65-F5344CB8AC3E}">
        <p14:creationId xmlns:p14="http://schemas.microsoft.com/office/powerpoint/2010/main" val="89112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EC997-7405-444D-5900-8BE285D50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Low-Rank Adaptation (</a:t>
            </a:r>
            <a:r>
              <a:rPr lang="en-US" dirty="0" err="1"/>
              <a:t>LoRA</a:t>
            </a:r>
            <a:r>
              <a:rPr lang="en-US" dirty="0"/>
              <a:t>): Smart Parameter Updates</a:t>
            </a:r>
            <a:endParaRPr lang="en-S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1E4ED6F-5BAB-137A-E26E-9F27DDD85F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10026" y="4163371"/>
                <a:ext cx="4850097" cy="2152593"/>
              </a:xfr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How </a:t>
                </a:r>
                <a:r>
                  <a:rPr lang="en-US" sz="2400" dirty="0" err="1"/>
                  <a:t>LoRA</a:t>
                </a:r>
                <a:r>
                  <a:rPr lang="en-US" sz="2400" dirty="0"/>
                  <a:t> works</a:t>
                </a:r>
              </a:p>
              <a:p>
                <a:pPr lvl="1"/>
                <a:r>
                  <a:rPr lang="en-US" dirty="0"/>
                  <a:t>Freeze the pre-trained model</a:t>
                </a:r>
              </a:p>
              <a:p>
                <a:pPr lvl="1"/>
                <a:r>
                  <a:rPr lang="en-US" dirty="0"/>
                  <a:t>Insert small trainable matrices A and B</a:t>
                </a:r>
              </a:p>
              <a:p>
                <a:pPr lvl="1"/>
                <a:r>
                  <a:rPr lang="en-US" dirty="0"/>
                  <a:t>Update a tiny portion of total parameters</a:t>
                </a:r>
              </a:p>
              <a:p>
                <a:pPr lvl="1"/>
                <a:r>
                  <a:rPr lang="en-US" dirty="0"/>
                  <a:t>Scaling controlled by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​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lvl="2"/>
                <a:r>
                  <a:rPr lang="en-US" dirty="0"/>
                  <a:t>Whatever </a:t>
                </a:r>
                <a:r>
                  <a:rPr lang="en-US" dirty="0" err="1"/>
                  <a:t>LoRA</a:t>
                </a:r>
                <a:r>
                  <a:rPr lang="en-US" dirty="0"/>
                  <a:t> learns gets multiplied by </a:t>
                </a:r>
                <a14:m>
                  <m:oMath xmlns:m="http://schemas.openxmlformats.org/officeDocument/2006/math">
                    <m:r>
                      <a:rPr lang="el-GR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​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1E4ED6F-5BAB-137A-E26E-9F27DDD85F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10026" y="4163371"/>
                <a:ext cx="4850097" cy="2152593"/>
              </a:xfrm>
              <a:blipFill>
                <a:blip r:embed="rId2"/>
                <a:stretch>
                  <a:fillRect l="-1567" t="-2924"/>
                </a:stretch>
              </a:blipFill>
            </p:spPr>
            <p:txBody>
              <a:bodyPr/>
              <a:lstStyle/>
              <a:p>
                <a:r>
                  <a:rPr lang="en-S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B0132E3-6028-EE7A-7073-62E4A22DC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1664" y="5036258"/>
            <a:ext cx="4932459" cy="1279706"/>
          </a:xfrm>
          <a:prstGeom prst="rect">
            <a:avLst/>
          </a:prstGeom>
          <a:ln>
            <a:solidFill>
              <a:schemeClr val="accent2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4">
                <a:extLst>
                  <a:ext uri="{FF2B5EF4-FFF2-40B4-BE49-F238E27FC236}">
                    <a16:creationId xmlns:a16="http://schemas.microsoft.com/office/drawing/2014/main" id="{2FD9E240-10FC-F7F3-6D57-463E7546C5A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10027" y="1672348"/>
                <a:ext cx="4850096" cy="217282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10312" indent="-210312" algn="l" defTabSz="914400" rtl="0" eaLnBrk="1" latinLnBrk="0" hangingPunct="1">
                  <a:lnSpc>
                    <a:spcPct val="90000"/>
                  </a:lnSpc>
                  <a:spcBef>
                    <a:spcPts val="11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38912" indent="-155448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76656" indent="-155448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05256" indent="-155448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33856" indent="-155448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362456" indent="-155448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591056" indent="-155448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819656" indent="-155448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048256" indent="-155448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Full fine-tuning updates every parameter, demanding huge GPU memory and long training.</a:t>
                </a:r>
              </a:p>
              <a:p>
                <a:r>
                  <a:rPr lang="en-US" dirty="0" err="1"/>
                  <a:t>LoRA</a:t>
                </a:r>
                <a:r>
                  <a:rPr lang="en-US" dirty="0"/>
                  <a:t> offers a smarter alternative</a:t>
                </a:r>
              </a:p>
              <a:p>
                <a:pPr lvl="1"/>
                <a:r>
                  <a:rPr lang="en-US" dirty="0"/>
                  <a:t>A weight matrix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SA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SA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SA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ar-SA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SA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/>
                  <a:t>is updated via a rank-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decomposition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𝐵𝐴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min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4">
                <a:extLst>
                  <a:ext uri="{FF2B5EF4-FFF2-40B4-BE49-F238E27FC236}">
                    <a16:creationId xmlns:a16="http://schemas.microsoft.com/office/drawing/2014/main" id="{2FD9E240-10FC-F7F3-6D57-463E7546C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0027" y="1672348"/>
                <a:ext cx="4850096" cy="2172821"/>
              </a:xfrm>
              <a:prstGeom prst="rect">
                <a:avLst/>
              </a:prstGeom>
              <a:blipFill>
                <a:blip r:embed="rId4"/>
                <a:stretch>
                  <a:fillRect l="-1305" t="-4651"/>
                </a:stretch>
              </a:blipFill>
            </p:spPr>
            <p:txBody>
              <a:bodyPr/>
              <a:lstStyle/>
              <a:p>
                <a:r>
                  <a:rPr lang="en-S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08267B8A-144E-7C30-C53A-2D9CAC3A1C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1663" y="1703756"/>
            <a:ext cx="4932460" cy="304294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257466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18D150F-86AB-B269-7F0B-F5CE1D5A3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A" dirty="0"/>
              <a:t>LoRA Details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Content Placeholder 8">
                <a:extLst>
                  <a:ext uri="{FF2B5EF4-FFF2-40B4-BE49-F238E27FC236}">
                    <a16:creationId xmlns:a16="http://schemas.microsoft.com/office/drawing/2014/main" id="{F7A6C010-F82E-4A81-DF8F-EE28D4D97C7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270688878"/>
                  </p:ext>
                </p:extLst>
              </p:nvPr>
            </p:nvGraphicFramePr>
            <p:xfrm>
              <a:off x="1409700" y="1565275"/>
              <a:ext cx="9372600" cy="483552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9" name="Content Placeholder 8">
                <a:extLst>
                  <a:ext uri="{FF2B5EF4-FFF2-40B4-BE49-F238E27FC236}">
                    <a16:creationId xmlns:a16="http://schemas.microsoft.com/office/drawing/2014/main" id="{F7A6C010-F82E-4A81-DF8F-EE28D4D97C7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270688878"/>
                  </p:ext>
                </p:extLst>
              </p:nvPr>
            </p:nvGraphicFramePr>
            <p:xfrm>
              <a:off x="1409700" y="1565275"/>
              <a:ext cx="9372600" cy="483552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94479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1609F-C18C-CBDA-11F4-87353354D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Even </a:t>
            </a:r>
            <a:r>
              <a:rPr lang="en-US" dirty="0" err="1"/>
              <a:t>LoRA</a:t>
            </a:r>
            <a:r>
              <a:rPr lang="en-US" dirty="0"/>
              <a:t> models can be large → compress the frozen base further.</a:t>
            </a:r>
          </a:p>
          <a:p>
            <a:r>
              <a:rPr lang="en-US" dirty="0"/>
              <a:t>Quantization:</a:t>
            </a:r>
          </a:p>
          <a:p>
            <a:pPr lvl="1"/>
            <a:r>
              <a:rPr lang="en-US" dirty="0"/>
              <a:t>~50% memory reduction when moving from fp16 → 8-bit</a:t>
            </a:r>
          </a:p>
          <a:p>
            <a:pPr lvl="1"/>
            <a:r>
              <a:rPr lang="en-US" dirty="0"/>
              <a:t>~75% reduction from fp16 → 4-bit</a:t>
            </a:r>
          </a:p>
          <a:p>
            <a:pPr lvl="1"/>
            <a:r>
              <a:rPr lang="en-US" dirty="0"/>
              <a:t>Accuracy largely maintained if quantization is applied correctly</a:t>
            </a:r>
          </a:p>
          <a:p>
            <a:r>
              <a:rPr lang="en-US" dirty="0" err="1"/>
              <a:t>QLoRA</a:t>
            </a:r>
            <a:r>
              <a:rPr lang="en-US" dirty="0"/>
              <a:t> = Quantization + </a:t>
            </a:r>
            <a:r>
              <a:rPr lang="en-US" dirty="0" err="1"/>
              <a:t>LoRA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Quantize the frozen base → smaller memory footprint</a:t>
            </a:r>
          </a:p>
          <a:p>
            <a:pPr lvl="1"/>
            <a:r>
              <a:rPr lang="en-US" dirty="0"/>
              <a:t>Keep </a:t>
            </a:r>
            <a:r>
              <a:rPr lang="en-US" dirty="0" err="1"/>
              <a:t>LoRA</a:t>
            </a:r>
            <a:r>
              <a:rPr lang="en-US" dirty="0"/>
              <a:t> adapters in higher precision for stability</a:t>
            </a:r>
          </a:p>
          <a:p>
            <a:pPr lvl="1"/>
            <a:r>
              <a:rPr lang="en-US" dirty="0"/>
              <a:t>Enables fine-tuning billion-parameter models on consumer GPUs</a:t>
            </a:r>
          </a:p>
          <a:p>
            <a:pPr marL="283464" lvl="1" indent="0">
              <a:buNone/>
            </a:pPr>
            <a:endParaRPr lang="en-US" dirty="0"/>
          </a:p>
          <a:p>
            <a:r>
              <a:rPr lang="en-US" dirty="0" err="1"/>
              <a:t>LoRA</a:t>
            </a:r>
            <a:r>
              <a:rPr lang="en-US" dirty="0"/>
              <a:t> shrinks what you train; quantization shrinks what you load </a:t>
            </a:r>
          </a:p>
          <a:p>
            <a:r>
              <a:rPr lang="en-US" dirty="0"/>
              <a:t>Together, they achieve up to 4×–8× memory savings with relatively smaller in accuracy loss.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A7245C-3692-7DEE-B0F8-E515B435D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Quantization + </a:t>
            </a:r>
            <a:r>
              <a:rPr lang="en-US" dirty="0" err="1"/>
              <a:t>LoRA</a:t>
            </a:r>
            <a:r>
              <a:rPr lang="en-US" dirty="0"/>
              <a:t> → </a:t>
            </a:r>
            <a:r>
              <a:rPr lang="en-US" dirty="0" err="1"/>
              <a:t>QLoRA</a:t>
            </a:r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959218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61630-D24E-AB51-A0E7-B370E1009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6C7B5-068B-6BB5-B78A-E11B4027E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Test your knowledge</a:t>
            </a:r>
            <a:endParaRPr lang="en-SA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1C6E4-34B6-987E-A465-84D6D3F15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 have access to a 2B-parameter DNA foundation model and a single 24GB GPU. You want to test 10 different downstream tasks quickly (promoters, enhancers, splice sites, etc.). Which strategy is most sensible?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Full fine-tuning 10 separate copies of the model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One full fine-tuned model shared across all tasks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Parameter-efficient fine-tuning (e.g., </a:t>
            </a:r>
            <a:r>
              <a:rPr lang="en-US" dirty="0" err="1"/>
              <a:t>LoRA</a:t>
            </a:r>
            <a:r>
              <a:rPr lang="en-US" dirty="0"/>
              <a:t>) with a separate adapter for each task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Training 10 small models from scratch</a:t>
            </a:r>
            <a:br>
              <a:rPr lang="en-US" sz="2400" dirty="0"/>
            </a:br>
            <a:endParaRPr lang="en-S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8BF524-DC3A-E0FE-FEFD-5B84821A55C6}"/>
              </a:ext>
            </a:extLst>
          </p:cNvPr>
          <p:cNvSpPr txBox="1"/>
          <p:nvPr/>
        </p:nvSpPr>
        <p:spPr>
          <a:xfrm>
            <a:off x="1410025" y="5291999"/>
            <a:ext cx="90071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000" b="1" i="0" dirty="0">
                <a:solidFill>
                  <a:srgbClr val="00B050"/>
                </a:solidFill>
                <a:effectLst/>
                <a:latin typeface="Segoe UI" panose="020B0502040204020203" pitchFamily="34" charset="0"/>
              </a:rPr>
              <a:t>Answer: </a:t>
            </a:r>
            <a:r>
              <a:rPr lang="en-US" sz="2000" b="1" dirty="0">
                <a:solidFill>
                  <a:srgbClr val="00B050"/>
                </a:solidFill>
                <a:latin typeface="Segoe UI" panose="020B0502040204020203" pitchFamily="34" charset="0"/>
              </a:rPr>
              <a:t>C. </a:t>
            </a:r>
          </a:p>
          <a:p>
            <a:pPr lvl="0">
              <a:defRPr/>
            </a:pPr>
            <a:r>
              <a:rPr lang="en-US" sz="2000" dirty="0">
                <a:solidFill>
                  <a:srgbClr val="00B050"/>
                </a:solidFill>
                <a:latin typeface="Segoe UI" panose="020B0502040204020203" pitchFamily="34" charset="0"/>
              </a:rPr>
              <a:t>Modular adapters and practical lab constraints</a:t>
            </a:r>
          </a:p>
        </p:txBody>
      </p:sp>
    </p:spTree>
    <p:extLst>
      <p:ext uri="{BB962C8B-B14F-4D97-AF65-F5344CB8AC3E}">
        <p14:creationId xmlns:p14="http://schemas.microsoft.com/office/powerpoint/2010/main" val="2628429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A3F55-6A22-D560-4D1D-DBF531852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759E6-04D1-E3B0-08BF-DF8457816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Test your knowledge</a:t>
            </a:r>
            <a:endParaRPr lang="en-SA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12D68-E361-009A-8A0A-9EB3A1CAE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 apply </a:t>
            </a:r>
            <a:r>
              <a:rPr lang="en-US" dirty="0" err="1"/>
              <a:t>LoRA</a:t>
            </a:r>
            <a:r>
              <a:rPr lang="en-US" dirty="0"/>
              <a:t> only to the Q and V projections in self-attention for a genomic model. Intuitively, what kind of adaptation are you prioritizing?</a:t>
            </a:r>
          </a:p>
          <a:p>
            <a:pPr marL="457200" indent="-457200">
              <a:buFont typeface="+mj-lt"/>
              <a:buAutoNum type="alphaUcPeriod"/>
            </a:pPr>
            <a:endParaRPr lang="en-US" dirty="0"/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Changing which tokens attend to which others and how strongly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Changing only the output layer’s bias terms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Modifying the loss function but not the model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Changing tokenization of DNA sequences</a:t>
            </a:r>
            <a:br>
              <a:rPr lang="en-US" sz="2400" dirty="0"/>
            </a:br>
            <a:endParaRPr lang="en-S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152220-2DE5-0BE4-F417-984CE15AB0D4}"/>
              </a:ext>
            </a:extLst>
          </p:cNvPr>
          <p:cNvSpPr txBox="1"/>
          <p:nvPr/>
        </p:nvSpPr>
        <p:spPr>
          <a:xfrm>
            <a:off x="1410025" y="5291999"/>
            <a:ext cx="90071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000" b="1" i="0" dirty="0">
                <a:solidFill>
                  <a:srgbClr val="00B050"/>
                </a:solidFill>
                <a:effectLst/>
                <a:latin typeface="Segoe UI" panose="020B0502040204020203" pitchFamily="34" charset="0"/>
              </a:rPr>
              <a:t>Answer: </a:t>
            </a:r>
            <a:r>
              <a:rPr lang="en-US" sz="2000" b="1" dirty="0">
                <a:solidFill>
                  <a:srgbClr val="00B050"/>
                </a:solidFill>
                <a:latin typeface="Segoe UI" panose="020B0502040204020203" pitchFamily="34" charset="0"/>
              </a:rPr>
              <a:t>A. </a:t>
            </a:r>
          </a:p>
          <a:p>
            <a:pPr lvl="0">
              <a:defRPr/>
            </a:pPr>
            <a:r>
              <a:rPr lang="en-US" sz="2000" dirty="0">
                <a:solidFill>
                  <a:srgbClr val="00B050"/>
                </a:solidFill>
                <a:latin typeface="Segoe UI" panose="020B0502040204020203" pitchFamily="34" charset="0"/>
              </a:rPr>
              <a:t>Who attends to whom</a:t>
            </a:r>
          </a:p>
        </p:txBody>
      </p:sp>
    </p:spTree>
    <p:extLst>
      <p:ext uri="{BB962C8B-B14F-4D97-AF65-F5344CB8AC3E}">
        <p14:creationId xmlns:p14="http://schemas.microsoft.com/office/powerpoint/2010/main" val="2924281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06E2D-EF3A-2E64-E4F3-F4023DAFE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EEB1E-BA9E-E6B9-DF17-C1EE03D80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Test your knowledge</a:t>
            </a:r>
            <a:endParaRPr lang="en-SA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31AAE-8BD9-0993-F3BB-D62C800A6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 use </a:t>
            </a:r>
            <a:r>
              <a:rPr lang="en-US" dirty="0" err="1"/>
              <a:t>QLoRA</a:t>
            </a:r>
            <a:r>
              <a:rPr lang="en-US" dirty="0"/>
              <a:t> to fine-tune a 7B-parameter DNA model on 4‑bit weights and </a:t>
            </a:r>
            <a:r>
              <a:rPr lang="en-US" dirty="0" err="1"/>
              <a:t>LoRA</a:t>
            </a:r>
            <a:r>
              <a:rPr lang="en-US" dirty="0"/>
              <a:t> adapters for variant effect prediction. After training, you observe a small drop in performance on extremely rare variant types. </a:t>
            </a:r>
          </a:p>
          <a:p>
            <a:pPr marL="0" indent="0">
              <a:buNone/>
            </a:pPr>
            <a:r>
              <a:rPr lang="en-US" dirty="0"/>
              <a:t>What is the </a:t>
            </a:r>
            <a:r>
              <a:rPr lang="en-US" b="1" dirty="0"/>
              <a:t>most plausible explanation</a:t>
            </a:r>
            <a:r>
              <a:rPr lang="en-US" dirty="0"/>
              <a:t>?</a:t>
            </a:r>
          </a:p>
          <a:p>
            <a:pPr marL="457200" indent="-457200">
              <a:buFont typeface="+mj-lt"/>
              <a:buAutoNum type="alphaUcPeriod"/>
            </a:pPr>
            <a:endParaRPr lang="en-US" dirty="0"/>
          </a:p>
          <a:p>
            <a:pPr marL="457200" indent="-457200">
              <a:buFont typeface="+mj-lt"/>
              <a:buAutoNum type="alphaUcPeriod"/>
            </a:pPr>
            <a:r>
              <a:rPr lang="en-US" dirty="0" err="1"/>
              <a:t>QLoRA</a:t>
            </a:r>
            <a:r>
              <a:rPr lang="en-US" dirty="0"/>
              <a:t> always ignores rare variants by design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 err="1"/>
              <a:t>LoRA</a:t>
            </a:r>
            <a:r>
              <a:rPr lang="en-US" dirty="0"/>
              <a:t> cannot be used for classification tasks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Quantization may have slightly reduced representational precision in edge cases, even if average performance is preserved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4‑bit weights guarantee improved performance on rare events</a:t>
            </a:r>
            <a:br>
              <a:rPr lang="en-US" sz="2400" dirty="0"/>
            </a:br>
            <a:endParaRPr lang="en-S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43658D-BBA5-EA0E-F130-76DCA0530874}"/>
              </a:ext>
            </a:extLst>
          </p:cNvPr>
          <p:cNvSpPr txBox="1"/>
          <p:nvPr/>
        </p:nvSpPr>
        <p:spPr>
          <a:xfrm>
            <a:off x="1410025" y="5892921"/>
            <a:ext cx="90071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000" b="1" i="0" dirty="0">
                <a:solidFill>
                  <a:srgbClr val="00B050"/>
                </a:solidFill>
                <a:effectLst/>
                <a:latin typeface="Segoe UI" panose="020B0502040204020203" pitchFamily="34" charset="0"/>
              </a:rPr>
              <a:t>Answer: </a:t>
            </a:r>
            <a:r>
              <a:rPr lang="en-US" sz="2000" b="1" dirty="0">
                <a:solidFill>
                  <a:srgbClr val="00B050"/>
                </a:solidFill>
                <a:latin typeface="Segoe UI" panose="020B0502040204020203" pitchFamily="34" charset="0"/>
              </a:rPr>
              <a:t>C. </a:t>
            </a:r>
          </a:p>
          <a:p>
            <a:pPr lvl="0">
              <a:defRPr/>
            </a:pPr>
            <a:r>
              <a:rPr lang="en-US" sz="2000" dirty="0">
                <a:solidFill>
                  <a:srgbClr val="00B050"/>
                </a:solidFill>
                <a:latin typeface="Segoe UI" panose="020B0502040204020203" pitchFamily="34" charset="0"/>
              </a:rPr>
              <a:t>Quantization reduces model size but also affects precision</a:t>
            </a:r>
          </a:p>
        </p:txBody>
      </p:sp>
    </p:spTree>
    <p:extLst>
      <p:ext uri="{BB962C8B-B14F-4D97-AF65-F5344CB8AC3E}">
        <p14:creationId xmlns:p14="http://schemas.microsoft.com/office/powerpoint/2010/main" val="2216556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3FC31-1407-2BF0-01C9-0BF9237CE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3F909-3CAC-6CA2-1B89-8FF72C74A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Test your knowledge</a:t>
            </a:r>
            <a:endParaRPr lang="en-SA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4ED8C-16FF-BE6F-5740-5633BF1D0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 have </a:t>
            </a:r>
            <a:r>
              <a:rPr lang="en-US" dirty="0" err="1"/>
              <a:t>ChIP</a:t>
            </a:r>
            <a:r>
              <a:rPr lang="en-US" dirty="0"/>
              <a:t>-seq peaks for a TF across human and mouse. You want to test whether a </a:t>
            </a:r>
            <a:r>
              <a:rPr lang="en-US" b="1" dirty="0"/>
              <a:t>multi-species pre-trained model </a:t>
            </a:r>
            <a:r>
              <a:rPr lang="en-US" dirty="0"/>
              <a:t>transfers better than a </a:t>
            </a:r>
            <a:r>
              <a:rPr lang="en-US" b="1" dirty="0"/>
              <a:t>human-only pre-trained model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Which experiment is best aligned with that question?</a:t>
            </a:r>
          </a:p>
          <a:p>
            <a:pPr marL="457200" indent="-457200">
              <a:buFont typeface="+mj-lt"/>
              <a:buAutoNum type="alphaUcPeriod"/>
            </a:pPr>
            <a:endParaRPr lang="en-US" dirty="0"/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Fine-tune both models on </a:t>
            </a:r>
            <a:r>
              <a:rPr lang="en-US" b="1" dirty="0"/>
              <a:t>mouse only </a:t>
            </a:r>
            <a:r>
              <a:rPr lang="en-US" dirty="0"/>
              <a:t>and compare human performance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Fine-tune both models on </a:t>
            </a:r>
            <a:r>
              <a:rPr lang="en-US" b="1" dirty="0"/>
              <a:t>human only </a:t>
            </a:r>
            <a:r>
              <a:rPr lang="en-US" dirty="0"/>
              <a:t>and evaluate on mouse TF binding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Fine-tune both on a </a:t>
            </a:r>
            <a:r>
              <a:rPr lang="en-US" b="1" dirty="0"/>
              <a:t>mixed </a:t>
            </a:r>
            <a:r>
              <a:rPr lang="en-US" b="1" dirty="0" err="1"/>
              <a:t>human+mouse</a:t>
            </a:r>
            <a:r>
              <a:rPr lang="en-US" b="1" dirty="0"/>
              <a:t> </a:t>
            </a:r>
            <a:r>
              <a:rPr lang="en-US" dirty="0"/>
              <a:t>training set and evaluate on human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Train both from </a:t>
            </a:r>
            <a:r>
              <a:rPr lang="en-US" b="1" dirty="0"/>
              <a:t>scratch</a:t>
            </a:r>
            <a:r>
              <a:rPr lang="en-US" dirty="0"/>
              <a:t> on human and compare</a:t>
            </a:r>
            <a:br>
              <a:rPr lang="en-US" sz="2400" dirty="0"/>
            </a:br>
            <a:endParaRPr lang="en-S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948C52-C29E-8F24-11E1-FE0932F695CC}"/>
              </a:ext>
            </a:extLst>
          </p:cNvPr>
          <p:cNvSpPr txBox="1"/>
          <p:nvPr/>
        </p:nvSpPr>
        <p:spPr>
          <a:xfrm>
            <a:off x="1410025" y="5482613"/>
            <a:ext cx="900719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000" b="1" i="0" dirty="0">
                <a:solidFill>
                  <a:srgbClr val="00B050"/>
                </a:solidFill>
                <a:effectLst/>
                <a:latin typeface="Segoe UI" panose="020B0502040204020203" pitchFamily="34" charset="0"/>
              </a:rPr>
              <a:t>Answer: </a:t>
            </a:r>
            <a:r>
              <a:rPr lang="en-US" sz="2000" b="1" dirty="0">
                <a:solidFill>
                  <a:srgbClr val="00B050"/>
                </a:solidFill>
                <a:latin typeface="Segoe UI" panose="020B0502040204020203" pitchFamily="34" charset="0"/>
              </a:rPr>
              <a:t>B. </a:t>
            </a:r>
          </a:p>
          <a:p>
            <a:pPr lvl="0">
              <a:defRPr/>
            </a:pPr>
            <a:r>
              <a:rPr lang="en-US" sz="2000" dirty="0">
                <a:solidFill>
                  <a:srgbClr val="00B050"/>
                </a:solidFill>
                <a:latin typeface="Segoe UI" panose="020B0502040204020203" pitchFamily="34" charset="0"/>
              </a:rPr>
              <a:t>Does multi-species pretraining help generalize to a different species better than human-only pretraining?</a:t>
            </a:r>
          </a:p>
        </p:txBody>
      </p:sp>
    </p:spTree>
    <p:extLst>
      <p:ext uri="{BB962C8B-B14F-4D97-AF65-F5344CB8AC3E}">
        <p14:creationId xmlns:p14="http://schemas.microsoft.com/office/powerpoint/2010/main" val="3712304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4D107-D5CE-A6FC-71DF-78DF8B7D5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Overview of Fine-Tuning Pipeline</a:t>
            </a:r>
            <a:endParaRPr lang="en-SA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1F08A68-0025-9634-4D8D-27F4874261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8742741"/>
              </p:ext>
            </p:extLst>
          </p:nvPr>
        </p:nvGraphicFramePr>
        <p:xfrm>
          <a:off x="1409049" y="1960700"/>
          <a:ext cx="9372600" cy="42278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Graphic 5" descr="Database with solid fill">
            <a:extLst>
              <a:ext uri="{FF2B5EF4-FFF2-40B4-BE49-F238E27FC236}">
                <a16:creationId xmlns:a16="http://schemas.microsoft.com/office/drawing/2014/main" id="{6F1B404E-8C9C-0C3D-C57E-0095EBB802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62835" y="2414725"/>
            <a:ext cx="1132114" cy="1132114"/>
          </a:xfrm>
          <a:prstGeom prst="rect">
            <a:avLst/>
          </a:prstGeom>
        </p:spPr>
      </p:pic>
      <p:pic>
        <p:nvPicPr>
          <p:cNvPr id="8" name="Graphic 7" descr="Artificial Intelligence with solid fill">
            <a:extLst>
              <a:ext uri="{FF2B5EF4-FFF2-40B4-BE49-F238E27FC236}">
                <a16:creationId xmlns:a16="http://schemas.microsoft.com/office/drawing/2014/main" id="{132669AC-B686-5E1E-CCFE-23A54AB50B0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89606" y="2414725"/>
            <a:ext cx="1132114" cy="1132114"/>
          </a:xfrm>
          <a:prstGeom prst="rect">
            <a:avLst/>
          </a:prstGeom>
        </p:spPr>
      </p:pic>
      <p:pic>
        <p:nvPicPr>
          <p:cNvPr id="10" name="Graphic 9" descr="Gears with solid fill">
            <a:extLst>
              <a:ext uri="{FF2B5EF4-FFF2-40B4-BE49-F238E27FC236}">
                <a16:creationId xmlns:a16="http://schemas.microsoft.com/office/drawing/2014/main" id="{0093E255-042B-EEEC-8978-7D0C97964B7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34735" y="2414725"/>
            <a:ext cx="1132114" cy="1132114"/>
          </a:xfrm>
          <a:prstGeom prst="rect">
            <a:avLst/>
          </a:prstGeom>
        </p:spPr>
      </p:pic>
      <p:pic>
        <p:nvPicPr>
          <p:cNvPr id="12" name="Graphic 11" descr="Teacher with solid fill">
            <a:extLst>
              <a:ext uri="{FF2B5EF4-FFF2-40B4-BE49-F238E27FC236}">
                <a16:creationId xmlns:a16="http://schemas.microsoft.com/office/drawing/2014/main" id="{189D3BEE-02D1-06DA-A24B-0A07E890FF9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79864" y="2414725"/>
            <a:ext cx="1132114" cy="1132114"/>
          </a:xfrm>
          <a:prstGeom prst="rect">
            <a:avLst/>
          </a:prstGeom>
        </p:spPr>
      </p:pic>
      <p:pic>
        <p:nvPicPr>
          <p:cNvPr id="14" name="Graphic 13" descr="Judge male with solid fill">
            <a:extLst>
              <a:ext uri="{FF2B5EF4-FFF2-40B4-BE49-F238E27FC236}">
                <a16:creationId xmlns:a16="http://schemas.microsoft.com/office/drawing/2014/main" id="{9BC4B034-B3D2-AD39-867D-F31E6E649F6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306635" y="2414725"/>
            <a:ext cx="1132114" cy="113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354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47EC5-909C-02B5-23F9-439387533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A" dirty="0"/>
              <a:t>Prepare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3579F-3E63-AF24-092C-2E282CDCE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0028" y="1566001"/>
            <a:ext cx="7260444" cy="4620682"/>
          </a:xfrm>
        </p:spPr>
        <p:txBody>
          <a:bodyPr/>
          <a:lstStyle/>
          <a:p>
            <a:r>
              <a:rPr lang="en-SA" dirty="0"/>
              <a:t>Get the data</a:t>
            </a:r>
          </a:p>
          <a:p>
            <a:pPr lvl="1"/>
            <a:r>
              <a:rPr lang="en-US" dirty="0"/>
              <a:t>Collect raw biological sequences (e.g., DNA, RNA, or protein) along with task-specific labels such as binding sites, promoters, or variant effects.</a:t>
            </a:r>
            <a:endParaRPr lang="en-SA" dirty="0"/>
          </a:p>
          <a:p>
            <a:r>
              <a:rPr lang="en-SA" dirty="0"/>
              <a:t>Tokenize data</a:t>
            </a:r>
          </a:p>
          <a:p>
            <a:pPr lvl="1"/>
            <a:r>
              <a:rPr lang="en-US" dirty="0"/>
              <a:t>Convert sequences into numerical tokens (e.g., k-</a:t>
            </a:r>
            <a:r>
              <a:rPr lang="en-US" dirty="0" err="1"/>
              <a:t>mers</a:t>
            </a:r>
            <a:r>
              <a:rPr lang="en-US" dirty="0"/>
              <a:t>, BPE, character tokens) so the model can understand and process them efficiently.</a:t>
            </a:r>
            <a:endParaRPr lang="en-SA" dirty="0"/>
          </a:p>
          <a:p>
            <a:r>
              <a:rPr lang="en-SA" dirty="0"/>
              <a:t>Split into Train, Validation and Test set</a:t>
            </a:r>
          </a:p>
          <a:p>
            <a:pPr lvl="1"/>
            <a:r>
              <a:rPr lang="en-US" dirty="0"/>
              <a:t>Divide the dataset to train the model, tune its parameters, and fairly evaluate its performance on unseen examples.</a:t>
            </a:r>
            <a:endParaRPr lang="en-SA" dirty="0"/>
          </a:p>
          <a:p>
            <a:r>
              <a:rPr lang="en-SA" dirty="0"/>
              <a:t>Configure Data Collation</a:t>
            </a:r>
          </a:p>
          <a:p>
            <a:pPr lvl="1"/>
            <a:r>
              <a:rPr lang="en-US" dirty="0"/>
              <a:t>Define how batches are formed during training—padding, truncation, and alignment—to ensure consistent sequence lengths (same for all sequences and efficient GPU use (multiple of 8, 16, 64…)</a:t>
            </a:r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2377463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75FA6-FC05-7A68-20E2-5A58D4D25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A" dirty="0"/>
              <a:t>Load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6F488-08F5-CDB0-F0B7-6D53797B2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A" dirty="0"/>
              <a:t>Load pre-trained model </a:t>
            </a:r>
          </a:p>
          <a:p>
            <a:pPr lvl="1"/>
            <a:r>
              <a:rPr lang="en-SA" dirty="0"/>
              <a:t>Usually </a:t>
            </a:r>
            <a:r>
              <a:rPr lang="en-US" dirty="0"/>
              <a:t>hosted on model hubs (e.g., Hugging Face Hub, GitHub, or lab repositories)</a:t>
            </a:r>
          </a:p>
          <a:p>
            <a:pPr lvl="1"/>
            <a:r>
              <a:rPr lang="en-US" dirty="0"/>
              <a:t>Can also be stored locally or on HPC</a:t>
            </a:r>
            <a:endParaRPr lang="en-SA" dirty="0"/>
          </a:p>
          <a:p>
            <a:r>
              <a:rPr lang="en-US" dirty="0"/>
              <a:t>Attach PEFT adapters (e.g., </a:t>
            </a:r>
            <a:r>
              <a:rPr lang="en-US" dirty="0" err="1"/>
              <a:t>LoRA</a:t>
            </a:r>
            <a:r>
              <a:rPr lang="en-US" dirty="0"/>
              <a:t>)</a:t>
            </a:r>
            <a:endParaRPr lang="en-SA" dirty="0"/>
          </a:p>
          <a:p>
            <a:r>
              <a:rPr lang="en-SA" dirty="0"/>
              <a:t>Model organization</a:t>
            </a:r>
          </a:p>
          <a:p>
            <a:pPr lvl="1"/>
            <a:r>
              <a:rPr lang="en-US" b="1" dirty="0"/>
              <a:t>Architecture</a:t>
            </a:r>
            <a:r>
              <a:rPr lang="en-US" dirty="0"/>
              <a:t> – the model’s structure (e.g., transformer layers, attention heads).</a:t>
            </a:r>
          </a:p>
          <a:p>
            <a:pPr lvl="1"/>
            <a:r>
              <a:rPr lang="en-US" b="1" dirty="0"/>
              <a:t>Weights / Parameters</a:t>
            </a:r>
            <a:r>
              <a:rPr lang="en-US" dirty="0"/>
              <a:t>: Numerical values that capture learned biological relationships.</a:t>
            </a:r>
          </a:p>
          <a:p>
            <a:pPr lvl="1"/>
            <a:r>
              <a:rPr lang="en-US" b="1" dirty="0"/>
              <a:t>Tokenizer / Vocabulary</a:t>
            </a:r>
            <a:r>
              <a:rPr lang="en-US" dirty="0"/>
              <a:t>: The mapping between biological symbols (A, T, C, G, amino acids) and numerical tokens</a:t>
            </a:r>
          </a:p>
          <a:p>
            <a:pPr lvl="1"/>
            <a:r>
              <a:rPr lang="en-US" b="1" dirty="0"/>
              <a:t>Configuration File</a:t>
            </a:r>
            <a:r>
              <a:rPr lang="en-US" dirty="0"/>
              <a:t>: Metadata such as model size, layer count, and training setup.</a:t>
            </a:r>
            <a:endParaRPr lang="en-SA" dirty="0"/>
          </a:p>
          <a:p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624749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66DD2-951E-2687-5FC0-F4BAB7364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A" dirty="0"/>
              <a:t>Configure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EFA70-845D-B588-EEE4-84EC303C2E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9700" y="1556281"/>
            <a:ext cx="9187543" cy="1338469"/>
          </a:xfrm>
        </p:spPr>
        <p:txBody>
          <a:bodyPr>
            <a:normAutofit lnSpcReduction="10000"/>
          </a:bodyPr>
          <a:lstStyle/>
          <a:p>
            <a:r>
              <a:rPr lang="en-SA" dirty="0"/>
              <a:t>Why configuration matters</a:t>
            </a:r>
          </a:p>
          <a:p>
            <a:pPr lvl="1"/>
            <a:r>
              <a:rPr lang="en-US" dirty="0"/>
              <a:t>Same model + Same data + </a:t>
            </a:r>
            <a:r>
              <a:rPr lang="en-US" dirty="0">
                <a:solidFill>
                  <a:srgbClr val="FF0000"/>
                </a:solidFill>
              </a:rPr>
              <a:t>Different configuration </a:t>
            </a:r>
            <a:r>
              <a:rPr lang="en-US" dirty="0"/>
              <a:t>= </a:t>
            </a:r>
            <a:r>
              <a:rPr lang="en-US" dirty="0">
                <a:solidFill>
                  <a:srgbClr val="7030A0"/>
                </a:solidFill>
              </a:rPr>
              <a:t>Totally different outcomes</a:t>
            </a:r>
          </a:p>
          <a:p>
            <a:r>
              <a:rPr lang="en-US" dirty="0"/>
              <a:t>The Restaurant Analogy</a:t>
            </a:r>
          </a:p>
          <a:p>
            <a:pPr lvl="1"/>
            <a:r>
              <a:rPr lang="en-US" dirty="0"/>
              <a:t>Same ingredients but a </a:t>
            </a:r>
            <a:r>
              <a:rPr lang="en-US" dirty="0">
                <a:solidFill>
                  <a:srgbClr val="FF0000"/>
                </a:solidFill>
              </a:rPr>
              <a:t>change in recipe </a:t>
            </a:r>
            <a:r>
              <a:rPr lang="en-US" dirty="0"/>
              <a:t>may drastically change </a:t>
            </a:r>
            <a:r>
              <a:rPr lang="en-US" dirty="0">
                <a:solidFill>
                  <a:srgbClr val="7030A0"/>
                </a:solidFill>
              </a:rPr>
              <a:t>food experience</a:t>
            </a:r>
          </a:p>
          <a:p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B1E69F-6525-A7C5-18C1-67FFE8DDC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3" y="3429000"/>
            <a:ext cx="4609775" cy="2069136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r>
              <a:rPr lang="en-US" dirty="0"/>
              <a:t>Good Configuration</a:t>
            </a:r>
          </a:p>
          <a:p>
            <a:pPr lvl="1"/>
            <a:r>
              <a:rPr lang="en-US" dirty="0"/>
              <a:t>Training: 2 hours done</a:t>
            </a:r>
          </a:p>
          <a:p>
            <a:pPr lvl="1"/>
            <a:r>
              <a:rPr lang="en-US" dirty="0"/>
              <a:t>Memory: 60% utilized</a:t>
            </a:r>
          </a:p>
          <a:p>
            <a:pPr lvl="1"/>
            <a:r>
              <a:rPr lang="en-US" dirty="0"/>
              <a:t>Accuracy: 89% (paper-worthy!)</a:t>
            </a:r>
          </a:p>
          <a:p>
            <a:pPr lvl="1"/>
            <a:r>
              <a:rPr lang="en-US" dirty="0"/>
              <a:t>Cost: $5 total</a:t>
            </a:r>
          </a:p>
          <a:p>
            <a:pPr lvl="1"/>
            <a:r>
              <a:rPr lang="en-US" dirty="0"/>
              <a:t>You: "I'm publishing this!"</a:t>
            </a:r>
            <a:endParaRPr lang="en-SA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C99763-E598-6108-554C-F9AA7E348FDD}"/>
              </a:ext>
            </a:extLst>
          </p:cNvPr>
          <p:cNvSpPr txBox="1">
            <a:spLocks/>
          </p:cNvSpPr>
          <p:nvPr/>
        </p:nvSpPr>
        <p:spPr>
          <a:xfrm>
            <a:off x="1409700" y="3436814"/>
            <a:ext cx="4610099" cy="2069136"/>
          </a:xfrm>
          <a:prstGeom prst="rect">
            <a:avLst/>
          </a:prstGeom>
          <a:solidFill>
            <a:schemeClr val="accent3">
              <a:lumMod val="20000"/>
              <a:lumOff val="80000"/>
              <a:alpha val="8902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10312" indent="-210312" algn="l" defTabSz="91440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8912" indent="-155448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76656" indent="-155448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5256" indent="-155448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3856" indent="-155448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62456" indent="-155448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91056" indent="-155448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19656" indent="-155448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48256" indent="-155448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Bad Configuration</a:t>
            </a:r>
          </a:p>
          <a:p>
            <a:pPr lvl="1"/>
            <a:r>
              <a:rPr lang="en-US" dirty="0"/>
              <a:t>Training: Crashes after 2 days</a:t>
            </a:r>
          </a:p>
          <a:p>
            <a:pPr lvl="1"/>
            <a:r>
              <a:rPr lang="en-US" dirty="0"/>
              <a:t>Memory: OOM errors</a:t>
            </a:r>
          </a:p>
          <a:p>
            <a:pPr lvl="1"/>
            <a:r>
              <a:rPr lang="en-US" dirty="0"/>
              <a:t>Accuracy: 52% (coin flip!)</a:t>
            </a:r>
          </a:p>
          <a:p>
            <a:pPr lvl="1"/>
            <a:r>
              <a:rPr lang="en-US" dirty="0"/>
              <a:t>Cost: $500 wasted</a:t>
            </a:r>
          </a:p>
          <a:p>
            <a:pPr lvl="1"/>
            <a:r>
              <a:rPr lang="en-US" dirty="0"/>
              <a:t>You: "Deep learning is broken!”</a:t>
            </a:r>
          </a:p>
        </p:txBody>
      </p:sp>
    </p:spTree>
    <p:extLst>
      <p:ext uri="{BB962C8B-B14F-4D97-AF65-F5344CB8AC3E}">
        <p14:creationId xmlns:p14="http://schemas.microsoft.com/office/powerpoint/2010/main" val="1890797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FB3D8-1ABD-27D8-4B6E-ACE1445C1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Training Hyperparameters</a:t>
            </a:r>
            <a:endParaRPr lang="en-SA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1331071-794B-9C11-E618-D348D5306C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0770618"/>
              </p:ext>
            </p:extLst>
          </p:nvPr>
        </p:nvGraphicFramePr>
        <p:xfrm>
          <a:off x="1409699" y="1565275"/>
          <a:ext cx="9693729" cy="47073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4230">
                  <a:extLst>
                    <a:ext uri="{9D8B030D-6E8A-4147-A177-3AD203B41FA5}">
                      <a16:colId xmlns:a16="http://schemas.microsoft.com/office/drawing/2014/main" val="2446482511"/>
                    </a:ext>
                  </a:extLst>
                </a:gridCol>
                <a:gridCol w="4441371">
                  <a:extLst>
                    <a:ext uri="{9D8B030D-6E8A-4147-A177-3AD203B41FA5}">
                      <a16:colId xmlns:a16="http://schemas.microsoft.com/office/drawing/2014/main" val="3398728253"/>
                    </a:ext>
                  </a:extLst>
                </a:gridCol>
                <a:gridCol w="2988128">
                  <a:extLst>
                    <a:ext uri="{9D8B030D-6E8A-4147-A177-3AD203B41FA5}">
                      <a16:colId xmlns:a16="http://schemas.microsoft.com/office/drawing/2014/main" val="3836130884"/>
                    </a:ext>
                  </a:extLst>
                </a:gridCol>
              </a:tblGrid>
              <a:tr h="3273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Parameter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Description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Typical Value / Range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0341554"/>
                  </a:ext>
                </a:extLst>
              </a:tr>
              <a:tr h="807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Learning Rate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Most critical parameter: too high → divergence; too low → no learning.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1e-5 to 1e-4 (for fine-tuning)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653960"/>
                  </a:ext>
                </a:extLst>
              </a:tr>
              <a:tr h="564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Batch Size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Balances memory usage vs gradient quality.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8–32 (use gradient accumulation if limited)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1756847"/>
                  </a:ext>
                </a:extLst>
              </a:tr>
              <a:tr h="564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Number of Epochs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Number of full passes through the data.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 early stopping rather than fixed 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4873569"/>
                  </a:ext>
                </a:extLst>
              </a:tr>
              <a:tr h="564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Warmup Steps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Gradual lr increase at start to prevent instability.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5–10% of total steps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1912209"/>
                  </a:ext>
                </a:extLst>
              </a:tr>
              <a:tr h="807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Optimizer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Update rule; affects convergence speed and stability.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AdamW</a:t>
                      </a:r>
                      <a:r>
                        <a:rPr lang="en-US" dirty="0"/>
                        <a:t> (</a:t>
                      </a:r>
                      <a:r>
                        <a:rPr lang="el-GR" dirty="0"/>
                        <a:t>β1=0.9, β2=0.999, ε=1</a:t>
                      </a:r>
                      <a:r>
                        <a:rPr lang="en-US" dirty="0"/>
                        <a:t>e-8)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0648637"/>
                  </a:ext>
                </a:extLst>
              </a:tr>
              <a:tr h="807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Dropout Rate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Randomly zeros activations to regularize; applied to embeddings/attention/MLP.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0.0–0.2 (often 0.1 in pretrained configs)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4109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9206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43B7158-8FBF-9AC7-DCE5-9AD20D930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SA" dirty="0"/>
              <a:t>Questions &amp; Comments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CE5F5-A0E5-8BD6-A584-BE2B3C180929}"/>
              </a:ext>
            </a:extLst>
          </p:cNvPr>
          <p:cNvSpPr txBox="1"/>
          <p:nvPr/>
        </p:nvSpPr>
        <p:spPr>
          <a:xfrm>
            <a:off x="1517316" y="5084857"/>
            <a:ext cx="78142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A" sz="3200" dirty="0"/>
              <a:t>After Q&amp;A, we will go to hands-on exercise</a:t>
            </a:r>
          </a:p>
        </p:txBody>
      </p:sp>
    </p:spTree>
    <p:extLst>
      <p:ext uri="{BB962C8B-B14F-4D97-AF65-F5344CB8AC3E}">
        <p14:creationId xmlns:p14="http://schemas.microsoft.com/office/powerpoint/2010/main" val="538245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Ecology">
      <a:dk1>
        <a:srgbClr val="4D3E2F"/>
      </a:dk1>
      <a:lt1>
        <a:sysClr val="window" lastClr="FFFFFF"/>
      </a:lt1>
      <a:dk2>
        <a:srgbClr val="000000"/>
      </a:dk2>
      <a:lt2>
        <a:srgbClr val="DDDDDD"/>
      </a:lt2>
      <a:accent1>
        <a:srgbClr val="8BAA00"/>
      </a:accent1>
      <a:accent2>
        <a:srgbClr val="2A6CB2"/>
      </a:accent2>
      <a:accent3>
        <a:srgbClr val="795837"/>
      </a:accent3>
      <a:accent4>
        <a:srgbClr val="D18316"/>
      </a:accent4>
      <a:accent5>
        <a:srgbClr val="79B4F0"/>
      </a:accent5>
      <a:accent6>
        <a:srgbClr val="CDC80F"/>
      </a:accent6>
      <a:hlink>
        <a:srgbClr val="2A6CB2"/>
      </a:hlink>
      <a:folHlink>
        <a:srgbClr val="808080"/>
      </a:folHlink>
    </a:clrScheme>
    <a:fontScheme name="Corbel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EC9E49B7-4EF5-484D-A5C3-E44E8A0091EA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Ecology">
      <a:dk1>
        <a:srgbClr val="4D3E2F"/>
      </a:dk1>
      <a:lt1>
        <a:sysClr val="window" lastClr="FFFFFF"/>
      </a:lt1>
      <a:dk2>
        <a:srgbClr val="000000"/>
      </a:dk2>
      <a:lt2>
        <a:srgbClr val="DDDDDD"/>
      </a:lt2>
      <a:accent1>
        <a:srgbClr val="8BAA00"/>
      </a:accent1>
      <a:accent2>
        <a:srgbClr val="2A6CB2"/>
      </a:accent2>
      <a:accent3>
        <a:srgbClr val="795837"/>
      </a:accent3>
      <a:accent4>
        <a:srgbClr val="D18316"/>
      </a:accent4>
      <a:accent5>
        <a:srgbClr val="79B4F0"/>
      </a:accent5>
      <a:accent6>
        <a:srgbClr val="CDC80F"/>
      </a:accent6>
      <a:hlink>
        <a:srgbClr val="2A6CB2"/>
      </a:hlink>
      <a:folHlink>
        <a:srgbClr val="808080"/>
      </a:folHlink>
    </a:clrScheme>
    <a:fontScheme name="Corbel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cology">
      <a:dk1>
        <a:srgbClr val="4D3E2F"/>
      </a:dk1>
      <a:lt1>
        <a:sysClr val="window" lastClr="FFFFFF"/>
      </a:lt1>
      <a:dk2>
        <a:srgbClr val="000000"/>
      </a:dk2>
      <a:lt2>
        <a:srgbClr val="DDDDDD"/>
      </a:lt2>
      <a:accent1>
        <a:srgbClr val="8BAA00"/>
      </a:accent1>
      <a:accent2>
        <a:srgbClr val="2A6CB2"/>
      </a:accent2>
      <a:accent3>
        <a:srgbClr val="795837"/>
      </a:accent3>
      <a:accent4>
        <a:srgbClr val="D18316"/>
      </a:accent4>
      <a:accent5>
        <a:srgbClr val="79B4F0"/>
      </a:accent5>
      <a:accent6>
        <a:srgbClr val="CDC80F"/>
      </a:accent6>
      <a:hlink>
        <a:srgbClr val="2A6CB2"/>
      </a:hlink>
      <a:folHlink>
        <a:srgbClr val="808080"/>
      </a:folHlink>
    </a:clrScheme>
    <a:fontScheme name="Corbel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74F6EFD-5A76-4C77-A0A3-4BA9EAEE14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8F2847D-96C7-4634-93AB-D232DDB6E5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18307F-863E-465D-9426-B14DA0CBD25E}">
  <ds:schemaRefs>
    <ds:schemaRef ds:uri="http://schemas.microsoft.com/sharepoint/v3"/>
    <ds:schemaRef ds:uri="16c05727-aa75-4e4a-9b5f-8a80a1165891"/>
    <ds:schemaRef ds:uri="http://schemas.microsoft.com/office/2006/metadata/properties"/>
    <ds:schemaRef ds:uri="http://www.w3.org/XML/1998/namespace"/>
    <ds:schemaRef ds:uri="230e9df3-be65-4c73-a93b-d1236ebd677e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71af3243-3dd4-4a8d-8c0d-dd76da1f02a5"/>
    <ds:schemaRef ds:uri="http://purl.org/dc/dcmitype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39407</TotalTime>
  <Words>2039</Words>
  <Application>Microsoft Macintosh PowerPoint</Application>
  <PresentationFormat>Widescreen</PresentationFormat>
  <Paragraphs>281</Paragraphs>
  <Slides>23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Cambria Math</vt:lpstr>
      <vt:lpstr>Corbel</vt:lpstr>
      <vt:lpstr>Courier New</vt:lpstr>
      <vt:lpstr>Harding</vt:lpstr>
      <vt:lpstr>Segoe UI</vt:lpstr>
      <vt:lpstr>Custom</vt:lpstr>
      <vt:lpstr>Fine-Tuning Genomic Foundation Models</vt:lpstr>
      <vt:lpstr>Agenda</vt:lpstr>
      <vt:lpstr>What is Pre-training?</vt:lpstr>
      <vt:lpstr>Quick Check: Pre-training</vt:lpstr>
      <vt:lpstr>What is Fine-tuning?</vt:lpstr>
      <vt:lpstr>Quick Check: Fine-tuning</vt:lpstr>
      <vt:lpstr>Pre-training vs Fine-tuning</vt:lpstr>
      <vt:lpstr>Fine-Tuning: The Transfer Learning Paradigm</vt:lpstr>
      <vt:lpstr>Full Fine-Tuning vs. Parameter-Efficient Fine-Tuning</vt:lpstr>
      <vt:lpstr>Quick Check: Full Fine-Tuning vs PEFT</vt:lpstr>
      <vt:lpstr>Low-Rank Adaptation (LoRA): Smart Parameter Updates</vt:lpstr>
      <vt:lpstr>LoRA Details</vt:lpstr>
      <vt:lpstr>Quantization + LoRA → QLoRA</vt:lpstr>
      <vt:lpstr>Test your knowledge</vt:lpstr>
      <vt:lpstr>Test your knowledge</vt:lpstr>
      <vt:lpstr>Test your knowledge</vt:lpstr>
      <vt:lpstr>Test your knowledge</vt:lpstr>
      <vt:lpstr>Overview of Fine-Tuning Pipeline</vt:lpstr>
      <vt:lpstr>Prepare Dataset</vt:lpstr>
      <vt:lpstr>Load Model</vt:lpstr>
      <vt:lpstr>Configure Training</vt:lpstr>
      <vt:lpstr>Key Training Hyperparameters</vt:lpstr>
      <vt:lpstr>Questions &amp; Comments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Ikram Ullah</cp:lastModifiedBy>
  <cp:revision>925</cp:revision>
  <cp:lastPrinted>2025-05-18T13:30:56Z</cp:lastPrinted>
  <dcterms:created xsi:type="dcterms:W3CDTF">2025-04-08T12:26:15Z</dcterms:created>
  <dcterms:modified xsi:type="dcterms:W3CDTF">2026-02-15T21:04:46Z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