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8" r:id="rId5"/>
    <p:sldId id="275" r:id="rId6"/>
    <p:sldId id="346" r:id="rId7"/>
    <p:sldId id="375" r:id="rId8"/>
    <p:sldId id="376" r:id="rId9"/>
    <p:sldId id="377" r:id="rId10"/>
    <p:sldId id="383" r:id="rId11"/>
    <p:sldId id="384" r:id="rId12"/>
    <p:sldId id="385" r:id="rId13"/>
    <p:sldId id="378" r:id="rId14"/>
    <p:sldId id="379" r:id="rId15"/>
    <p:sldId id="380" r:id="rId16"/>
    <p:sldId id="381" r:id="rId17"/>
    <p:sldId id="382" r:id="rId18"/>
    <p:sldId id="386" r:id="rId19"/>
    <p:sldId id="32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AF"/>
    <a:srgbClr val="009193"/>
    <a:srgbClr val="F89500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86463" autoAdjust="0"/>
  </p:normalViewPr>
  <p:slideViewPr>
    <p:cSldViewPr snapToGrid="0">
      <p:cViewPr varScale="1">
        <p:scale>
          <a:sx n="109" d="100"/>
          <a:sy n="109" d="100"/>
        </p:scale>
        <p:origin x="216" y="2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4424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Why Fine-Tuning? The Transfer Learning Paradigm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B1E12C18-B72B-E342-8CC0-F04D1F6E5F41}">
      <dgm:prSet phldrT="[Text]"/>
      <dgm:spPr/>
      <dgm:t>
        <a:bodyPr/>
        <a:lstStyle/>
        <a:p>
          <a:r>
            <a:rPr lang="en-US" dirty="0"/>
            <a:t>Overview of Fine-Tuning Pipeline</a:t>
          </a:r>
        </a:p>
      </dgm:t>
    </dgm:pt>
    <dgm:pt modelId="{E5E5A626-1A5E-0547-9C0C-231AAC630D60}" type="parTrans" cxnId="{4B450FC2-43E7-C546-A2A4-E7B7E2A1E17B}">
      <dgm:prSet/>
      <dgm:spPr/>
      <dgm:t>
        <a:bodyPr/>
        <a:lstStyle/>
        <a:p>
          <a:endParaRPr lang="en-US"/>
        </a:p>
      </dgm:t>
    </dgm:pt>
    <dgm:pt modelId="{EA7E39B3-A927-D049-8E88-588FF07BEAA0}" type="sibTrans" cxnId="{4B450FC2-43E7-C546-A2A4-E7B7E2A1E17B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pPr rtl="0"/>
          <a:r>
            <a:rPr lang="en-US" dirty="0"/>
            <a:t>Full Fine-Tuning vs. Parameter-Efficient Fine-Tuning (PEFT)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95C8E0EA-7C18-924D-951F-13C53CF72328}">
      <dgm:prSet phldrT="[Text]"/>
      <dgm:spPr/>
      <dgm:t>
        <a:bodyPr/>
        <a:lstStyle/>
        <a:p>
          <a:pPr rtl="0"/>
          <a:r>
            <a:rPr lang="en-US" dirty="0" err="1"/>
            <a:t>LoRA</a:t>
          </a:r>
          <a:r>
            <a:rPr lang="en-US" dirty="0"/>
            <a:t>: Low-Rank Adaptation</a:t>
          </a:r>
        </a:p>
      </dgm:t>
    </dgm:pt>
    <dgm:pt modelId="{F640CA77-D3CA-4641-94F6-9E5E3F7AA695}" type="parTrans" cxnId="{632B484C-3A03-3642-9A5B-4BD354DC95EF}">
      <dgm:prSet/>
      <dgm:spPr/>
      <dgm:t>
        <a:bodyPr/>
        <a:lstStyle/>
        <a:p>
          <a:endParaRPr lang="en-US"/>
        </a:p>
      </dgm:t>
    </dgm:pt>
    <dgm:pt modelId="{7940205A-ACE4-1A40-90D0-D2DD64D4CB7D}" type="sibTrans" cxnId="{632B484C-3A03-3642-9A5B-4BD354DC95EF}">
      <dgm:prSet/>
      <dgm:spPr/>
      <dgm:t>
        <a:bodyPr/>
        <a:lstStyle/>
        <a:p>
          <a:endParaRPr lang="en-US"/>
        </a:p>
      </dgm:t>
    </dgm:pt>
    <dgm:pt modelId="{00B3520A-E742-A844-B17A-FEEF4532D9E6}">
      <dgm:prSet phldrT="[Text]"/>
      <dgm:spPr/>
      <dgm:t>
        <a:bodyPr/>
        <a:lstStyle/>
        <a:p>
          <a:pPr>
            <a:buNone/>
          </a:pPr>
          <a:r>
            <a:rPr lang="en-US" b="0" dirty="0"/>
            <a:t>Practical Lab (Transcription Factor Binding Prediction)</a:t>
          </a:r>
        </a:p>
      </dgm:t>
    </dgm:pt>
    <dgm:pt modelId="{F8FA3BBA-482D-A64F-A7CB-54FDF3DADF59}" type="parTrans" cxnId="{5E38957D-C50F-9F4A-8C83-3AE69B9A4CF3}">
      <dgm:prSet/>
      <dgm:spPr/>
      <dgm:t>
        <a:bodyPr/>
        <a:lstStyle/>
        <a:p>
          <a:endParaRPr lang="en-US"/>
        </a:p>
      </dgm:t>
    </dgm:pt>
    <dgm:pt modelId="{7D6C29AD-D294-EA42-967B-1FA4CDFD9047}" type="sibTrans" cxnId="{5E38957D-C50F-9F4A-8C83-3AE69B9A4CF3}">
      <dgm:prSet/>
      <dgm:spPr/>
      <dgm:t>
        <a:bodyPr/>
        <a:lstStyle/>
        <a:p>
          <a:endParaRPr lang="en-US"/>
        </a:p>
      </dgm:t>
    </dgm:pt>
    <dgm:pt modelId="{4047E8DB-1022-6D4F-A8DA-02DF458AE878}">
      <dgm:prSet phldrT="[Text]"/>
      <dgm:spPr/>
      <dgm:t>
        <a:bodyPr/>
        <a:lstStyle/>
        <a:p>
          <a:r>
            <a:rPr lang="en-US" dirty="0"/>
            <a:t>Introduction to Pre-Training &amp; Fine-Tuning</a:t>
          </a:r>
        </a:p>
      </dgm:t>
    </dgm:pt>
    <dgm:pt modelId="{BD2755CB-3A00-F040-8863-3D4D86BE7514}" type="parTrans" cxnId="{05AD1EB4-C4AE-AC40-8998-DFF0AF6F002D}">
      <dgm:prSet/>
      <dgm:spPr/>
      <dgm:t>
        <a:bodyPr/>
        <a:lstStyle/>
        <a:p>
          <a:endParaRPr lang="en-US"/>
        </a:p>
      </dgm:t>
    </dgm:pt>
    <dgm:pt modelId="{0A3063AC-DC9E-6D4A-86B6-070192B2576B}" type="sibTrans" cxnId="{05AD1EB4-C4AE-AC40-8998-DFF0AF6F002D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38C9D967-5FCF-5248-8A8F-C62F3B5DC93F}" type="pres">
      <dgm:prSet presAssocID="{4047E8DB-1022-6D4F-A8DA-02DF458AE878}" presName="parentLin" presStyleCnt="0"/>
      <dgm:spPr/>
    </dgm:pt>
    <dgm:pt modelId="{4248C515-79A7-8442-8E83-77F8FC153BD3}" type="pres">
      <dgm:prSet presAssocID="{4047E8DB-1022-6D4F-A8DA-02DF458AE878}" presName="parentLeftMargin" presStyleLbl="node1" presStyleIdx="0" presStyleCnt="6"/>
      <dgm:spPr/>
    </dgm:pt>
    <dgm:pt modelId="{CDEBC818-D1EC-A74E-A50E-4B4B6D7323F6}" type="pres">
      <dgm:prSet presAssocID="{4047E8DB-1022-6D4F-A8DA-02DF458AE878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5C4971F6-4ED1-7F49-B606-E0849530967B}" type="pres">
      <dgm:prSet presAssocID="{4047E8DB-1022-6D4F-A8DA-02DF458AE878}" presName="negativeSpace" presStyleCnt="0"/>
      <dgm:spPr/>
    </dgm:pt>
    <dgm:pt modelId="{DD616064-9FEA-1E41-9B3D-F046147A9B8A}" type="pres">
      <dgm:prSet presAssocID="{4047E8DB-1022-6D4F-A8DA-02DF458AE878}" presName="childText" presStyleLbl="conFgAcc1" presStyleIdx="0" presStyleCnt="6">
        <dgm:presLayoutVars>
          <dgm:bulletEnabled val="1"/>
        </dgm:presLayoutVars>
      </dgm:prSet>
      <dgm:spPr/>
    </dgm:pt>
    <dgm:pt modelId="{F2FFA71C-A9D2-C14D-AEE5-2D9CB54DCE50}" type="pres">
      <dgm:prSet presAssocID="{0A3063AC-DC9E-6D4A-86B6-070192B2576B}" presName="spaceBetweenRectangles" presStyleCnt="0"/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6"/>
      <dgm:spPr/>
    </dgm:pt>
    <dgm:pt modelId="{CD3FBD46-0DA2-5641-A6F1-74D37ADF13AD}" type="pres">
      <dgm:prSet presAssocID="{F51EB303-A78D-D042-82F4-A6D434129146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1" presStyleCnt="6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394165CB-C9E4-C949-99EC-75F33BAD40D3}" type="pres">
      <dgm:prSet presAssocID="{B1E12C18-B72B-E342-8CC0-F04D1F6E5F41}" presName="parentLin" presStyleCnt="0"/>
      <dgm:spPr/>
    </dgm:pt>
    <dgm:pt modelId="{8953FFF4-9129-3447-A5C7-DE910FE72800}" type="pres">
      <dgm:prSet presAssocID="{B1E12C18-B72B-E342-8CC0-F04D1F6E5F41}" presName="parentLeftMargin" presStyleLbl="node1" presStyleIdx="1" presStyleCnt="6"/>
      <dgm:spPr/>
    </dgm:pt>
    <dgm:pt modelId="{5192E3FF-2EF3-A54E-9F1E-1AF27CC2E670}" type="pres">
      <dgm:prSet presAssocID="{B1E12C18-B72B-E342-8CC0-F04D1F6E5F41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06E02043-CEE7-8648-85E9-273E121B487A}" type="pres">
      <dgm:prSet presAssocID="{B1E12C18-B72B-E342-8CC0-F04D1F6E5F41}" presName="negativeSpace" presStyleCnt="0"/>
      <dgm:spPr/>
    </dgm:pt>
    <dgm:pt modelId="{41035278-260A-F146-A148-AB4FD8DAE2C8}" type="pres">
      <dgm:prSet presAssocID="{B1E12C18-B72B-E342-8CC0-F04D1F6E5F41}" presName="childText" presStyleLbl="conFgAcc1" presStyleIdx="2" presStyleCnt="6">
        <dgm:presLayoutVars>
          <dgm:bulletEnabled val="1"/>
        </dgm:presLayoutVars>
      </dgm:prSet>
      <dgm:spPr/>
    </dgm:pt>
    <dgm:pt modelId="{DBFE00A0-DAB7-EC42-95BE-2D26B2D4D183}" type="pres">
      <dgm:prSet presAssocID="{EA7E39B3-A927-D049-8E88-588FF07BEAA0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2" presStyleCnt="6"/>
      <dgm:spPr/>
    </dgm:pt>
    <dgm:pt modelId="{CF50D905-E79D-2843-90D4-B5C78D0D0CF6}" type="pres">
      <dgm:prSet presAssocID="{A583A1E5-1E04-3342-941E-F61B4B622013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3" presStyleCnt="6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3624E071-E173-754A-B201-FEC2F11C2BC7}" type="pres">
      <dgm:prSet presAssocID="{95C8E0EA-7C18-924D-951F-13C53CF72328}" presName="parentLin" presStyleCnt="0"/>
      <dgm:spPr/>
    </dgm:pt>
    <dgm:pt modelId="{D7F6FA8E-1C51-9C46-AD74-B6B48471693D}" type="pres">
      <dgm:prSet presAssocID="{95C8E0EA-7C18-924D-951F-13C53CF72328}" presName="parentLeftMargin" presStyleLbl="node1" presStyleIdx="3" presStyleCnt="6"/>
      <dgm:spPr/>
    </dgm:pt>
    <dgm:pt modelId="{2FEEA471-3F41-7D4D-8502-3CEBD8B18E76}" type="pres">
      <dgm:prSet presAssocID="{95C8E0EA-7C18-924D-951F-13C53CF72328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7A83A631-B9E8-D242-A6A7-35B0C714570F}" type="pres">
      <dgm:prSet presAssocID="{95C8E0EA-7C18-924D-951F-13C53CF72328}" presName="negativeSpace" presStyleCnt="0"/>
      <dgm:spPr/>
    </dgm:pt>
    <dgm:pt modelId="{52B41192-C565-BB4B-B06B-C2B22AC50319}" type="pres">
      <dgm:prSet presAssocID="{95C8E0EA-7C18-924D-951F-13C53CF72328}" presName="childText" presStyleLbl="conFgAcc1" presStyleIdx="4" presStyleCnt="6">
        <dgm:presLayoutVars>
          <dgm:bulletEnabled val="1"/>
        </dgm:presLayoutVars>
      </dgm:prSet>
      <dgm:spPr/>
    </dgm:pt>
    <dgm:pt modelId="{722EE561-ECD5-894B-A0FA-EBB9A9D06C3C}" type="pres">
      <dgm:prSet presAssocID="{7940205A-ACE4-1A40-90D0-D2DD64D4CB7D}" presName="spaceBetweenRectangles" presStyleCnt="0"/>
      <dgm:spPr/>
    </dgm:pt>
    <dgm:pt modelId="{2E3E8F52-595F-D648-B9AB-5C39F5B72C7B}" type="pres">
      <dgm:prSet presAssocID="{00B3520A-E742-A844-B17A-FEEF4532D9E6}" presName="parentLin" presStyleCnt="0"/>
      <dgm:spPr/>
    </dgm:pt>
    <dgm:pt modelId="{B4267C7E-1FD5-564B-A2C8-7178EB359E46}" type="pres">
      <dgm:prSet presAssocID="{00B3520A-E742-A844-B17A-FEEF4532D9E6}" presName="parentLeftMargin" presStyleLbl="node1" presStyleIdx="4" presStyleCnt="6"/>
      <dgm:spPr/>
    </dgm:pt>
    <dgm:pt modelId="{6398E413-DC6E-AB41-8CF0-826C1F1C64A5}" type="pres">
      <dgm:prSet presAssocID="{00B3520A-E742-A844-B17A-FEEF4532D9E6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671A6829-69BE-0849-A502-179784A94770}" type="pres">
      <dgm:prSet presAssocID="{00B3520A-E742-A844-B17A-FEEF4532D9E6}" presName="negativeSpace" presStyleCnt="0"/>
      <dgm:spPr/>
    </dgm:pt>
    <dgm:pt modelId="{657F21EC-4008-1742-AA36-86F09A9D3103}" type="pres">
      <dgm:prSet presAssocID="{00B3520A-E742-A844-B17A-FEEF4532D9E6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F5CB2708-90CA-7044-BAF2-796E7F0837F8}" type="presOf" srcId="{00B3520A-E742-A844-B17A-FEEF4532D9E6}" destId="{B4267C7E-1FD5-564B-A2C8-7178EB359E46}" srcOrd="0" destOrd="0" presId="urn:microsoft.com/office/officeart/2005/8/layout/list1"/>
    <dgm:cxn modelId="{C98BD512-BEE2-A340-BDC9-DC6E581DEB96}" type="presOf" srcId="{B1E12C18-B72B-E342-8CC0-F04D1F6E5F41}" destId="{8953FFF4-9129-3447-A5C7-DE910FE72800}" srcOrd="0" destOrd="0" presId="urn:microsoft.com/office/officeart/2005/8/layout/list1"/>
    <dgm:cxn modelId="{C2902813-02A1-034A-9B32-72386D2E1571}" srcId="{493B0163-60F8-C24D-99D7-D67DB2B889E1}" destId="{F51EB303-A78D-D042-82F4-A6D434129146}" srcOrd="1" destOrd="0" parTransId="{F5FF1A83-EF2A-5544-9372-2E23423BF0FB}" sibTransId="{B9F6BB09-366C-B545-9434-5FF9DB0E1E62}"/>
    <dgm:cxn modelId="{1E53261C-2460-F044-A6A6-0E16D2CC5C65}" type="presOf" srcId="{4047E8DB-1022-6D4F-A8DA-02DF458AE878}" destId="{4248C515-79A7-8442-8E83-77F8FC153BD3}" srcOrd="0" destOrd="0" presId="urn:microsoft.com/office/officeart/2005/8/layout/list1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632B484C-3A03-3642-9A5B-4BD354DC95EF}" srcId="{493B0163-60F8-C24D-99D7-D67DB2B889E1}" destId="{95C8E0EA-7C18-924D-951F-13C53CF72328}" srcOrd="4" destOrd="0" parTransId="{F640CA77-D3CA-4641-94F6-9E5E3F7AA695}" sibTransId="{7940205A-ACE4-1A40-90D0-D2DD64D4CB7D}"/>
    <dgm:cxn modelId="{3BB7EB52-D964-6C4C-9014-CFDBC5EB298D}" type="presOf" srcId="{00B3520A-E742-A844-B17A-FEEF4532D9E6}" destId="{6398E413-DC6E-AB41-8CF0-826C1F1C64A5}" srcOrd="1" destOrd="0" presId="urn:microsoft.com/office/officeart/2005/8/layout/list1"/>
    <dgm:cxn modelId="{97B6EF58-2726-C04E-9E83-678215D69DDE}" type="presOf" srcId="{B1E12C18-B72B-E342-8CC0-F04D1F6E5F41}" destId="{5192E3FF-2EF3-A54E-9F1E-1AF27CC2E670}" srcOrd="1" destOrd="0" presId="urn:microsoft.com/office/officeart/2005/8/layout/list1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27D5C67A-18BF-1048-ADF3-43E59B98481C}" type="presOf" srcId="{95C8E0EA-7C18-924D-951F-13C53CF72328}" destId="{D7F6FA8E-1C51-9C46-AD74-B6B48471693D}" srcOrd="0" destOrd="0" presId="urn:microsoft.com/office/officeart/2005/8/layout/list1"/>
    <dgm:cxn modelId="{5E38957D-C50F-9F4A-8C83-3AE69B9A4CF3}" srcId="{493B0163-60F8-C24D-99D7-D67DB2B889E1}" destId="{00B3520A-E742-A844-B17A-FEEF4532D9E6}" srcOrd="5" destOrd="0" parTransId="{F8FA3BBA-482D-A64F-A7CB-54FDF3DADF59}" sibTransId="{7D6C29AD-D294-EA42-967B-1FA4CDFD9047}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05AD1EB4-C4AE-AC40-8998-DFF0AF6F002D}" srcId="{493B0163-60F8-C24D-99D7-D67DB2B889E1}" destId="{4047E8DB-1022-6D4F-A8DA-02DF458AE878}" srcOrd="0" destOrd="0" parTransId="{BD2755CB-3A00-F040-8863-3D4D86BE7514}" sibTransId="{0A3063AC-DC9E-6D4A-86B6-070192B2576B}"/>
    <dgm:cxn modelId="{4B450FC2-43E7-C546-A2A4-E7B7E2A1E17B}" srcId="{493B0163-60F8-C24D-99D7-D67DB2B889E1}" destId="{B1E12C18-B72B-E342-8CC0-F04D1F6E5F41}" srcOrd="2" destOrd="0" parTransId="{E5E5A626-1A5E-0547-9C0C-231AAC630D60}" sibTransId="{EA7E39B3-A927-D049-8E88-588FF07BEAA0}"/>
    <dgm:cxn modelId="{913571C2-1129-2344-9ACE-B2ACFD3058D0}" type="presOf" srcId="{4047E8DB-1022-6D4F-A8DA-02DF458AE878}" destId="{CDEBC818-D1EC-A74E-A50E-4B4B6D7323F6}" srcOrd="1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EB1B6EE4-2D22-6449-B8D2-0DEE18D3EDD1}" type="presOf" srcId="{95C8E0EA-7C18-924D-951F-13C53CF72328}" destId="{2FEEA471-3F41-7D4D-8502-3CEBD8B18E76}" srcOrd="1" destOrd="0" presId="urn:microsoft.com/office/officeart/2005/8/layout/list1"/>
    <dgm:cxn modelId="{1E809AFB-D89B-A243-8E37-E2B4D0A36880}" srcId="{493B0163-60F8-C24D-99D7-D67DB2B889E1}" destId="{A583A1E5-1E04-3342-941E-F61B4B622013}" srcOrd="3" destOrd="0" parTransId="{F9DC1F07-420A-924A-98A3-5658BCCA7FA9}" sibTransId="{BB1B9057-378B-4A4C-9E20-F2BE8BC9F496}"/>
    <dgm:cxn modelId="{96061DC9-4E91-E443-A167-1C48B10A9CAA}" type="presParOf" srcId="{C595FDA5-0FF1-784E-B656-52642C161605}" destId="{38C9D967-5FCF-5248-8A8F-C62F3B5DC93F}" srcOrd="0" destOrd="0" presId="urn:microsoft.com/office/officeart/2005/8/layout/list1"/>
    <dgm:cxn modelId="{03D8DC16-BAC9-9346-A997-17BC55CE2F16}" type="presParOf" srcId="{38C9D967-5FCF-5248-8A8F-C62F3B5DC93F}" destId="{4248C515-79A7-8442-8E83-77F8FC153BD3}" srcOrd="0" destOrd="0" presId="urn:microsoft.com/office/officeart/2005/8/layout/list1"/>
    <dgm:cxn modelId="{A10ECC7B-9782-1D41-8076-246F512B038F}" type="presParOf" srcId="{38C9D967-5FCF-5248-8A8F-C62F3B5DC93F}" destId="{CDEBC818-D1EC-A74E-A50E-4B4B6D7323F6}" srcOrd="1" destOrd="0" presId="urn:microsoft.com/office/officeart/2005/8/layout/list1"/>
    <dgm:cxn modelId="{0B794922-B376-A742-B606-08BABCA56383}" type="presParOf" srcId="{C595FDA5-0FF1-784E-B656-52642C161605}" destId="{5C4971F6-4ED1-7F49-B606-E0849530967B}" srcOrd="1" destOrd="0" presId="urn:microsoft.com/office/officeart/2005/8/layout/list1"/>
    <dgm:cxn modelId="{804D181A-7DEB-4B4B-A084-2EDFF31C739C}" type="presParOf" srcId="{C595FDA5-0FF1-784E-B656-52642C161605}" destId="{DD616064-9FEA-1E41-9B3D-F046147A9B8A}" srcOrd="2" destOrd="0" presId="urn:microsoft.com/office/officeart/2005/8/layout/list1"/>
    <dgm:cxn modelId="{EAE6CE66-E10D-F643-9AF6-E64E4C3B67AA}" type="presParOf" srcId="{C595FDA5-0FF1-784E-B656-52642C161605}" destId="{F2FFA71C-A9D2-C14D-AEE5-2D9CB54DCE50}" srcOrd="3" destOrd="0" presId="urn:microsoft.com/office/officeart/2005/8/layout/list1"/>
    <dgm:cxn modelId="{561BC8E1-AED8-424F-8E82-3DA678BFD3D4}" type="presParOf" srcId="{C595FDA5-0FF1-784E-B656-52642C161605}" destId="{993E15EC-EF57-7B4D-BB69-AE279B94828F}" srcOrd="4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5" destOrd="0" presId="urn:microsoft.com/office/officeart/2005/8/layout/list1"/>
    <dgm:cxn modelId="{731ACFCD-D46B-474A-B1C9-BDEE8CE8F47E}" type="presParOf" srcId="{C595FDA5-0FF1-784E-B656-52642C161605}" destId="{97D1A5F6-CD55-E84B-A06C-AC806A87BF68}" srcOrd="6" destOrd="0" presId="urn:microsoft.com/office/officeart/2005/8/layout/list1"/>
    <dgm:cxn modelId="{08810ED6-D380-364E-956D-9556F9A1364F}" type="presParOf" srcId="{C595FDA5-0FF1-784E-B656-52642C161605}" destId="{C81274E8-0C39-9841-8B18-D8E75F8D3EF5}" srcOrd="7" destOrd="0" presId="urn:microsoft.com/office/officeart/2005/8/layout/list1"/>
    <dgm:cxn modelId="{AD98F763-2866-2046-8053-8FE02319DE03}" type="presParOf" srcId="{C595FDA5-0FF1-784E-B656-52642C161605}" destId="{394165CB-C9E4-C949-99EC-75F33BAD40D3}" srcOrd="8" destOrd="0" presId="urn:microsoft.com/office/officeart/2005/8/layout/list1"/>
    <dgm:cxn modelId="{98EA372D-6D39-5341-A5C3-37149F9ACB30}" type="presParOf" srcId="{394165CB-C9E4-C949-99EC-75F33BAD40D3}" destId="{8953FFF4-9129-3447-A5C7-DE910FE72800}" srcOrd="0" destOrd="0" presId="urn:microsoft.com/office/officeart/2005/8/layout/list1"/>
    <dgm:cxn modelId="{97616090-9E51-BA43-8126-6DE369EF99B7}" type="presParOf" srcId="{394165CB-C9E4-C949-99EC-75F33BAD40D3}" destId="{5192E3FF-2EF3-A54E-9F1E-1AF27CC2E670}" srcOrd="1" destOrd="0" presId="urn:microsoft.com/office/officeart/2005/8/layout/list1"/>
    <dgm:cxn modelId="{68400CC4-D052-0246-94AC-24B19C398D2D}" type="presParOf" srcId="{C595FDA5-0FF1-784E-B656-52642C161605}" destId="{06E02043-CEE7-8648-85E9-273E121B487A}" srcOrd="9" destOrd="0" presId="urn:microsoft.com/office/officeart/2005/8/layout/list1"/>
    <dgm:cxn modelId="{4A88FAC2-7FBF-8C43-983B-62DC9306B0C9}" type="presParOf" srcId="{C595FDA5-0FF1-784E-B656-52642C161605}" destId="{41035278-260A-F146-A148-AB4FD8DAE2C8}" srcOrd="10" destOrd="0" presId="urn:microsoft.com/office/officeart/2005/8/layout/list1"/>
    <dgm:cxn modelId="{E50AD987-595D-E648-B897-DD84579FADF6}" type="presParOf" srcId="{C595FDA5-0FF1-784E-B656-52642C161605}" destId="{DBFE00A0-DAB7-EC42-95BE-2D26B2D4D183}" srcOrd="11" destOrd="0" presId="urn:microsoft.com/office/officeart/2005/8/layout/list1"/>
    <dgm:cxn modelId="{23D471A7-C23B-4A45-88B5-3BBFB0FA4302}" type="presParOf" srcId="{C595FDA5-0FF1-784E-B656-52642C161605}" destId="{9114D8D1-F912-1848-8C14-580DBD9B2E95}" srcOrd="12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13" destOrd="0" presId="urn:microsoft.com/office/officeart/2005/8/layout/list1"/>
    <dgm:cxn modelId="{A6B697FC-4EA0-2344-AC1A-73D715B0EB23}" type="presParOf" srcId="{C595FDA5-0FF1-784E-B656-52642C161605}" destId="{654247D6-4D08-6A4F-8285-2B85F3F4D08D}" srcOrd="14" destOrd="0" presId="urn:microsoft.com/office/officeart/2005/8/layout/list1"/>
    <dgm:cxn modelId="{AE8D5502-C469-754D-8B4F-F335C9CAB52F}" type="presParOf" srcId="{C595FDA5-0FF1-784E-B656-52642C161605}" destId="{546D38AF-FD38-0F43-BF5F-9024F54AA958}" srcOrd="15" destOrd="0" presId="urn:microsoft.com/office/officeart/2005/8/layout/list1"/>
    <dgm:cxn modelId="{8F970005-35B8-1143-AD79-24F8FC3A708B}" type="presParOf" srcId="{C595FDA5-0FF1-784E-B656-52642C161605}" destId="{3624E071-E173-754A-B201-FEC2F11C2BC7}" srcOrd="16" destOrd="0" presId="urn:microsoft.com/office/officeart/2005/8/layout/list1"/>
    <dgm:cxn modelId="{C34C87BC-7CF2-B44C-80B4-CA52AB9B2D95}" type="presParOf" srcId="{3624E071-E173-754A-B201-FEC2F11C2BC7}" destId="{D7F6FA8E-1C51-9C46-AD74-B6B48471693D}" srcOrd="0" destOrd="0" presId="urn:microsoft.com/office/officeart/2005/8/layout/list1"/>
    <dgm:cxn modelId="{CABEF099-2524-004F-A4F6-82DEFD1B4CD0}" type="presParOf" srcId="{3624E071-E173-754A-B201-FEC2F11C2BC7}" destId="{2FEEA471-3F41-7D4D-8502-3CEBD8B18E76}" srcOrd="1" destOrd="0" presId="urn:microsoft.com/office/officeart/2005/8/layout/list1"/>
    <dgm:cxn modelId="{86B82FE3-FE4D-9D4C-8DE7-BC15456C5122}" type="presParOf" srcId="{C595FDA5-0FF1-784E-B656-52642C161605}" destId="{7A83A631-B9E8-D242-A6A7-35B0C714570F}" srcOrd="17" destOrd="0" presId="urn:microsoft.com/office/officeart/2005/8/layout/list1"/>
    <dgm:cxn modelId="{2526D2AC-FDDB-CD45-8C47-2F0C03FACFB7}" type="presParOf" srcId="{C595FDA5-0FF1-784E-B656-52642C161605}" destId="{52B41192-C565-BB4B-B06B-C2B22AC50319}" srcOrd="18" destOrd="0" presId="urn:microsoft.com/office/officeart/2005/8/layout/list1"/>
    <dgm:cxn modelId="{8C0CD268-0B91-CB40-B231-D21B63400855}" type="presParOf" srcId="{C595FDA5-0FF1-784E-B656-52642C161605}" destId="{722EE561-ECD5-894B-A0FA-EBB9A9D06C3C}" srcOrd="19" destOrd="0" presId="urn:microsoft.com/office/officeart/2005/8/layout/list1"/>
    <dgm:cxn modelId="{2BAF0CCE-D034-8147-83CC-ECAAAA0090BB}" type="presParOf" srcId="{C595FDA5-0FF1-784E-B656-52642C161605}" destId="{2E3E8F52-595F-D648-B9AB-5C39F5B72C7B}" srcOrd="20" destOrd="0" presId="urn:microsoft.com/office/officeart/2005/8/layout/list1"/>
    <dgm:cxn modelId="{513057C8-1B70-494E-B43C-48A8FDBDCE2D}" type="presParOf" srcId="{2E3E8F52-595F-D648-B9AB-5C39F5B72C7B}" destId="{B4267C7E-1FD5-564B-A2C8-7178EB359E46}" srcOrd="0" destOrd="0" presId="urn:microsoft.com/office/officeart/2005/8/layout/list1"/>
    <dgm:cxn modelId="{AAFBF5A9-9B42-484C-9E45-4EC49A16FA98}" type="presParOf" srcId="{2E3E8F52-595F-D648-B9AB-5C39F5B72C7B}" destId="{6398E413-DC6E-AB41-8CF0-826C1F1C64A5}" srcOrd="1" destOrd="0" presId="urn:microsoft.com/office/officeart/2005/8/layout/list1"/>
    <dgm:cxn modelId="{C9662B38-8327-C444-BBF9-9B6AA38A73A9}" type="presParOf" srcId="{C595FDA5-0FF1-784E-B656-52642C161605}" destId="{671A6829-69BE-0849-A502-179784A94770}" srcOrd="21" destOrd="0" presId="urn:microsoft.com/office/officeart/2005/8/layout/list1"/>
    <dgm:cxn modelId="{C07FBDA4-C8AD-A147-AB17-F6D31EA6B778}" type="presParOf" srcId="{C595FDA5-0FF1-784E-B656-52642C161605}" destId="{657F21EC-4008-1742-AA36-86F09A9D310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22B381-6B11-884D-949B-38D723E85589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AB76A87-573D-3E47-81AC-9CF06F8F8A68}">
      <dgm:prSet/>
      <dgm:spPr/>
      <dgm:t>
        <a:bodyPr/>
        <a:lstStyle/>
        <a:p>
          <a:r>
            <a:rPr lang="en-US" dirty="0"/>
            <a:t>Data Efficiency: </a:t>
          </a:r>
        </a:p>
        <a:p>
          <a:r>
            <a:rPr lang="en-US" dirty="0"/>
            <a:t>Learn More from Less</a:t>
          </a:r>
          <a:endParaRPr lang="en-SA" dirty="0"/>
        </a:p>
      </dgm:t>
    </dgm:pt>
    <dgm:pt modelId="{5B7DD6CB-75CE-3547-84DE-1DCEA6027965}" type="parTrans" cxnId="{475209F2-EFC7-4546-AE07-AB21DB1E5C68}">
      <dgm:prSet/>
      <dgm:spPr/>
      <dgm:t>
        <a:bodyPr/>
        <a:lstStyle/>
        <a:p>
          <a:endParaRPr lang="en-US"/>
        </a:p>
      </dgm:t>
    </dgm:pt>
    <dgm:pt modelId="{775BB0C1-25C0-0C42-9F2F-092AA29EF0A1}" type="sibTrans" cxnId="{475209F2-EFC7-4546-AE07-AB21DB1E5C68}">
      <dgm:prSet/>
      <dgm:spPr/>
      <dgm:t>
        <a:bodyPr/>
        <a:lstStyle/>
        <a:p>
          <a:endParaRPr lang="en-US"/>
        </a:p>
      </dgm:t>
    </dgm:pt>
    <dgm:pt modelId="{43C2A814-E8E6-7040-A23A-887422533767}">
      <dgm:prSet/>
      <dgm:spPr/>
      <dgm:t>
        <a:bodyPr/>
        <a:lstStyle/>
        <a:p>
          <a:r>
            <a:rPr lang="en-US"/>
            <a:t>Requires only a small labeled dataset to specialize for a new biological task.</a:t>
          </a:r>
          <a:endParaRPr lang="en-SA"/>
        </a:p>
      </dgm:t>
    </dgm:pt>
    <dgm:pt modelId="{5AFC773B-82B4-054D-8ED4-A845A28C3A39}" type="parTrans" cxnId="{86B6F67D-CE40-EA44-93F5-A0DB7DA2A650}">
      <dgm:prSet/>
      <dgm:spPr/>
      <dgm:t>
        <a:bodyPr/>
        <a:lstStyle/>
        <a:p>
          <a:endParaRPr lang="en-US"/>
        </a:p>
      </dgm:t>
    </dgm:pt>
    <dgm:pt modelId="{85E7F35F-BBCD-DB40-BA71-FA9588F7BDAD}" type="sibTrans" cxnId="{86B6F67D-CE40-EA44-93F5-A0DB7DA2A650}">
      <dgm:prSet/>
      <dgm:spPr/>
      <dgm:t>
        <a:bodyPr/>
        <a:lstStyle/>
        <a:p>
          <a:endParaRPr lang="en-US"/>
        </a:p>
      </dgm:t>
    </dgm:pt>
    <dgm:pt modelId="{24878C76-0F6F-754F-950E-0EA349B1D0EB}">
      <dgm:prSet/>
      <dgm:spPr/>
      <dgm:t>
        <a:bodyPr/>
        <a:lstStyle/>
        <a:p>
          <a:r>
            <a:rPr lang="en-US" dirty="0"/>
            <a:t>Compute &amp; Time Efficiency: Faster by Design</a:t>
          </a:r>
          <a:endParaRPr lang="en-SA" dirty="0"/>
        </a:p>
      </dgm:t>
    </dgm:pt>
    <dgm:pt modelId="{7E73EF39-2030-264F-B6F2-2975058F06EC}" type="parTrans" cxnId="{B333BE7A-C3C2-754A-9943-0BF2BD8E3AE8}">
      <dgm:prSet/>
      <dgm:spPr/>
      <dgm:t>
        <a:bodyPr/>
        <a:lstStyle/>
        <a:p>
          <a:endParaRPr lang="en-US"/>
        </a:p>
      </dgm:t>
    </dgm:pt>
    <dgm:pt modelId="{07665B96-244A-2B4E-8127-7D574A5450C9}" type="sibTrans" cxnId="{B333BE7A-C3C2-754A-9943-0BF2BD8E3AE8}">
      <dgm:prSet/>
      <dgm:spPr/>
      <dgm:t>
        <a:bodyPr/>
        <a:lstStyle/>
        <a:p>
          <a:endParaRPr lang="en-US"/>
        </a:p>
      </dgm:t>
    </dgm:pt>
    <dgm:pt modelId="{5FAC007A-2507-D54A-A7AF-D0507A5A9BAA}">
      <dgm:prSet/>
      <dgm:spPr/>
      <dgm:t>
        <a:bodyPr/>
        <a:lstStyle/>
        <a:p>
          <a:r>
            <a:rPr lang="en-US"/>
            <a:t>Enables rapid iteration and experimentation across many tasks.</a:t>
          </a:r>
          <a:endParaRPr lang="en-SA"/>
        </a:p>
      </dgm:t>
    </dgm:pt>
    <dgm:pt modelId="{1F22DF5D-1CB5-8245-B809-B9FC53A3E51D}" type="parTrans" cxnId="{E5938724-5AEB-2E4E-9413-820C15B960BF}">
      <dgm:prSet/>
      <dgm:spPr/>
      <dgm:t>
        <a:bodyPr/>
        <a:lstStyle/>
        <a:p>
          <a:endParaRPr lang="en-US"/>
        </a:p>
      </dgm:t>
    </dgm:pt>
    <dgm:pt modelId="{0094B71A-C9EB-FB4C-812A-A341651E8118}" type="sibTrans" cxnId="{E5938724-5AEB-2E4E-9413-820C15B960BF}">
      <dgm:prSet/>
      <dgm:spPr/>
      <dgm:t>
        <a:bodyPr/>
        <a:lstStyle/>
        <a:p>
          <a:endParaRPr lang="en-US"/>
        </a:p>
      </dgm:t>
    </dgm:pt>
    <dgm:pt modelId="{5DE3460D-93FB-3544-86A0-460879A4085B}">
      <dgm:prSet/>
      <dgm:spPr/>
      <dgm:t>
        <a:bodyPr/>
        <a:lstStyle/>
        <a:p>
          <a:r>
            <a:rPr lang="en-US"/>
            <a:t>Performance Boost: Smarter Starting Point</a:t>
          </a:r>
          <a:endParaRPr lang="en-SA"/>
        </a:p>
      </dgm:t>
    </dgm:pt>
    <dgm:pt modelId="{3AD45974-C7E9-3948-A346-4C980E229DC6}" type="parTrans" cxnId="{0B11946D-173E-DC45-8CB8-AE1D4F686E9A}">
      <dgm:prSet/>
      <dgm:spPr/>
      <dgm:t>
        <a:bodyPr/>
        <a:lstStyle/>
        <a:p>
          <a:endParaRPr lang="en-US"/>
        </a:p>
      </dgm:t>
    </dgm:pt>
    <dgm:pt modelId="{0AB3DE4C-8950-4149-A0B2-1825AD760E47}" type="sibTrans" cxnId="{0B11946D-173E-DC45-8CB8-AE1D4F686E9A}">
      <dgm:prSet/>
      <dgm:spPr/>
      <dgm:t>
        <a:bodyPr/>
        <a:lstStyle/>
        <a:p>
          <a:endParaRPr lang="en-US"/>
        </a:p>
      </dgm:t>
    </dgm:pt>
    <dgm:pt modelId="{9CF72BE9-0484-3141-A4FE-9463BB3FC9A1}">
      <dgm:prSet/>
      <dgm:spPr/>
      <dgm:t>
        <a:bodyPr/>
        <a:lstStyle/>
        <a:p>
          <a:r>
            <a:rPr lang="en-US"/>
            <a:t>Achieves strong accuracy and generalization with minimal additional training.</a:t>
          </a:r>
          <a:endParaRPr lang="en-SA"/>
        </a:p>
      </dgm:t>
    </dgm:pt>
    <dgm:pt modelId="{788F6DF4-6B62-D74E-9D0A-BA70B5CE1288}" type="parTrans" cxnId="{56B954CA-B6A0-7E49-B0E3-63A42EE85108}">
      <dgm:prSet/>
      <dgm:spPr/>
      <dgm:t>
        <a:bodyPr/>
        <a:lstStyle/>
        <a:p>
          <a:endParaRPr lang="en-US"/>
        </a:p>
      </dgm:t>
    </dgm:pt>
    <dgm:pt modelId="{5E9185FF-95F2-0647-8B45-7FBC86BF5E39}" type="sibTrans" cxnId="{56B954CA-B6A0-7E49-B0E3-63A42EE85108}">
      <dgm:prSet/>
      <dgm:spPr/>
      <dgm:t>
        <a:bodyPr/>
        <a:lstStyle/>
        <a:p>
          <a:endParaRPr lang="en-US"/>
        </a:p>
      </dgm:t>
    </dgm:pt>
    <dgm:pt modelId="{4CA2CAE5-D35A-BC45-A980-35AD0A6523F1}">
      <dgm:prSet/>
      <dgm:spPr/>
      <dgm:t>
        <a:bodyPr/>
        <a:lstStyle/>
        <a:p>
          <a:r>
            <a:rPr lang="en-US"/>
            <a:t>Sustainability &amp; Reusability: Train Once, Use Many Times</a:t>
          </a:r>
          <a:endParaRPr lang="en-SA"/>
        </a:p>
      </dgm:t>
    </dgm:pt>
    <dgm:pt modelId="{221AB242-2CE4-9343-9EFD-C79DB3F25B54}" type="parTrans" cxnId="{72C82C22-FFCD-4544-9484-D007484B7638}">
      <dgm:prSet/>
      <dgm:spPr/>
      <dgm:t>
        <a:bodyPr/>
        <a:lstStyle/>
        <a:p>
          <a:endParaRPr lang="en-US"/>
        </a:p>
      </dgm:t>
    </dgm:pt>
    <dgm:pt modelId="{AAD0E436-50FF-A042-90E1-E063B728A77D}" type="sibTrans" cxnId="{72C82C22-FFCD-4544-9484-D007484B7638}">
      <dgm:prSet/>
      <dgm:spPr/>
      <dgm:t>
        <a:bodyPr/>
        <a:lstStyle/>
        <a:p>
          <a:endParaRPr lang="en-US"/>
        </a:p>
      </dgm:t>
    </dgm:pt>
    <dgm:pt modelId="{C569F5BE-E715-5B44-825F-35BBE41686E2}">
      <dgm:prSet/>
      <dgm:spPr/>
      <dgm:t>
        <a:bodyPr/>
        <a:lstStyle/>
        <a:p>
          <a:r>
            <a:rPr lang="en-US"/>
            <a:t>Reuses existing foundation models instead of retraining from scratch.</a:t>
          </a:r>
          <a:endParaRPr lang="en-SA"/>
        </a:p>
      </dgm:t>
    </dgm:pt>
    <dgm:pt modelId="{4304F836-0AEA-B047-9F92-3A91551D7443}" type="parTrans" cxnId="{9EE5B24F-4848-5542-8383-6CD6138B65C8}">
      <dgm:prSet/>
      <dgm:spPr/>
      <dgm:t>
        <a:bodyPr/>
        <a:lstStyle/>
        <a:p>
          <a:endParaRPr lang="en-US"/>
        </a:p>
      </dgm:t>
    </dgm:pt>
    <dgm:pt modelId="{E25FB7CF-D49D-DC40-B71B-29E1D2CF1983}" type="sibTrans" cxnId="{9EE5B24F-4848-5542-8383-6CD6138B65C8}">
      <dgm:prSet/>
      <dgm:spPr/>
      <dgm:t>
        <a:bodyPr/>
        <a:lstStyle/>
        <a:p>
          <a:endParaRPr lang="en-US"/>
        </a:p>
      </dgm:t>
    </dgm:pt>
    <dgm:pt modelId="{A28C345C-BC62-E04C-800A-877F0E4DFC0F}" type="pres">
      <dgm:prSet presAssocID="{3A22B381-6B11-884D-949B-38D723E85589}" presName="Name0" presStyleCnt="0">
        <dgm:presLayoutVars>
          <dgm:dir/>
          <dgm:animLvl val="lvl"/>
          <dgm:resizeHandles val="exact"/>
        </dgm:presLayoutVars>
      </dgm:prSet>
      <dgm:spPr/>
    </dgm:pt>
    <dgm:pt modelId="{13165C58-91D5-AB4A-A18B-117CEF8D4F0C}" type="pres">
      <dgm:prSet presAssocID="{FAB76A87-573D-3E47-81AC-9CF06F8F8A68}" presName="linNode" presStyleCnt="0"/>
      <dgm:spPr/>
    </dgm:pt>
    <dgm:pt modelId="{BC482A41-2B84-424F-B80A-AFED0A1EF6B8}" type="pres">
      <dgm:prSet presAssocID="{FAB76A87-573D-3E47-81AC-9CF06F8F8A6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727C0D2D-D047-5D45-8961-21471AEBEFF3}" type="pres">
      <dgm:prSet presAssocID="{FAB76A87-573D-3E47-81AC-9CF06F8F8A68}" presName="descendantText" presStyleLbl="alignAccFollowNode1" presStyleIdx="0" presStyleCnt="4">
        <dgm:presLayoutVars>
          <dgm:bulletEnabled val="1"/>
        </dgm:presLayoutVars>
      </dgm:prSet>
      <dgm:spPr/>
    </dgm:pt>
    <dgm:pt modelId="{99C3D1EC-5BAB-A142-A0F5-0B63FA5718F4}" type="pres">
      <dgm:prSet presAssocID="{775BB0C1-25C0-0C42-9F2F-092AA29EF0A1}" presName="sp" presStyleCnt="0"/>
      <dgm:spPr/>
    </dgm:pt>
    <dgm:pt modelId="{FE2B7D47-0444-AE41-8340-5A5BAD157B41}" type="pres">
      <dgm:prSet presAssocID="{24878C76-0F6F-754F-950E-0EA349B1D0EB}" presName="linNode" presStyleCnt="0"/>
      <dgm:spPr/>
    </dgm:pt>
    <dgm:pt modelId="{1EBEBA5E-CEF2-4B46-A042-FB070AE32FCE}" type="pres">
      <dgm:prSet presAssocID="{24878C76-0F6F-754F-950E-0EA349B1D0EB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990E0F6F-3507-1B4D-AA70-BC3FF52C81CD}" type="pres">
      <dgm:prSet presAssocID="{24878C76-0F6F-754F-950E-0EA349B1D0EB}" presName="descendantText" presStyleLbl="alignAccFollowNode1" presStyleIdx="1" presStyleCnt="4">
        <dgm:presLayoutVars>
          <dgm:bulletEnabled val="1"/>
        </dgm:presLayoutVars>
      </dgm:prSet>
      <dgm:spPr/>
    </dgm:pt>
    <dgm:pt modelId="{D1EA2622-CCD7-8E49-913A-CD271B8CD5CB}" type="pres">
      <dgm:prSet presAssocID="{07665B96-244A-2B4E-8127-7D574A5450C9}" presName="sp" presStyleCnt="0"/>
      <dgm:spPr/>
    </dgm:pt>
    <dgm:pt modelId="{69AF4E0E-7C3C-6348-A841-C46671EA5C64}" type="pres">
      <dgm:prSet presAssocID="{5DE3460D-93FB-3544-86A0-460879A4085B}" presName="linNode" presStyleCnt="0"/>
      <dgm:spPr/>
    </dgm:pt>
    <dgm:pt modelId="{1882894D-F6F9-AD46-8087-2653D8D1FF3E}" type="pres">
      <dgm:prSet presAssocID="{5DE3460D-93FB-3544-86A0-460879A4085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61E24A01-37F7-904B-8296-47F0AA6B7EAE}" type="pres">
      <dgm:prSet presAssocID="{5DE3460D-93FB-3544-86A0-460879A4085B}" presName="descendantText" presStyleLbl="alignAccFollowNode1" presStyleIdx="2" presStyleCnt="4">
        <dgm:presLayoutVars>
          <dgm:bulletEnabled val="1"/>
        </dgm:presLayoutVars>
      </dgm:prSet>
      <dgm:spPr/>
    </dgm:pt>
    <dgm:pt modelId="{5C84AA63-D5BA-CA49-BB96-231D4C7DDC5B}" type="pres">
      <dgm:prSet presAssocID="{0AB3DE4C-8950-4149-A0B2-1825AD760E47}" presName="sp" presStyleCnt="0"/>
      <dgm:spPr/>
    </dgm:pt>
    <dgm:pt modelId="{645668F4-8D6F-6D42-8021-0A4D816F9CCB}" type="pres">
      <dgm:prSet presAssocID="{4CA2CAE5-D35A-BC45-A980-35AD0A6523F1}" presName="linNode" presStyleCnt="0"/>
      <dgm:spPr/>
    </dgm:pt>
    <dgm:pt modelId="{EF2F0DAF-315C-B94D-A550-8E67B9B09006}" type="pres">
      <dgm:prSet presAssocID="{4CA2CAE5-D35A-BC45-A980-35AD0A6523F1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19837995-5BEC-C647-AB6C-124AA7CB3A4F}" type="pres">
      <dgm:prSet presAssocID="{4CA2CAE5-D35A-BC45-A980-35AD0A6523F1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D8B88512-C91F-374F-A5F7-1315A5E27E6D}" type="presOf" srcId="{3A22B381-6B11-884D-949B-38D723E85589}" destId="{A28C345C-BC62-E04C-800A-877F0E4DFC0F}" srcOrd="0" destOrd="0" presId="urn:microsoft.com/office/officeart/2005/8/layout/vList5"/>
    <dgm:cxn modelId="{50FF6A1B-2516-6D4E-888F-1280B14F728A}" type="presOf" srcId="{5FAC007A-2507-D54A-A7AF-D0507A5A9BAA}" destId="{990E0F6F-3507-1B4D-AA70-BC3FF52C81CD}" srcOrd="0" destOrd="0" presId="urn:microsoft.com/office/officeart/2005/8/layout/vList5"/>
    <dgm:cxn modelId="{92609920-BB61-1C45-88A2-764F361A5E59}" type="presOf" srcId="{24878C76-0F6F-754F-950E-0EA349B1D0EB}" destId="{1EBEBA5E-CEF2-4B46-A042-FB070AE32FCE}" srcOrd="0" destOrd="0" presId="urn:microsoft.com/office/officeart/2005/8/layout/vList5"/>
    <dgm:cxn modelId="{72C82C22-FFCD-4544-9484-D007484B7638}" srcId="{3A22B381-6B11-884D-949B-38D723E85589}" destId="{4CA2CAE5-D35A-BC45-A980-35AD0A6523F1}" srcOrd="3" destOrd="0" parTransId="{221AB242-2CE4-9343-9EFD-C79DB3F25B54}" sibTransId="{AAD0E436-50FF-A042-90E1-E063B728A77D}"/>
    <dgm:cxn modelId="{E5938724-5AEB-2E4E-9413-820C15B960BF}" srcId="{24878C76-0F6F-754F-950E-0EA349B1D0EB}" destId="{5FAC007A-2507-D54A-A7AF-D0507A5A9BAA}" srcOrd="0" destOrd="0" parTransId="{1F22DF5D-1CB5-8245-B809-B9FC53A3E51D}" sibTransId="{0094B71A-C9EB-FB4C-812A-A341651E8118}"/>
    <dgm:cxn modelId="{9EE5B24F-4848-5542-8383-6CD6138B65C8}" srcId="{4CA2CAE5-D35A-BC45-A980-35AD0A6523F1}" destId="{C569F5BE-E715-5B44-825F-35BBE41686E2}" srcOrd="0" destOrd="0" parTransId="{4304F836-0AEA-B047-9F92-3A91551D7443}" sibTransId="{E25FB7CF-D49D-DC40-B71B-29E1D2CF1983}"/>
    <dgm:cxn modelId="{0B11946D-173E-DC45-8CB8-AE1D4F686E9A}" srcId="{3A22B381-6B11-884D-949B-38D723E85589}" destId="{5DE3460D-93FB-3544-86A0-460879A4085B}" srcOrd="2" destOrd="0" parTransId="{3AD45974-C7E9-3948-A346-4C980E229DC6}" sibTransId="{0AB3DE4C-8950-4149-A0B2-1825AD760E47}"/>
    <dgm:cxn modelId="{B333BE7A-C3C2-754A-9943-0BF2BD8E3AE8}" srcId="{3A22B381-6B11-884D-949B-38D723E85589}" destId="{24878C76-0F6F-754F-950E-0EA349B1D0EB}" srcOrd="1" destOrd="0" parTransId="{7E73EF39-2030-264F-B6F2-2975058F06EC}" sibTransId="{07665B96-244A-2B4E-8127-7D574A5450C9}"/>
    <dgm:cxn modelId="{86B6F67D-CE40-EA44-93F5-A0DB7DA2A650}" srcId="{FAB76A87-573D-3E47-81AC-9CF06F8F8A68}" destId="{43C2A814-E8E6-7040-A23A-887422533767}" srcOrd="0" destOrd="0" parTransId="{5AFC773B-82B4-054D-8ED4-A845A28C3A39}" sibTransId="{85E7F35F-BBCD-DB40-BA71-FA9588F7BDAD}"/>
    <dgm:cxn modelId="{C37E5A83-47A3-C04C-80E8-8B370ACA7077}" type="presOf" srcId="{43C2A814-E8E6-7040-A23A-887422533767}" destId="{727C0D2D-D047-5D45-8961-21471AEBEFF3}" srcOrd="0" destOrd="0" presId="urn:microsoft.com/office/officeart/2005/8/layout/vList5"/>
    <dgm:cxn modelId="{C6B94F8D-36D1-BD4D-8217-3565B13BDBA6}" type="presOf" srcId="{4CA2CAE5-D35A-BC45-A980-35AD0A6523F1}" destId="{EF2F0DAF-315C-B94D-A550-8E67B9B09006}" srcOrd="0" destOrd="0" presId="urn:microsoft.com/office/officeart/2005/8/layout/vList5"/>
    <dgm:cxn modelId="{06B6279F-AAF9-8649-ACA2-67DF813F9EFB}" type="presOf" srcId="{FAB76A87-573D-3E47-81AC-9CF06F8F8A68}" destId="{BC482A41-2B84-424F-B80A-AFED0A1EF6B8}" srcOrd="0" destOrd="0" presId="urn:microsoft.com/office/officeart/2005/8/layout/vList5"/>
    <dgm:cxn modelId="{F3E4F2BE-7D70-EB4B-9DC5-4A7DD3888711}" type="presOf" srcId="{5DE3460D-93FB-3544-86A0-460879A4085B}" destId="{1882894D-F6F9-AD46-8087-2653D8D1FF3E}" srcOrd="0" destOrd="0" presId="urn:microsoft.com/office/officeart/2005/8/layout/vList5"/>
    <dgm:cxn modelId="{56B954CA-B6A0-7E49-B0E3-63A42EE85108}" srcId="{5DE3460D-93FB-3544-86A0-460879A4085B}" destId="{9CF72BE9-0484-3141-A4FE-9463BB3FC9A1}" srcOrd="0" destOrd="0" parTransId="{788F6DF4-6B62-D74E-9D0A-BA70B5CE1288}" sibTransId="{5E9185FF-95F2-0647-8B45-7FBC86BF5E39}"/>
    <dgm:cxn modelId="{7E951CD6-A930-D44B-9A87-758CA4FC0E7F}" type="presOf" srcId="{9CF72BE9-0484-3141-A4FE-9463BB3FC9A1}" destId="{61E24A01-37F7-904B-8296-47F0AA6B7EAE}" srcOrd="0" destOrd="0" presId="urn:microsoft.com/office/officeart/2005/8/layout/vList5"/>
    <dgm:cxn modelId="{475209F2-EFC7-4546-AE07-AB21DB1E5C68}" srcId="{3A22B381-6B11-884D-949B-38D723E85589}" destId="{FAB76A87-573D-3E47-81AC-9CF06F8F8A68}" srcOrd="0" destOrd="0" parTransId="{5B7DD6CB-75CE-3547-84DE-1DCEA6027965}" sibTransId="{775BB0C1-25C0-0C42-9F2F-092AA29EF0A1}"/>
    <dgm:cxn modelId="{C0538EF6-6E41-3642-9F52-7B07EF1EAE6C}" type="presOf" srcId="{C569F5BE-E715-5B44-825F-35BBE41686E2}" destId="{19837995-5BEC-C647-AB6C-124AA7CB3A4F}" srcOrd="0" destOrd="0" presId="urn:microsoft.com/office/officeart/2005/8/layout/vList5"/>
    <dgm:cxn modelId="{B2419CD3-A746-5A46-9380-F5EDB2F3AD6B}" type="presParOf" srcId="{A28C345C-BC62-E04C-800A-877F0E4DFC0F}" destId="{13165C58-91D5-AB4A-A18B-117CEF8D4F0C}" srcOrd="0" destOrd="0" presId="urn:microsoft.com/office/officeart/2005/8/layout/vList5"/>
    <dgm:cxn modelId="{60C9A161-CDDC-354D-A0B6-81C0208576B2}" type="presParOf" srcId="{13165C58-91D5-AB4A-A18B-117CEF8D4F0C}" destId="{BC482A41-2B84-424F-B80A-AFED0A1EF6B8}" srcOrd="0" destOrd="0" presId="urn:microsoft.com/office/officeart/2005/8/layout/vList5"/>
    <dgm:cxn modelId="{0B2E5F77-E6DC-7D4A-9DB7-63054F647622}" type="presParOf" srcId="{13165C58-91D5-AB4A-A18B-117CEF8D4F0C}" destId="{727C0D2D-D047-5D45-8961-21471AEBEFF3}" srcOrd="1" destOrd="0" presId="urn:microsoft.com/office/officeart/2005/8/layout/vList5"/>
    <dgm:cxn modelId="{B909BF81-4476-AC41-9F14-68EC7D38EF28}" type="presParOf" srcId="{A28C345C-BC62-E04C-800A-877F0E4DFC0F}" destId="{99C3D1EC-5BAB-A142-A0F5-0B63FA5718F4}" srcOrd="1" destOrd="0" presId="urn:microsoft.com/office/officeart/2005/8/layout/vList5"/>
    <dgm:cxn modelId="{242FEB09-9BD9-1B43-907C-A93B0A29B710}" type="presParOf" srcId="{A28C345C-BC62-E04C-800A-877F0E4DFC0F}" destId="{FE2B7D47-0444-AE41-8340-5A5BAD157B41}" srcOrd="2" destOrd="0" presId="urn:microsoft.com/office/officeart/2005/8/layout/vList5"/>
    <dgm:cxn modelId="{2534D4E0-40A9-514F-8ECF-0A4A493878F9}" type="presParOf" srcId="{FE2B7D47-0444-AE41-8340-5A5BAD157B41}" destId="{1EBEBA5E-CEF2-4B46-A042-FB070AE32FCE}" srcOrd="0" destOrd="0" presId="urn:microsoft.com/office/officeart/2005/8/layout/vList5"/>
    <dgm:cxn modelId="{615C62A1-1696-D247-8DF3-94AE645B4FD8}" type="presParOf" srcId="{FE2B7D47-0444-AE41-8340-5A5BAD157B41}" destId="{990E0F6F-3507-1B4D-AA70-BC3FF52C81CD}" srcOrd="1" destOrd="0" presId="urn:microsoft.com/office/officeart/2005/8/layout/vList5"/>
    <dgm:cxn modelId="{3766728D-6D67-3B4F-A94F-57803C1CEA18}" type="presParOf" srcId="{A28C345C-BC62-E04C-800A-877F0E4DFC0F}" destId="{D1EA2622-CCD7-8E49-913A-CD271B8CD5CB}" srcOrd="3" destOrd="0" presId="urn:microsoft.com/office/officeart/2005/8/layout/vList5"/>
    <dgm:cxn modelId="{DDF1DE52-BB87-454C-84A5-F3FABE356A1C}" type="presParOf" srcId="{A28C345C-BC62-E04C-800A-877F0E4DFC0F}" destId="{69AF4E0E-7C3C-6348-A841-C46671EA5C64}" srcOrd="4" destOrd="0" presId="urn:microsoft.com/office/officeart/2005/8/layout/vList5"/>
    <dgm:cxn modelId="{51DF3C88-4A66-5443-9A15-E7D40B9F07B6}" type="presParOf" srcId="{69AF4E0E-7C3C-6348-A841-C46671EA5C64}" destId="{1882894D-F6F9-AD46-8087-2653D8D1FF3E}" srcOrd="0" destOrd="0" presId="urn:microsoft.com/office/officeart/2005/8/layout/vList5"/>
    <dgm:cxn modelId="{7E05175F-91C8-F145-8216-936A68458DF9}" type="presParOf" srcId="{69AF4E0E-7C3C-6348-A841-C46671EA5C64}" destId="{61E24A01-37F7-904B-8296-47F0AA6B7EAE}" srcOrd="1" destOrd="0" presId="urn:microsoft.com/office/officeart/2005/8/layout/vList5"/>
    <dgm:cxn modelId="{C767E58D-E6EF-6046-A42A-365D77AB79B4}" type="presParOf" srcId="{A28C345C-BC62-E04C-800A-877F0E4DFC0F}" destId="{5C84AA63-D5BA-CA49-BB96-231D4C7DDC5B}" srcOrd="5" destOrd="0" presId="urn:microsoft.com/office/officeart/2005/8/layout/vList5"/>
    <dgm:cxn modelId="{9133C882-FA75-F247-93DA-263423C5971D}" type="presParOf" srcId="{A28C345C-BC62-E04C-800A-877F0E4DFC0F}" destId="{645668F4-8D6F-6D42-8021-0A4D816F9CCB}" srcOrd="6" destOrd="0" presId="urn:microsoft.com/office/officeart/2005/8/layout/vList5"/>
    <dgm:cxn modelId="{54E43ED4-A35E-0641-9722-C5BB4A282A83}" type="presParOf" srcId="{645668F4-8D6F-6D42-8021-0A4D816F9CCB}" destId="{EF2F0DAF-315C-B94D-A550-8E67B9B09006}" srcOrd="0" destOrd="0" presId="urn:microsoft.com/office/officeart/2005/8/layout/vList5"/>
    <dgm:cxn modelId="{CFCB5223-467D-1A48-9B06-718202AB128C}" type="presParOf" srcId="{645668F4-8D6F-6D42-8021-0A4D816F9CCB}" destId="{19837995-5BEC-C647-AB6C-124AA7CB3A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059D27F-1BF1-394A-96B2-F96FEDEC6ACD}" type="doc">
      <dgm:prSet loTypeId="urn:microsoft.com/office/officeart/2005/8/layout/hList7" loCatId="" qsTypeId="urn:microsoft.com/office/officeart/2005/8/quickstyle/simple1" qsCatId="simple" csTypeId="urn:microsoft.com/office/officeart/2005/8/colors/accent1_2" csCatId="accent1" phldr="1"/>
      <dgm:spPr/>
    </dgm:pt>
    <dgm:pt modelId="{6698C4F0-A333-A645-9E95-E1C9F3C308F1}">
      <dgm:prSet phldrT="[Text]"/>
      <dgm:spPr/>
      <dgm:t>
        <a:bodyPr/>
        <a:lstStyle/>
        <a:p>
          <a:pPr rtl="0"/>
          <a:r>
            <a:rPr lang="en-US" dirty="0"/>
            <a:t>Prepare Dataset</a:t>
          </a:r>
        </a:p>
      </dgm:t>
    </dgm:pt>
    <dgm:pt modelId="{3244D9F0-A908-8242-A23D-22109584E1B1}" type="parTrans" cxnId="{7405D160-9E6A-B145-B2F4-BB94B1772309}">
      <dgm:prSet/>
      <dgm:spPr/>
      <dgm:t>
        <a:bodyPr/>
        <a:lstStyle/>
        <a:p>
          <a:endParaRPr lang="en-US"/>
        </a:p>
      </dgm:t>
    </dgm:pt>
    <dgm:pt modelId="{D205967B-B8C6-5F4D-B4A5-9657BBB287CB}" type="sibTrans" cxnId="{7405D160-9E6A-B145-B2F4-BB94B1772309}">
      <dgm:prSet/>
      <dgm:spPr/>
      <dgm:t>
        <a:bodyPr/>
        <a:lstStyle/>
        <a:p>
          <a:endParaRPr lang="en-US"/>
        </a:p>
      </dgm:t>
    </dgm:pt>
    <dgm:pt modelId="{DECDC979-40D6-6949-BAE4-05AC697431A6}">
      <dgm:prSet phldrT="[Text]"/>
      <dgm:spPr/>
      <dgm:t>
        <a:bodyPr/>
        <a:lstStyle/>
        <a:p>
          <a:pPr rtl="0"/>
          <a:r>
            <a:rPr lang="en-US" dirty="0"/>
            <a:t>Load Model</a:t>
          </a:r>
        </a:p>
      </dgm:t>
    </dgm:pt>
    <dgm:pt modelId="{B4C55D7A-FEBA-B041-8137-B0AF83DD0DA1}" type="parTrans" cxnId="{DF197EFC-4B55-2142-ACB4-CC357B14E5D6}">
      <dgm:prSet/>
      <dgm:spPr/>
      <dgm:t>
        <a:bodyPr/>
        <a:lstStyle/>
        <a:p>
          <a:endParaRPr lang="en-US"/>
        </a:p>
      </dgm:t>
    </dgm:pt>
    <dgm:pt modelId="{3C76F8D0-A5F7-E742-A4C7-864C9EBCF830}" type="sibTrans" cxnId="{DF197EFC-4B55-2142-ACB4-CC357B14E5D6}">
      <dgm:prSet/>
      <dgm:spPr/>
      <dgm:t>
        <a:bodyPr/>
        <a:lstStyle/>
        <a:p>
          <a:endParaRPr lang="en-US"/>
        </a:p>
      </dgm:t>
    </dgm:pt>
    <dgm:pt modelId="{AC40F46C-0674-DE4D-BEFB-2258A722CD2B}">
      <dgm:prSet phldrT="[Text]"/>
      <dgm:spPr/>
      <dgm:t>
        <a:bodyPr/>
        <a:lstStyle/>
        <a:p>
          <a:pPr rtl="0"/>
          <a:r>
            <a:rPr lang="en-US" dirty="0"/>
            <a:t>Configure Training</a:t>
          </a:r>
        </a:p>
      </dgm:t>
    </dgm:pt>
    <dgm:pt modelId="{8B61FE7A-8965-8C45-8AD2-2CFE335247BC}" type="parTrans" cxnId="{1F0E681D-0D65-4947-91EC-D093210B329B}">
      <dgm:prSet/>
      <dgm:spPr/>
      <dgm:t>
        <a:bodyPr/>
        <a:lstStyle/>
        <a:p>
          <a:endParaRPr lang="en-US"/>
        </a:p>
      </dgm:t>
    </dgm:pt>
    <dgm:pt modelId="{D3E9079F-7E93-9842-985F-79096B480502}" type="sibTrans" cxnId="{1F0E681D-0D65-4947-91EC-D093210B329B}">
      <dgm:prSet/>
      <dgm:spPr/>
      <dgm:t>
        <a:bodyPr/>
        <a:lstStyle/>
        <a:p>
          <a:endParaRPr lang="en-US"/>
        </a:p>
      </dgm:t>
    </dgm:pt>
    <dgm:pt modelId="{D40E69A4-FD32-7247-A5D0-077012070CA1}">
      <dgm:prSet phldrT="[Text]"/>
      <dgm:spPr/>
      <dgm:t>
        <a:bodyPr/>
        <a:lstStyle/>
        <a:p>
          <a:pPr rtl="0"/>
          <a:r>
            <a:rPr lang="en-US" dirty="0"/>
            <a:t>Run Training</a:t>
          </a:r>
        </a:p>
      </dgm:t>
    </dgm:pt>
    <dgm:pt modelId="{03955634-A963-D641-A296-506480AE5D19}" type="parTrans" cxnId="{3A74DCC4-528B-EA47-899F-549914E7E20A}">
      <dgm:prSet/>
      <dgm:spPr/>
      <dgm:t>
        <a:bodyPr/>
        <a:lstStyle/>
        <a:p>
          <a:endParaRPr lang="en-US"/>
        </a:p>
      </dgm:t>
    </dgm:pt>
    <dgm:pt modelId="{8EC79C2E-18AE-6C48-87C1-272F06D7D96F}" type="sibTrans" cxnId="{3A74DCC4-528B-EA47-899F-549914E7E20A}">
      <dgm:prSet/>
      <dgm:spPr/>
      <dgm:t>
        <a:bodyPr/>
        <a:lstStyle/>
        <a:p>
          <a:endParaRPr lang="en-US"/>
        </a:p>
      </dgm:t>
    </dgm:pt>
    <dgm:pt modelId="{6FCA47C9-6644-304B-AE60-5E52A2FD4E22}">
      <dgm:prSet phldrT="[Text]"/>
      <dgm:spPr/>
      <dgm:t>
        <a:bodyPr/>
        <a:lstStyle/>
        <a:p>
          <a:pPr rtl="0"/>
          <a:r>
            <a:rPr lang="en-US" dirty="0"/>
            <a:t>Evaluate</a:t>
          </a:r>
        </a:p>
      </dgm:t>
    </dgm:pt>
    <dgm:pt modelId="{4CFF765B-D1A8-5B4B-9986-90E7F3CD968F}" type="parTrans" cxnId="{583346E3-312D-404C-BB56-DEB1FF095ABB}">
      <dgm:prSet/>
      <dgm:spPr/>
      <dgm:t>
        <a:bodyPr/>
        <a:lstStyle/>
        <a:p>
          <a:endParaRPr lang="en-US"/>
        </a:p>
      </dgm:t>
    </dgm:pt>
    <dgm:pt modelId="{A5F8E334-28B9-F340-BB03-0CDB594A1072}" type="sibTrans" cxnId="{583346E3-312D-404C-BB56-DEB1FF095ABB}">
      <dgm:prSet/>
      <dgm:spPr/>
      <dgm:t>
        <a:bodyPr/>
        <a:lstStyle/>
        <a:p>
          <a:endParaRPr lang="en-US"/>
        </a:p>
      </dgm:t>
    </dgm:pt>
    <dgm:pt modelId="{7EF260ED-28C2-A341-BDD8-CC6A9E0D8746}" type="pres">
      <dgm:prSet presAssocID="{B059D27F-1BF1-394A-96B2-F96FEDEC6ACD}" presName="Name0" presStyleCnt="0">
        <dgm:presLayoutVars>
          <dgm:dir/>
          <dgm:resizeHandles val="exact"/>
        </dgm:presLayoutVars>
      </dgm:prSet>
      <dgm:spPr/>
    </dgm:pt>
    <dgm:pt modelId="{C09FD0B5-D51F-8848-8724-07D88A3C852B}" type="pres">
      <dgm:prSet presAssocID="{B059D27F-1BF1-394A-96B2-F96FEDEC6ACD}" presName="fgShape" presStyleLbl="fgShp" presStyleIdx="0" presStyleCnt="1"/>
      <dgm:spPr/>
    </dgm:pt>
    <dgm:pt modelId="{63D5FE35-AF55-3643-BACB-00F705657B27}" type="pres">
      <dgm:prSet presAssocID="{B059D27F-1BF1-394A-96B2-F96FEDEC6ACD}" presName="linComp" presStyleCnt="0"/>
      <dgm:spPr/>
    </dgm:pt>
    <dgm:pt modelId="{B0DA5384-D4C0-3E4D-B05E-A8191FC3C9CF}" type="pres">
      <dgm:prSet presAssocID="{6698C4F0-A333-A645-9E95-E1C9F3C308F1}" presName="compNode" presStyleCnt="0"/>
      <dgm:spPr/>
    </dgm:pt>
    <dgm:pt modelId="{9DE8C68D-899F-214F-9D09-227B9D485364}" type="pres">
      <dgm:prSet presAssocID="{6698C4F0-A333-A645-9E95-E1C9F3C308F1}" presName="bkgdShape" presStyleLbl="node1" presStyleIdx="0" presStyleCnt="5"/>
      <dgm:spPr/>
    </dgm:pt>
    <dgm:pt modelId="{46DC118A-ED80-1648-95E3-E29E5654B4EC}" type="pres">
      <dgm:prSet presAssocID="{6698C4F0-A333-A645-9E95-E1C9F3C308F1}" presName="nodeTx" presStyleLbl="node1" presStyleIdx="0" presStyleCnt="5">
        <dgm:presLayoutVars>
          <dgm:bulletEnabled val="1"/>
        </dgm:presLayoutVars>
      </dgm:prSet>
      <dgm:spPr/>
    </dgm:pt>
    <dgm:pt modelId="{5EDE1F91-E65E-5647-976E-8C0B78756414}" type="pres">
      <dgm:prSet presAssocID="{6698C4F0-A333-A645-9E95-E1C9F3C308F1}" presName="invisiNode" presStyleLbl="node1" presStyleIdx="0" presStyleCnt="5"/>
      <dgm:spPr/>
    </dgm:pt>
    <dgm:pt modelId="{AAE2199A-77E0-9745-A80D-B754156D6F89}" type="pres">
      <dgm:prSet presAssocID="{6698C4F0-A333-A645-9E95-E1C9F3C308F1}" presName="imagNode" presStyleLbl="fgImgPlace1" presStyleIdx="0" presStyleCnt="5"/>
      <dgm:spPr/>
    </dgm:pt>
    <dgm:pt modelId="{6E78F0B6-E94F-D24E-9528-D6C6C49AA2CD}" type="pres">
      <dgm:prSet presAssocID="{D205967B-B8C6-5F4D-B4A5-9657BBB287CB}" presName="sibTrans" presStyleLbl="sibTrans2D1" presStyleIdx="0" presStyleCnt="0"/>
      <dgm:spPr/>
    </dgm:pt>
    <dgm:pt modelId="{D0B714D2-F664-B946-A96F-06C6639C9BB9}" type="pres">
      <dgm:prSet presAssocID="{DECDC979-40D6-6949-BAE4-05AC697431A6}" presName="compNode" presStyleCnt="0"/>
      <dgm:spPr/>
    </dgm:pt>
    <dgm:pt modelId="{0169EA20-F274-F14F-8AC5-E19890FC14B1}" type="pres">
      <dgm:prSet presAssocID="{DECDC979-40D6-6949-BAE4-05AC697431A6}" presName="bkgdShape" presStyleLbl="node1" presStyleIdx="1" presStyleCnt="5"/>
      <dgm:spPr/>
    </dgm:pt>
    <dgm:pt modelId="{46DF13AC-517D-474F-9FC8-CCC7C9E69FD5}" type="pres">
      <dgm:prSet presAssocID="{DECDC979-40D6-6949-BAE4-05AC697431A6}" presName="nodeTx" presStyleLbl="node1" presStyleIdx="1" presStyleCnt="5">
        <dgm:presLayoutVars>
          <dgm:bulletEnabled val="1"/>
        </dgm:presLayoutVars>
      </dgm:prSet>
      <dgm:spPr/>
    </dgm:pt>
    <dgm:pt modelId="{C7E22953-1410-4846-BD3A-3E18F5EEE950}" type="pres">
      <dgm:prSet presAssocID="{DECDC979-40D6-6949-BAE4-05AC697431A6}" presName="invisiNode" presStyleLbl="node1" presStyleIdx="1" presStyleCnt="5"/>
      <dgm:spPr/>
    </dgm:pt>
    <dgm:pt modelId="{822F892C-F010-334B-A281-1D6DCAA356CC}" type="pres">
      <dgm:prSet presAssocID="{DECDC979-40D6-6949-BAE4-05AC697431A6}" presName="imagNode" presStyleLbl="fgImgPlace1" presStyleIdx="1" presStyleCnt="5"/>
      <dgm:spPr/>
    </dgm:pt>
    <dgm:pt modelId="{C97E563A-D846-3546-ACF4-7E47D030C658}" type="pres">
      <dgm:prSet presAssocID="{3C76F8D0-A5F7-E742-A4C7-864C9EBCF830}" presName="sibTrans" presStyleLbl="sibTrans2D1" presStyleIdx="0" presStyleCnt="0"/>
      <dgm:spPr/>
    </dgm:pt>
    <dgm:pt modelId="{57AD4DFD-A43C-0348-B83C-4F71D37765AA}" type="pres">
      <dgm:prSet presAssocID="{AC40F46C-0674-DE4D-BEFB-2258A722CD2B}" presName="compNode" presStyleCnt="0"/>
      <dgm:spPr/>
    </dgm:pt>
    <dgm:pt modelId="{1421850A-0948-6147-AE35-67533D2D7494}" type="pres">
      <dgm:prSet presAssocID="{AC40F46C-0674-DE4D-BEFB-2258A722CD2B}" presName="bkgdShape" presStyleLbl="node1" presStyleIdx="2" presStyleCnt="5"/>
      <dgm:spPr/>
    </dgm:pt>
    <dgm:pt modelId="{FC45629A-9C95-9B44-815A-F7E4CF7A48E1}" type="pres">
      <dgm:prSet presAssocID="{AC40F46C-0674-DE4D-BEFB-2258A722CD2B}" presName="nodeTx" presStyleLbl="node1" presStyleIdx="2" presStyleCnt="5">
        <dgm:presLayoutVars>
          <dgm:bulletEnabled val="1"/>
        </dgm:presLayoutVars>
      </dgm:prSet>
      <dgm:spPr/>
    </dgm:pt>
    <dgm:pt modelId="{2A178D90-FB0B-F64B-9938-EB04B1762B57}" type="pres">
      <dgm:prSet presAssocID="{AC40F46C-0674-DE4D-BEFB-2258A722CD2B}" presName="invisiNode" presStyleLbl="node1" presStyleIdx="2" presStyleCnt="5"/>
      <dgm:spPr/>
    </dgm:pt>
    <dgm:pt modelId="{CA0CBC1D-2F36-2641-8D05-F9AF45A88AFF}" type="pres">
      <dgm:prSet presAssocID="{AC40F46C-0674-DE4D-BEFB-2258A722CD2B}" presName="imagNode" presStyleLbl="fgImgPlace1" presStyleIdx="2" presStyleCnt="5"/>
      <dgm:spPr/>
    </dgm:pt>
    <dgm:pt modelId="{52F51A40-DDFF-EB4E-B4C0-43DFED6F2ABD}" type="pres">
      <dgm:prSet presAssocID="{D3E9079F-7E93-9842-985F-79096B480502}" presName="sibTrans" presStyleLbl="sibTrans2D1" presStyleIdx="0" presStyleCnt="0"/>
      <dgm:spPr/>
    </dgm:pt>
    <dgm:pt modelId="{59A31897-92FC-0544-BE75-30F0AFBCD020}" type="pres">
      <dgm:prSet presAssocID="{D40E69A4-FD32-7247-A5D0-077012070CA1}" presName="compNode" presStyleCnt="0"/>
      <dgm:spPr/>
    </dgm:pt>
    <dgm:pt modelId="{5E6C8830-950F-8045-8C3A-D49EE998F2C7}" type="pres">
      <dgm:prSet presAssocID="{D40E69A4-FD32-7247-A5D0-077012070CA1}" presName="bkgdShape" presStyleLbl="node1" presStyleIdx="3" presStyleCnt="5"/>
      <dgm:spPr/>
    </dgm:pt>
    <dgm:pt modelId="{E808ADF9-7609-D044-AB19-DBB31DCE19B3}" type="pres">
      <dgm:prSet presAssocID="{D40E69A4-FD32-7247-A5D0-077012070CA1}" presName="nodeTx" presStyleLbl="node1" presStyleIdx="3" presStyleCnt="5">
        <dgm:presLayoutVars>
          <dgm:bulletEnabled val="1"/>
        </dgm:presLayoutVars>
      </dgm:prSet>
      <dgm:spPr/>
    </dgm:pt>
    <dgm:pt modelId="{CE0AF484-CB7D-0A40-BDEA-06B58649BCB9}" type="pres">
      <dgm:prSet presAssocID="{D40E69A4-FD32-7247-A5D0-077012070CA1}" presName="invisiNode" presStyleLbl="node1" presStyleIdx="3" presStyleCnt="5"/>
      <dgm:spPr/>
    </dgm:pt>
    <dgm:pt modelId="{AB0857FF-8E47-3A45-B95A-7687B1CD761C}" type="pres">
      <dgm:prSet presAssocID="{D40E69A4-FD32-7247-A5D0-077012070CA1}" presName="imagNode" presStyleLbl="fgImgPlace1" presStyleIdx="3" presStyleCnt="5"/>
      <dgm:spPr/>
    </dgm:pt>
    <dgm:pt modelId="{E3148B27-023D-B044-9F51-C6BEFCA5A502}" type="pres">
      <dgm:prSet presAssocID="{8EC79C2E-18AE-6C48-87C1-272F06D7D96F}" presName="sibTrans" presStyleLbl="sibTrans2D1" presStyleIdx="0" presStyleCnt="0"/>
      <dgm:spPr/>
    </dgm:pt>
    <dgm:pt modelId="{4B5C63AC-9679-AD41-BB5C-48E523AAAF56}" type="pres">
      <dgm:prSet presAssocID="{6FCA47C9-6644-304B-AE60-5E52A2FD4E22}" presName="compNode" presStyleCnt="0"/>
      <dgm:spPr/>
    </dgm:pt>
    <dgm:pt modelId="{40BB9665-C2E7-7146-B30C-B6DA33ACFA37}" type="pres">
      <dgm:prSet presAssocID="{6FCA47C9-6644-304B-AE60-5E52A2FD4E22}" presName="bkgdShape" presStyleLbl="node1" presStyleIdx="4" presStyleCnt="5"/>
      <dgm:spPr/>
    </dgm:pt>
    <dgm:pt modelId="{0DEBC069-5035-2E49-9A93-2C0CD94011C0}" type="pres">
      <dgm:prSet presAssocID="{6FCA47C9-6644-304B-AE60-5E52A2FD4E22}" presName="nodeTx" presStyleLbl="node1" presStyleIdx="4" presStyleCnt="5">
        <dgm:presLayoutVars>
          <dgm:bulletEnabled val="1"/>
        </dgm:presLayoutVars>
      </dgm:prSet>
      <dgm:spPr/>
    </dgm:pt>
    <dgm:pt modelId="{977ECACB-AC9C-CC4A-9F03-613D2F506729}" type="pres">
      <dgm:prSet presAssocID="{6FCA47C9-6644-304B-AE60-5E52A2FD4E22}" presName="invisiNode" presStyleLbl="node1" presStyleIdx="4" presStyleCnt="5"/>
      <dgm:spPr/>
    </dgm:pt>
    <dgm:pt modelId="{1614D2B7-B161-6842-AD46-FC3A564973F6}" type="pres">
      <dgm:prSet presAssocID="{6FCA47C9-6644-304B-AE60-5E52A2FD4E22}" presName="imagNode" presStyleLbl="fgImgPlace1" presStyleIdx="4" presStyleCnt="5"/>
      <dgm:spPr/>
    </dgm:pt>
  </dgm:ptLst>
  <dgm:cxnLst>
    <dgm:cxn modelId="{CDCC3F05-9C8E-BD44-8D27-69E0797B0F93}" type="presOf" srcId="{6FCA47C9-6644-304B-AE60-5E52A2FD4E22}" destId="{40BB9665-C2E7-7146-B30C-B6DA33ACFA37}" srcOrd="0" destOrd="0" presId="urn:microsoft.com/office/officeart/2005/8/layout/hList7"/>
    <dgm:cxn modelId="{755EAB08-F9C8-BC47-9034-E1A2964B2B80}" type="presOf" srcId="{8EC79C2E-18AE-6C48-87C1-272F06D7D96F}" destId="{E3148B27-023D-B044-9F51-C6BEFCA5A502}" srcOrd="0" destOrd="0" presId="urn:microsoft.com/office/officeart/2005/8/layout/hList7"/>
    <dgm:cxn modelId="{1F0E681D-0D65-4947-91EC-D093210B329B}" srcId="{B059D27F-1BF1-394A-96B2-F96FEDEC6ACD}" destId="{AC40F46C-0674-DE4D-BEFB-2258A722CD2B}" srcOrd="2" destOrd="0" parTransId="{8B61FE7A-8965-8C45-8AD2-2CFE335247BC}" sibTransId="{D3E9079F-7E93-9842-985F-79096B480502}"/>
    <dgm:cxn modelId="{C895901D-4F04-EE4D-BF61-3D0F7A9CD651}" type="presOf" srcId="{3C76F8D0-A5F7-E742-A4C7-864C9EBCF830}" destId="{C97E563A-D846-3546-ACF4-7E47D030C658}" srcOrd="0" destOrd="0" presId="urn:microsoft.com/office/officeart/2005/8/layout/hList7"/>
    <dgm:cxn modelId="{90025C2C-0779-1743-A4A2-696054FC9775}" type="presOf" srcId="{DECDC979-40D6-6949-BAE4-05AC697431A6}" destId="{46DF13AC-517D-474F-9FC8-CCC7C9E69FD5}" srcOrd="1" destOrd="0" presId="urn:microsoft.com/office/officeart/2005/8/layout/hList7"/>
    <dgm:cxn modelId="{0D6C803D-3230-F942-9DCF-440B956ED18A}" type="presOf" srcId="{D40E69A4-FD32-7247-A5D0-077012070CA1}" destId="{5E6C8830-950F-8045-8C3A-D49EE998F2C7}" srcOrd="0" destOrd="0" presId="urn:microsoft.com/office/officeart/2005/8/layout/hList7"/>
    <dgm:cxn modelId="{7405D160-9E6A-B145-B2F4-BB94B1772309}" srcId="{B059D27F-1BF1-394A-96B2-F96FEDEC6ACD}" destId="{6698C4F0-A333-A645-9E95-E1C9F3C308F1}" srcOrd="0" destOrd="0" parTransId="{3244D9F0-A908-8242-A23D-22109584E1B1}" sibTransId="{D205967B-B8C6-5F4D-B4A5-9657BBB287CB}"/>
    <dgm:cxn modelId="{E0FBF16A-ECCC-324A-A7F2-6E40FF370200}" type="presOf" srcId="{D3E9079F-7E93-9842-985F-79096B480502}" destId="{52F51A40-DDFF-EB4E-B4C0-43DFED6F2ABD}" srcOrd="0" destOrd="0" presId="urn:microsoft.com/office/officeart/2005/8/layout/hList7"/>
    <dgm:cxn modelId="{545C986E-B5AC-DD48-89AE-872A717585B5}" type="presOf" srcId="{AC40F46C-0674-DE4D-BEFB-2258A722CD2B}" destId="{FC45629A-9C95-9B44-815A-F7E4CF7A48E1}" srcOrd="1" destOrd="0" presId="urn:microsoft.com/office/officeart/2005/8/layout/hList7"/>
    <dgm:cxn modelId="{50798C85-25B0-0C4F-BAB2-6480A956BED8}" type="presOf" srcId="{DECDC979-40D6-6949-BAE4-05AC697431A6}" destId="{0169EA20-F274-F14F-8AC5-E19890FC14B1}" srcOrd="0" destOrd="0" presId="urn:microsoft.com/office/officeart/2005/8/layout/hList7"/>
    <dgm:cxn modelId="{4768CB86-3D8B-DD4F-B2BD-09A8E6AC3343}" type="presOf" srcId="{6698C4F0-A333-A645-9E95-E1C9F3C308F1}" destId="{9DE8C68D-899F-214F-9D09-227B9D485364}" srcOrd="0" destOrd="0" presId="urn:microsoft.com/office/officeart/2005/8/layout/hList7"/>
    <dgm:cxn modelId="{A4224E90-59D1-604F-B537-39EE7FE0B21A}" type="presOf" srcId="{D40E69A4-FD32-7247-A5D0-077012070CA1}" destId="{E808ADF9-7609-D044-AB19-DBB31DCE19B3}" srcOrd="1" destOrd="0" presId="urn:microsoft.com/office/officeart/2005/8/layout/hList7"/>
    <dgm:cxn modelId="{3A74DCC4-528B-EA47-899F-549914E7E20A}" srcId="{B059D27F-1BF1-394A-96B2-F96FEDEC6ACD}" destId="{D40E69A4-FD32-7247-A5D0-077012070CA1}" srcOrd="3" destOrd="0" parTransId="{03955634-A963-D641-A296-506480AE5D19}" sibTransId="{8EC79C2E-18AE-6C48-87C1-272F06D7D96F}"/>
    <dgm:cxn modelId="{3512B7D8-7A37-6048-A5B1-83C438CED014}" type="presOf" srcId="{B059D27F-1BF1-394A-96B2-F96FEDEC6ACD}" destId="{7EF260ED-28C2-A341-BDD8-CC6A9E0D8746}" srcOrd="0" destOrd="0" presId="urn:microsoft.com/office/officeart/2005/8/layout/hList7"/>
    <dgm:cxn modelId="{9AFCE3DB-F5B8-3545-BFE1-BB2A511976A6}" type="presOf" srcId="{6FCA47C9-6644-304B-AE60-5E52A2FD4E22}" destId="{0DEBC069-5035-2E49-9A93-2C0CD94011C0}" srcOrd="1" destOrd="0" presId="urn:microsoft.com/office/officeart/2005/8/layout/hList7"/>
    <dgm:cxn modelId="{E1DC44DF-5888-CE41-A27E-80394EDAB375}" type="presOf" srcId="{AC40F46C-0674-DE4D-BEFB-2258A722CD2B}" destId="{1421850A-0948-6147-AE35-67533D2D7494}" srcOrd="0" destOrd="0" presId="urn:microsoft.com/office/officeart/2005/8/layout/hList7"/>
    <dgm:cxn modelId="{583346E3-312D-404C-BB56-DEB1FF095ABB}" srcId="{B059D27F-1BF1-394A-96B2-F96FEDEC6ACD}" destId="{6FCA47C9-6644-304B-AE60-5E52A2FD4E22}" srcOrd="4" destOrd="0" parTransId="{4CFF765B-D1A8-5B4B-9986-90E7F3CD968F}" sibTransId="{A5F8E334-28B9-F340-BB03-0CDB594A1072}"/>
    <dgm:cxn modelId="{B9B8FAEC-BB61-9E4F-8851-31D9A05D51AC}" type="presOf" srcId="{D205967B-B8C6-5F4D-B4A5-9657BBB287CB}" destId="{6E78F0B6-E94F-D24E-9528-D6C6C49AA2CD}" srcOrd="0" destOrd="0" presId="urn:microsoft.com/office/officeart/2005/8/layout/hList7"/>
    <dgm:cxn modelId="{B8CA99F5-0438-8848-A554-272468FC7926}" type="presOf" srcId="{6698C4F0-A333-A645-9E95-E1C9F3C308F1}" destId="{46DC118A-ED80-1648-95E3-E29E5654B4EC}" srcOrd="1" destOrd="0" presId="urn:microsoft.com/office/officeart/2005/8/layout/hList7"/>
    <dgm:cxn modelId="{DF197EFC-4B55-2142-ACB4-CC357B14E5D6}" srcId="{B059D27F-1BF1-394A-96B2-F96FEDEC6ACD}" destId="{DECDC979-40D6-6949-BAE4-05AC697431A6}" srcOrd="1" destOrd="0" parTransId="{B4C55D7A-FEBA-B041-8137-B0AF83DD0DA1}" sibTransId="{3C76F8D0-A5F7-E742-A4C7-864C9EBCF830}"/>
    <dgm:cxn modelId="{E56F2F17-CE96-AC41-A4E5-8EE2087C393A}" type="presParOf" srcId="{7EF260ED-28C2-A341-BDD8-CC6A9E0D8746}" destId="{C09FD0B5-D51F-8848-8724-07D88A3C852B}" srcOrd="0" destOrd="0" presId="urn:microsoft.com/office/officeart/2005/8/layout/hList7"/>
    <dgm:cxn modelId="{AAB133ED-B917-D04F-ABE2-A61F47A407A9}" type="presParOf" srcId="{7EF260ED-28C2-A341-BDD8-CC6A9E0D8746}" destId="{63D5FE35-AF55-3643-BACB-00F705657B27}" srcOrd="1" destOrd="0" presId="urn:microsoft.com/office/officeart/2005/8/layout/hList7"/>
    <dgm:cxn modelId="{C23A6241-86D1-834E-92C4-84250F3A4BE4}" type="presParOf" srcId="{63D5FE35-AF55-3643-BACB-00F705657B27}" destId="{B0DA5384-D4C0-3E4D-B05E-A8191FC3C9CF}" srcOrd="0" destOrd="0" presId="urn:microsoft.com/office/officeart/2005/8/layout/hList7"/>
    <dgm:cxn modelId="{22969582-D9EA-8A40-B68E-CC6D9A723DB6}" type="presParOf" srcId="{B0DA5384-D4C0-3E4D-B05E-A8191FC3C9CF}" destId="{9DE8C68D-899F-214F-9D09-227B9D485364}" srcOrd="0" destOrd="0" presId="urn:microsoft.com/office/officeart/2005/8/layout/hList7"/>
    <dgm:cxn modelId="{548EBC71-8277-7A44-9784-814220989815}" type="presParOf" srcId="{B0DA5384-D4C0-3E4D-B05E-A8191FC3C9CF}" destId="{46DC118A-ED80-1648-95E3-E29E5654B4EC}" srcOrd="1" destOrd="0" presId="urn:microsoft.com/office/officeart/2005/8/layout/hList7"/>
    <dgm:cxn modelId="{F0205DA2-7912-4947-92F6-D83EB126222C}" type="presParOf" srcId="{B0DA5384-D4C0-3E4D-B05E-A8191FC3C9CF}" destId="{5EDE1F91-E65E-5647-976E-8C0B78756414}" srcOrd="2" destOrd="0" presId="urn:microsoft.com/office/officeart/2005/8/layout/hList7"/>
    <dgm:cxn modelId="{47FCDAD8-3F54-9B4C-A879-202C7D75B9EF}" type="presParOf" srcId="{B0DA5384-D4C0-3E4D-B05E-A8191FC3C9CF}" destId="{AAE2199A-77E0-9745-A80D-B754156D6F89}" srcOrd="3" destOrd="0" presId="urn:microsoft.com/office/officeart/2005/8/layout/hList7"/>
    <dgm:cxn modelId="{AFDA8841-B302-DF44-B1F2-073D27B3E9B5}" type="presParOf" srcId="{63D5FE35-AF55-3643-BACB-00F705657B27}" destId="{6E78F0B6-E94F-D24E-9528-D6C6C49AA2CD}" srcOrd="1" destOrd="0" presId="urn:microsoft.com/office/officeart/2005/8/layout/hList7"/>
    <dgm:cxn modelId="{6C222C19-E3DE-4941-BB90-D358F849CF17}" type="presParOf" srcId="{63D5FE35-AF55-3643-BACB-00F705657B27}" destId="{D0B714D2-F664-B946-A96F-06C6639C9BB9}" srcOrd="2" destOrd="0" presId="urn:microsoft.com/office/officeart/2005/8/layout/hList7"/>
    <dgm:cxn modelId="{3AA56AA5-64B8-5F49-AA0E-0CC70992BBE9}" type="presParOf" srcId="{D0B714D2-F664-B946-A96F-06C6639C9BB9}" destId="{0169EA20-F274-F14F-8AC5-E19890FC14B1}" srcOrd="0" destOrd="0" presId="urn:microsoft.com/office/officeart/2005/8/layout/hList7"/>
    <dgm:cxn modelId="{1ECF6C3B-CF82-124F-89EB-E0079CE10539}" type="presParOf" srcId="{D0B714D2-F664-B946-A96F-06C6639C9BB9}" destId="{46DF13AC-517D-474F-9FC8-CCC7C9E69FD5}" srcOrd="1" destOrd="0" presId="urn:microsoft.com/office/officeart/2005/8/layout/hList7"/>
    <dgm:cxn modelId="{6F1656E9-3E0B-0442-B1BE-2393818C6233}" type="presParOf" srcId="{D0B714D2-F664-B946-A96F-06C6639C9BB9}" destId="{C7E22953-1410-4846-BD3A-3E18F5EEE950}" srcOrd="2" destOrd="0" presId="urn:microsoft.com/office/officeart/2005/8/layout/hList7"/>
    <dgm:cxn modelId="{5EB13960-873C-394A-B30A-E18BF5820550}" type="presParOf" srcId="{D0B714D2-F664-B946-A96F-06C6639C9BB9}" destId="{822F892C-F010-334B-A281-1D6DCAA356CC}" srcOrd="3" destOrd="0" presId="urn:microsoft.com/office/officeart/2005/8/layout/hList7"/>
    <dgm:cxn modelId="{559F55E8-731B-0C45-A3F4-2602457C8BB7}" type="presParOf" srcId="{63D5FE35-AF55-3643-BACB-00F705657B27}" destId="{C97E563A-D846-3546-ACF4-7E47D030C658}" srcOrd="3" destOrd="0" presId="urn:microsoft.com/office/officeart/2005/8/layout/hList7"/>
    <dgm:cxn modelId="{82860FE9-5D25-A849-BA0E-A5B54AFAABD1}" type="presParOf" srcId="{63D5FE35-AF55-3643-BACB-00F705657B27}" destId="{57AD4DFD-A43C-0348-B83C-4F71D37765AA}" srcOrd="4" destOrd="0" presId="urn:microsoft.com/office/officeart/2005/8/layout/hList7"/>
    <dgm:cxn modelId="{C72A85B7-C49C-974C-89E7-ECF515200FC1}" type="presParOf" srcId="{57AD4DFD-A43C-0348-B83C-4F71D37765AA}" destId="{1421850A-0948-6147-AE35-67533D2D7494}" srcOrd="0" destOrd="0" presId="urn:microsoft.com/office/officeart/2005/8/layout/hList7"/>
    <dgm:cxn modelId="{E810B9A4-AC47-A74A-8FC6-18F010A2B2C2}" type="presParOf" srcId="{57AD4DFD-A43C-0348-B83C-4F71D37765AA}" destId="{FC45629A-9C95-9B44-815A-F7E4CF7A48E1}" srcOrd="1" destOrd="0" presId="urn:microsoft.com/office/officeart/2005/8/layout/hList7"/>
    <dgm:cxn modelId="{80C69C09-B00E-5345-B75F-4FC9C0940D8B}" type="presParOf" srcId="{57AD4DFD-A43C-0348-B83C-4F71D37765AA}" destId="{2A178D90-FB0B-F64B-9938-EB04B1762B57}" srcOrd="2" destOrd="0" presId="urn:microsoft.com/office/officeart/2005/8/layout/hList7"/>
    <dgm:cxn modelId="{110D111E-7981-F848-9FE9-56ECF8A9B1D4}" type="presParOf" srcId="{57AD4DFD-A43C-0348-B83C-4F71D37765AA}" destId="{CA0CBC1D-2F36-2641-8D05-F9AF45A88AFF}" srcOrd="3" destOrd="0" presId="urn:microsoft.com/office/officeart/2005/8/layout/hList7"/>
    <dgm:cxn modelId="{C4913896-3C2D-D546-AE8F-2A8A7A840C4D}" type="presParOf" srcId="{63D5FE35-AF55-3643-BACB-00F705657B27}" destId="{52F51A40-DDFF-EB4E-B4C0-43DFED6F2ABD}" srcOrd="5" destOrd="0" presId="urn:microsoft.com/office/officeart/2005/8/layout/hList7"/>
    <dgm:cxn modelId="{1A17E8C3-CA03-2546-B52E-788393CE45A1}" type="presParOf" srcId="{63D5FE35-AF55-3643-BACB-00F705657B27}" destId="{59A31897-92FC-0544-BE75-30F0AFBCD020}" srcOrd="6" destOrd="0" presId="urn:microsoft.com/office/officeart/2005/8/layout/hList7"/>
    <dgm:cxn modelId="{2E4154D9-BC4B-9E4F-8E27-6A75654B73AA}" type="presParOf" srcId="{59A31897-92FC-0544-BE75-30F0AFBCD020}" destId="{5E6C8830-950F-8045-8C3A-D49EE998F2C7}" srcOrd="0" destOrd="0" presId="urn:microsoft.com/office/officeart/2005/8/layout/hList7"/>
    <dgm:cxn modelId="{8AD3D943-0BD6-884B-818D-4545AED10445}" type="presParOf" srcId="{59A31897-92FC-0544-BE75-30F0AFBCD020}" destId="{E808ADF9-7609-D044-AB19-DBB31DCE19B3}" srcOrd="1" destOrd="0" presId="urn:microsoft.com/office/officeart/2005/8/layout/hList7"/>
    <dgm:cxn modelId="{B96E3BB1-FD3E-3D44-9CF7-D9986615D204}" type="presParOf" srcId="{59A31897-92FC-0544-BE75-30F0AFBCD020}" destId="{CE0AF484-CB7D-0A40-BDEA-06B58649BCB9}" srcOrd="2" destOrd="0" presId="urn:microsoft.com/office/officeart/2005/8/layout/hList7"/>
    <dgm:cxn modelId="{079C4F8C-509F-0C46-A30D-D7FBD420EA60}" type="presParOf" srcId="{59A31897-92FC-0544-BE75-30F0AFBCD020}" destId="{AB0857FF-8E47-3A45-B95A-7687B1CD761C}" srcOrd="3" destOrd="0" presId="urn:microsoft.com/office/officeart/2005/8/layout/hList7"/>
    <dgm:cxn modelId="{A2BCEC78-59E7-234A-9A31-E293248BB4AD}" type="presParOf" srcId="{63D5FE35-AF55-3643-BACB-00F705657B27}" destId="{E3148B27-023D-B044-9F51-C6BEFCA5A502}" srcOrd="7" destOrd="0" presId="urn:microsoft.com/office/officeart/2005/8/layout/hList7"/>
    <dgm:cxn modelId="{4D9D6688-634B-5048-A487-FF9FF5AA9A07}" type="presParOf" srcId="{63D5FE35-AF55-3643-BACB-00F705657B27}" destId="{4B5C63AC-9679-AD41-BB5C-48E523AAAF56}" srcOrd="8" destOrd="0" presId="urn:microsoft.com/office/officeart/2005/8/layout/hList7"/>
    <dgm:cxn modelId="{10E50157-5F32-8046-9412-C882C87DB237}" type="presParOf" srcId="{4B5C63AC-9679-AD41-BB5C-48E523AAAF56}" destId="{40BB9665-C2E7-7146-B30C-B6DA33ACFA37}" srcOrd="0" destOrd="0" presId="urn:microsoft.com/office/officeart/2005/8/layout/hList7"/>
    <dgm:cxn modelId="{B755312F-1DD5-5D43-915B-5AAA4967FE30}" type="presParOf" srcId="{4B5C63AC-9679-AD41-BB5C-48E523AAAF56}" destId="{0DEBC069-5035-2E49-9A93-2C0CD94011C0}" srcOrd="1" destOrd="0" presId="urn:microsoft.com/office/officeart/2005/8/layout/hList7"/>
    <dgm:cxn modelId="{1E6A84A4-C6AC-0043-8CEA-23843694A1D5}" type="presParOf" srcId="{4B5C63AC-9679-AD41-BB5C-48E523AAAF56}" destId="{977ECACB-AC9C-CC4A-9F03-613D2F506729}" srcOrd="2" destOrd="0" presId="urn:microsoft.com/office/officeart/2005/8/layout/hList7"/>
    <dgm:cxn modelId="{F081CE9A-53F7-9F40-968F-53FEACFCCDBF}" type="presParOf" srcId="{4B5C63AC-9679-AD41-BB5C-48E523AAAF56}" destId="{1614D2B7-B161-6842-AD46-FC3A564973F6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616064-9FEA-1E41-9B3D-F046147A9B8A}">
      <dsp:nvSpPr>
        <dsp:cNvPr id="0" name=""/>
        <dsp:cNvSpPr/>
      </dsp:nvSpPr>
      <dsp:spPr>
        <a:xfrm>
          <a:off x="0" y="59870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EBC818-D1EC-A74E-A50E-4B4B6D7323F6}">
      <dsp:nvSpPr>
        <dsp:cNvPr id="0" name=""/>
        <dsp:cNvSpPr/>
      </dsp:nvSpPr>
      <dsp:spPr>
        <a:xfrm>
          <a:off x="336766" y="39206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Introduction to Pre-Training &amp; Fine-Tuning</a:t>
          </a:r>
        </a:p>
      </dsp:txBody>
      <dsp:txXfrm>
        <a:off x="356941" y="412240"/>
        <a:ext cx="4674385" cy="372929"/>
      </dsp:txXfrm>
    </dsp:sp>
    <dsp:sp modelId="{97D1A5F6-CD55-E84B-A06C-AC806A87BF68}">
      <dsp:nvSpPr>
        <dsp:cNvPr id="0" name=""/>
        <dsp:cNvSpPr/>
      </dsp:nvSpPr>
      <dsp:spPr>
        <a:xfrm>
          <a:off x="0" y="123374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36766" y="102710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Why Fine-Tuning? The Transfer Learning Paradigm</a:t>
          </a:r>
        </a:p>
      </dsp:txBody>
      <dsp:txXfrm>
        <a:off x="356941" y="1047280"/>
        <a:ext cx="4674385" cy="372929"/>
      </dsp:txXfrm>
    </dsp:sp>
    <dsp:sp modelId="{41035278-260A-F146-A148-AB4FD8DAE2C8}">
      <dsp:nvSpPr>
        <dsp:cNvPr id="0" name=""/>
        <dsp:cNvSpPr/>
      </dsp:nvSpPr>
      <dsp:spPr>
        <a:xfrm>
          <a:off x="0" y="186878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92E3FF-2EF3-A54E-9F1E-1AF27CC2E670}">
      <dsp:nvSpPr>
        <dsp:cNvPr id="0" name=""/>
        <dsp:cNvSpPr/>
      </dsp:nvSpPr>
      <dsp:spPr>
        <a:xfrm>
          <a:off x="336766" y="166214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Overview of Fine-Tuning Pipeline</a:t>
          </a:r>
        </a:p>
      </dsp:txBody>
      <dsp:txXfrm>
        <a:off x="356941" y="1682320"/>
        <a:ext cx="4674385" cy="372929"/>
      </dsp:txXfrm>
    </dsp:sp>
    <dsp:sp modelId="{654247D6-4D08-6A4F-8285-2B85F3F4D08D}">
      <dsp:nvSpPr>
        <dsp:cNvPr id="0" name=""/>
        <dsp:cNvSpPr/>
      </dsp:nvSpPr>
      <dsp:spPr>
        <a:xfrm>
          <a:off x="0" y="250382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36766" y="229718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Full Fine-Tuning vs. Parameter-Efficient Fine-Tuning (PEFT)</a:t>
          </a:r>
        </a:p>
      </dsp:txBody>
      <dsp:txXfrm>
        <a:off x="356941" y="2317360"/>
        <a:ext cx="4674385" cy="372929"/>
      </dsp:txXfrm>
    </dsp:sp>
    <dsp:sp modelId="{52B41192-C565-BB4B-B06B-C2B22AC50319}">
      <dsp:nvSpPr>
        <dsp:cNvPr id="0" name=""/>
        <dsp:cNvSpPr/>
      </dsp:nvSpPr>
      <dsp:spPr>
        <a:xfrm>
          <a:off x="0" y="313886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EA471-3F41-7D4D-8502-3CEBD8B18E76}">
      <dsp:nvSpPr>
        <dsp:cNvPr id="0" name=""/>
        <dsp:cNvSpPr/>
      </dsp:nvSpPr>
      <dsp:spPr>
        <a:xfrm>
          <a:off x="336766" y="293222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LoRA</a:t>
          </a:r>
          <a:r>
            <a:rPr lang="en-US" sz="1400" kern="1200" dirty="0"/>
            <a:t>: Low-Rank Adaptation</a:t>
          </a:r>
        </a:p>
      </dsp:txBody>
      <dsp:txXfrm>
        <a:off x="356941" y="2952400"/>
        <a:ext cx="4674385" cy="372929"/>
      </dsp:txXfrm>
    </dsp:sp>
    <dsp:sp modelId="{657F21EC-4008-1742-AA36-86F09A9D3103}">
      <dsp:nvSpPr>
        <dsp:cNvPr id="0" name=""/>
        <dsp:cNvSpPr/>
      </dsp:nvSpPr>
      <dsp:spPr>
        <a:xfrm>
          <a:off x="0" y="3773905"/>
          <a:ext cx="6735336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98E413-DC6E-AB41-8CF0-826C1F1C64A5}">
      <dsp:nvSpPr>
        <dsp:cNvPr id="0" name=""/>
        <dsp:cNvSpPr/>
      </dsp:nvSpPr>
      <dsp:spPr>
        <a:xfrm>
          <a:off x="336766" y="3567265"/>
          <a:ext cx="4714735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8206" tIns="0" rIns="17820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Practical Lab (Transcription Factor Binding Prediction)</a:t>
          </a:r>
        </a:p>
      </dsp:txBody>
      <dsp:txXfrm>
        <a:off x="356941" y="3587440"/>
        <a:ext cx="4674385" cy="3729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7C0D2D-D047-5D45-8961-21471AEBEFF3}">
      <dsp:nvSpPr>
        <dsp:cNvPr id="0" name=""/>
        <dsp:cNvSpPr/>
      </dsp:nvSpPr>
      <dsp:spPr>
        <a:xfrm rot="5400000">
          <a:off x="5928003" y="-2440559"/>
          <a:ext cx="889842" cy="5998046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Requires only a small labeled dataset to specialize for a new biological task.</a:t>
          </a:r>
          <a:endParaRPr lang="en-SA" sz="2300" kern="1200"/>
        </a:p>
      </dsp:txBody>
      <dsp:txXfrm rot="-5400000">
        <a:off x="3373902" y="156981"/>
        <a:ext cx="5954607" cy="802964"/>
      </dsp:txXfrm>
    </dsp:sp>
    <dsp:sp modelId="{BC482A41-2B84-424F-B80A-AFED0A1EF6B8}">
      <dsp:nvSpPr>
        <dsp:cNvPr id="0" name=""/>
        <dsp:cNvSpPr/>
      </dsp:nvSpPr>
      <dsp:spPr>
        <a:xfrm>
          <a:off x="0" y="2312"/>
          <a:ext cx="3373901" cy="11123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Data Efficiency: 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Learn More from Less</a:t>
          </a:r>
          <a:endParaRPr lang="en-SA" sz="2100" kern="1200" dirty="0"/>
        </a:p>
      </dsp:txBody>
      <dsp:txXfrm>
        <a:off x="54298" y="56610"/>
        <a:ext cx="3265305" cy="1003706"/>
      </dsp:txXfrm>
    </dsp:sp>
    <dsp:sp modelId="{990E0F6F-3507-1B4D-AA70-BC3FF52C81CD}">
      <dsp:nvSpPr>
        <dsp:cNvPr id="0" name=""/>
        <dsp:cNvSpPr/>
      </dsp:nvSpPr>
      <dsp:spPr>
        <a:xfrm rot="5400000">
          <a:off x="5928003" y="-1272641"/>
          <a:ext cx="889842" cy="5998046"/>
        </a:xfrm>
        <a:prstGeom prst="round2Same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Enables rapid iteration and experimentation across many tasks.</a:t>
          </a:r>
          <a:endParaRPr lang="en-SA" sz="2300" kern="1200"/>
        </a:p>
      </dsp:txBody>
      <dsp:txXfrm rot="-5400000">
        <a:off x="3373902" y="1324899"/>
        <a:ext cx="5954607" cy="802964"/>
      </dsp:txXfrm>
    </dsp:sp>
    <dsp:sp modelId="{1EBEBA5E-CEF2-4B46-A042-FB070AE32FCE}">
      <dsp:nvSpPr>
        <dsp:cNvPr id="0" name=""/>
        <dsp:cNvSpPr/>
      </dsp:nvSpPr>
      <dsp:spPr>
        <a:xfrm>
          <a:off x="0" y="1170230"/>
          <a:ext cx="3373901" cy="1112302"/>
        </a:xfrm>
        <a:prstGeom prst="round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Compute &amp; Time Efficiency: Faster by Design</a:t>
          </a:r>
          <a:endParaRPr lang="en-SA" sz="2100" kern="1200" dirty="0"/>
        </a:p>
      </dsp:txBody>
      <dsp:txXfrm>
        <a:off x="54298" y="1224528"/>
        <a:ext cx="3265305" cy="1003706"/>
      </dsp:txXfrm>
    </dsp:sp>
    <dsp:sp modelId="{61E24A01-37F7-904B-8296-47F0AA6B7EAE}">
      <dsp:nvSpPr>
        <dsp:cNvPr id="0" name=""/>
        <dsp:cNvSpPr/>
      </dsp:nvSpPr>
      <dsp:spPr>
        <a:xfrm rot="5400000">
          <a:off x="5928003" y="-104723"/>
          <a:ext cx="889842" cy="5998046"/>
        </a:xfrm>
        <a:prstGeom prst="round2Same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Achieves strong accuracy and generalization with minimal additional training.</a:t>
          </a:r>
          <a:endParaRPr lang="en-SA" sz="2300" kern="1200"/>
        </a:p>
      </dsp:txBody>
      <dsp:txXfrm rot="-5400000">
        <a:off x="3373902" y="2492817"/>
        <a:ext cx="5954607" cy="802964"/>
      </dsp:txXfrm>
    </dsp:sp>
    <dsp:sp modelId="{1882894D-F6F9-AD46-8087-2653D8D1FF3E}">
      <dsp:nvSpPr>
        <dsp:cNvPr id="0" name=""/>
        <dsp:cNvSpPr/>
      </dsp:nvSpPr>
      <dsp:spPr>
        <a:xfrm>
          <a:off x="0" y="2338148"/>
          <a:ext cx="3373901" cy="1112302"/>
        </a:xfrm>
        <a:prstGeom prst="round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Performance Boost: Smarter Starting Point</a:t>
          </a:r>
          <a:endParaRPr lang="en-SA" sz="2100" kern="1200"/>
        </a:p>
      </dsp:txBody>
      <dsp:txXfrm>
        <a:off x="54298" y="2392446"/>
        <a:ext cx="3265305" cy="1003706"/>
      </dsp:txXfrm>
    </dsp:sp>
    <dsp:sp modelId="{19837995-5BEC-C647-AB6C-124AA7CB3A4F}">
      <dsp:nvSpPr>
        <dsp:cNvPr id="0" name=""/>
        <dsp:cNvSpPr/>
      </dsp:nvSpPr>
      <dsp:spPr>
        <a:xfrm rot="5400000">
          <a:off x="5928003" y="1063194"/>
          <a:ext cx="889842" cy="5998046"/>
        </a:xfrm>
        <a:prstGeom prst="round2Same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Reuses existing foundation models instead of retraining from scratch.</a:t>
          </a:r>
          <a:endParaRPr lang="en-SA" sz="2300" kern="1200"/>
        </a:p>
      </dsp:txBody>
      <dsp:txXfrm rot="-5400000">
        <a:off x="3373902" y="3660735"/>
        <a:ext cx="5954607" cy="802964"/>
      </dsp:txXfrm>
    </dsp:sp>
    <dsp:sp modelId="{EF2F0DAF-315C-B94D-A550-8E67B9B09006}">
      <dsp:nvSpPr>
        <dsp:cNvPr id="0" name=""/>
        <dsp:cNvSpPr/>
      </dsp:nvSpPr>
      <dsp:spPr>
        <a:xfrm>
          <a:off x="0" y="3506066"/>
          <a:ext cx="3373901" cy="1112302"/>
        </a:xfrm>
        <a:prstGeom prst="round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Sustainability &amp; Reusability: Train Once, Use Many Times</a:t>
          </a:r>
          <a:endParaRPr lang="en-SA" sz="2100" kern="1200"/>
        </a:p>
      </dsp:txBody>
      <dsp:txXfrm>
        <a:off x="54298" y="3560364"/>
        <a:ext cx="3265305" cy="10037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8C68D-899F-214F-9D09-227B9D485364}">
      <dsp:nvSpPr>
        <dsp:cNvPr id="0" name=""/>
        <dsp:cNvSpPr/>
      </dsp:nvSpPr>
      <dsp:spPr>
        <a:xfrm>
          <a:off x="0" y="0"/>
          <a:ext cx="1830585" cy="42278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Prepare Dataset</a:t>
          </a:r>
        </a:p>
      </dsp:txBody>
      <dsp:txXfrm>
        <a:off x="0" y="1691131"/>
        <a:ext cx="1830585" cy="1691131"/>
      </dsp:txXfrm>
    </dsp:sp>
    <dsp:sp modelId="{AAE2199A-77E0-9745-A80D-B754156D6F89}">
      <dsp:nvSpPr>
        <dsp:cNvPr id="0" name=""/>
        <dsp:cNvSpPr/>
      </dsp:nvSpPr>
      <dsp:spPr>
        <a:xfrm>
          <a:off x="211359" y="253669"/>
          <a:ext cx="1407867" cy="1407867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69EA20-F274-F14F-8AC5-E19890FC14B1}">
      <dsp:nvSpPr>
        <dsp:cNvPr id="0" name=""/>
        <dsp:cNvSpPr/>
      </dsp:nvSpPr>
      <dsp:spPr>
        <a:xfrm>
          <a:off x="1885503" y="0"/>
          <a:ext cx="1830585" cy="42278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Load Model</a:t>
          </a:r>
        </a:p>
      </dsp:txBody>
      <dsp:txXfrm>
        <a:off x="1885503" y="1691131"/>
        <a:ext cx="1830585" cy="1691131"/>
      </dsp:txXfrm>
    </dsp:sp>
    <dsp:sp modelId="{822F892C-F010-334B-A281-1D6DCAA356CC}">
      <dsp:nvSpPr>
        <dsp:cNvPr id="0" name=""/>
        <dsp:cNvSpPr/>
      </dsp:nvSpPr>
      <dsp:spPr>
        <a:xfrm>
          <a:off x="2096862" y="253669"/>
          <a:ext cx="1407867" cy="1407867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21850A-0948-6147-AE35-67533D2D7494}">
      <dsp:nvSpPr>
        <dsp:cNvPr id="0" name=""/>
        <dsp:cNvSpPr/>
      </dsp:nvSpPr>
      <dsp:spPr>
        <a:xfrm>
          <a:off x="3771007" y="0"/>
          <a:ext cx="1830585" cy="42278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Configure Training</a:t>
          </a:r>
        </a:p>
      </dsp:txBody>
      <dsp:txXfrm>
        <a:off x="3771007" y="1691131"/>
        <a:ext cx="1830585" cy="1691131"/>
      </dsp:txXfrm>
    </dsp:sp>
    <dsp:sp modelId="{CA0CBC1D-2F36-2641-8D05-F9AF45A88AFF}">
      <dsp:nvSpPr>
        <dsp:cNvPr id="0" name=""/>
        <dsp:cNvSpPr/>
      </dsp:nvSpPr>
      <dsp:spPr>
        <a:xfrm>
          <a:off x="3982366" y="253669"/>
          <a:ext cx="1407867" cy="1407867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6C8830-950F-8045-8C3A-D49EE998F2C7}">
      <dsp:nvSpPr>
        <dsp:cNvPr id="0" name=""/>
        <dsp:cNvSpPr/>
      </dsp:nvSpPr>
      <dsp:spPr>
        <a:xfrm>
          <a:off x="5656510" y="0"/>
          <a:ext cx="1830585" cy="42278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Run Training</a:t>
          </a:r>
        </a:p>
      </dsp:txBody>
      <dsp:txXfrm>
        <a:off x="5656510" y="1691131"/>
        <a:ext cx="1830585" cy="1691131"/>
      </dsp:txXfrm>
    </dsp:sp>
    <dsp:sp modelId="{AB0857FF-8E47-3A45-B95A-7687B1CD761C}">
      <dsp:nvSpPr>
        <dsp:cNvPr id="0" name=""/>
        <dsp:cNvSpPr/>
      </dsp:nvSpPr>
      <dsp:spPr>
        <a:xfrm>
          <a:off x="5867869" y="253669"/>
          <a:ext cx="1407867" cy="1407867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BB9665-C2E7-7146-B30C-B6DA33ACFA37}">
      <dsp:nvSpPr>
        <dsp:cNvPr id="0" name=""/>
        <dsp:cNvSpPr/>
      </dsp:nvSpPr>
      <dsp:spPr>
        <a:xfrm>
          <a:off x="7542014" y="0"/>
          <a:ext cx="1830585" cy="422782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Evaluate</a:t>
          </a:r>
        </a:p>
      </dsp:txBody>
      <dsp:txXfrm>
        <a:off x="7542014" y="1691131"/>
        <a:ext cx="1830585" cy="1691131"/>
      </dsp:txXfrm>
    </dsp:sp>
    <dsp:sp modelId="{1614D2B7-B161-6842-AD46-FC3A564973F6}">
      <dsp:nvSpPr>
        <dsp:cNvPr id="0" name=""/>
        <dsp:cNvSpPr/>
      </dsp:nvSpPr>
      <dsp:spPr>
        <a:xfrm>
          <a:off x="7753373" y="253669"/>
          <a:ext cx="1407867" cy="1407867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9FD0B5-D51F-8848-8724-07D88A3C852B}">
      <dsp:nvSpPr>
        <dsp:cNvPr id="0" name=""/>
        <dsp:cNvSpPr/>
      </dsp:nvSpPr>
      <dsp:spPr>
        <a:xfrm>
          <a:off x="374904" y="3382263"/>
          <a:ext cx="8622792" cy="634174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1/5/26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1/5/26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860362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diagramData" Target="../diagrams/data3.xml"/><Relationship Id="rId16" Type="http://schemas.openxmlformats.org/officeDocument/2006/relationships/image" Target="../media/image16.sv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openxmlformats.org/officeDocument/2006/relationships/image" Target="../media/image11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Fine-Tuning Genomic Foundation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6045844" y="6607502"/>
            <a:ext cx="6146156" cy="250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689422"/>
              </p:ext>
            </p:extLst>
          </p:nvPr>
        </p:nvGraphicFramePr>
        <p:xfrm>
          <a:off x="1540564" y="1588861"/>
          <a:ext cx="6735336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EB9A7683-5B0B-F3F7-0AC4-AD118CD7FD49}"/>
              </a:ext>
            </a:extLst>
          </p:cNvPr>
          <p:cNvGrpSpPr/>
          <p:nvPr/>
        </p:nvGrpSpPr>
        <p:grpSpPr>
          <a:xfrm>
            <a:off x="8710647" y="1818152"/>
            <a:ext cx="2998149" cy="3868026"/>
            <a:chOff x="8710647" y="1818152"/>
            <a:chExt cx="2998149" cy="38680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FDDDFE0-24A9-8615-9CE4-16E3D0C3E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710647" y="1818152"/>
              <a:ext cx="2998149" cy="322169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A93968-4040-7EA2-D2D3-3348BE32EA65}"/>
                </a:ext>
              </a:extLst>
            </p:cNvPr>
            <p:cNvSpPr txBox="1"/>
            <p:nvPr/>
          </p:nvSpPr>
          <p:spPr>
            <a:xfrm>
              <a:off x="8710648" y="5039847"/>
              <a:ext cx="299814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200" b="0" i="0" dirty="0">
                  <a:solidFill>
                    <a:srgbClr val="222222"/>
                  </a:solidFill>
                  <a:effectLst/>
                  <a:latin typeface="Harding"/>
                </a:rPr>
                <a:t>UMAP visualization of the pretrained </a:t>
              </a:r>
              <a:r>
                <a:rPr lang="en-US" sz="1200" b="0" i="0" dirty="0" err="1">
                  <a:solidFill>
                    <a:srgbClr val="222222"/>
                  </a:solidFill>
                  <a:effectLst/>
                  <a:latin typeface="Harding"/>
                </a:rPr>
                <a:t>scGPT</a:t>
              </a:r>
              <a:r>
                <a:rPr lang="en-US" sz="1200" b="0" i="0" dirty="0">
                  <a:solidFill>
                    <a:srgbClr val="222222"/>
                  </a:solidFill>
                  <a:effectLst/>
                  <a:latin typeface="Harding"/>
                </a:rPr>
                <a:t> cell embeddings (</a:t>
              </a:r>
              <a:r>
                <a:rPr lang="en-US" sz="1200" b="0" i="0" dirty="0" err="1">
                  <a:solidFill>
                    <a:srgbClr val="222222"/>
                  </a:solidFill>
                  <a:effectLst/>
                  <a:latin typeface="Harding"/>
                </a:rPr>
                <a:t>emb</a:t>
              </a:r>
              <a:r>
                <a:rPr lang="en-US" sz="1200" b="0" i="0" dirty="0">
                  <a:solidFill>
                    <a:srgbClr val="222222"/>
                  </a:solidFill>
                  <a:effectLst/>
                  <a:latin typeface="Harding"/>
                </a:rPr>
                <a:t>; a random 10% subset), colored by major cell types</a:t>
              </a:r>
              <a:endParaRPr lang="en-SA" sz="12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475294" y="6307687"/>
            <a:ext cx="930668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92258-F3BB-4716-1D4C-EC7CA37F79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General Knowledge</a:t>
            </a:r>
          </a:p>
          <a:p>
            <a:pPr lvl="1"/>
            <a:r>
              <a:rPr lang="en-US" dirty="0"/>
              <a:t>Training on massive unlabeled genomic data to learn patterns</a:t>
            </a:r>
            <a:endParaRPr lang="en-US" b="1" dirty="0"/>
          </a:p>
          <a:p>
            <a:r>
              <a:rPr lang="en-US" dirty="0"/>
              <a:t>Key Points:</a:t>
            </a:r>
          </a:p>
          <a:p>
            <a:pPr lvl="1"/>
            <a:r>
              <a:rPr lang="en-US" dirty="0"/>
              <a:t>Huge datasets (billions of sequences)</a:t>
            </a:r>
          </a:p>
          <a:p>
            <a:pPr lvl="1"/>
            <a:r>
              <a:rPr lang="en-US" dirty="0"/>
              <a:t>Self-supervised learning</a:t>
            </a:r>
          </a:p>
          <a:p>
            <a:pPr lvl="1"/>
            <a:r>
              <a:rPr lang="en-US" dirty="0"/>
              <a:t>General patterns learned</a:t>
            </a:r>
          </a:p>
          <a:p>
            <a:pPr lvl="1"/>
            <a:r>
              <a:rPr lang="en-US" dirty="0"/>
              <a:t>Compute-intensive (days/weeks on GPUs)</a:t>
            </a:r>
          </a:p>
          <a:p>
            <a:pPr lvl="1"/>
            <a:r>
              <a:rPr lang="en-US" dirty="0"/>
              <a:t>Foundation model as output</a:t>
            </a:r>
          </a:p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DNABERT trained on Human DNA</a:t>
            </a:r>
          </a:p>
          <a:p>
            <a:pPr lvl="1"/>
            <a:r>
              <a:rPr lang="en-US" dirty="0"/>
              <a:t>Captures motifs, regulatory syntax, dependencies between different regions</a:t>
            </a:r>
            <a:endParaRPr lang="en-S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99B6C5-E2FB-47BC-0948-706B2267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Pre-training?</a:t>
            </a:r>
            <a:endParaRPr lang="en-SA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5E80757-1DE5-7731-2B7B-A62AF10533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69034" y="2092729"/>
            <a:ext cx="4610100" cy="293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2551-6FEF-BF84-517D-EC3C482A8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Fine-tuning?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5ACBB-010B-8288-937B-32D54A007B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5661660" cy="4620682"/>
          </a:xfrm>
        </p:spPr>
        <p:txBody>
          <a:bodyPr/>
          <a:lstStyle/>
          <a:p>
            <a:r>
              <a:rPr lang="en-US"/>
              <a:t>Specialization </a:t>
            </a:r>
            <a:r>
              <a:rPr lang="en-US" dirty="0"/>
              <a:t>for Your Task</a:t>
            </a:r>
          </a:p>
          <a:p>
            <a:pPr lvl="1"/>
            <a:r>
              <a:rPr lang="en-US" dirty="0"/>
              <a:t>Adapt a pre-trained model to specific tasks using labeled data.</a:t>
            </a:r>
          </a:p>
          <a:p>
            <a:r>
              <a:rPr lang="en-US" dirty="0"/>
              <a:t>Key Points:</a:t>
            </a:r>
          </a:p>
          <a:p>
            <a:pPr lvl="1"/>
            <a:r>
              <a:rPr lang="en-US" dirty="0"/>
              <a:t>Small datasets (thousands of sequences)</a:t>
            </a:r>
          </a:p>
          <a:p>
            <a:pPr lvl="1"/>
            <a:r>
              <a:rPr lang="en-US" dirty="0"/>
              <a:t>Labeled data required</a:t>
            </a:r>
          </a:p>
          <a:p>
            <a:pPr lvl="1"/>
            <a:r>
              <a:rPr lang="en-US" dirty="0"/>
              <a:t>Adapts knowledge to your problem</a:t>
            </a:r>
          </a:p>
          <a:p>
            <a:pPr lvl="1"/>
            <a:r>
              <a:rPr lang="en-US" dirty="0"/>
              <a:t>Fast &amp; cheap (hours on single GPU)</a:t>
            </a:r>
          </a:p>
          <a:p>
            <a:pPr lvl="1"/>
            <a:r>
              <a:rPr lang="en-US" dirty="0"/>
              <a:t>Task-specific output</a:t>
            </a:r>
          </a:p>
          <a:p>
            <a:r>
              <a:rPr lang="en-US" dirty="0"/>
              <a:t>Example: </a:t>
            </a:r>
          </a:p>
          <a:p>
            <a:pPr lvl="1"/>
            <a:r>
              <a:rPr lang="en-US" dirty="0"/>
              <a:t>Use pathogenic variants to identify disease mutations</a:t>
            </a:r>
          </a:p>
          <a:p>
            <a:pPr lvl="1"/>
            <a:r>
              <a:rPr lang="en-US" dirty="0"/>
              <a:t>Understanding gene regulation</a:t>
            </a:r>
          </a:p>
          <a:p>
            <a:pPr lvl="1"/>
            <a:r>
              <a:rPr lang="en-US" dirty="0"/>
              <a:t>Synthetic element design</a:t>
            </a:r>
            <a:endParaRPr lang="en-SA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C9826C-969F-16C5-37E5-040FEC403E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71360" y="2596964"/>
            <a:ext cx="4610100" cy="222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6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3B1D9-F92B-1134-BC86-A93D7D8B8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Pre-training vs Fine-tuning</a:t>
            </a:r>
            <a:endParaRPr lang="en-S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361972E-1A21-D1EE-D7F8-BFBC6A886E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8332312"/>
              </p:ext>
            </p:extLst>
          </p:nvPr>
        </p:nvGraphicFramePr>
        <p:xfrm>
          <a:off x="1324356" y="1658113"/>
          <a:ext cx="8843772" cy="4214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7924">
                  <a:extLst>
                    <a:ext uri="{9D8B030D-6E8A-4147-A177-3AD203B41FA5}">
                      <a16:colId xmlns:a16="http://schemas.microsoft.com/office/drawing/2014/main" val="279007629"/>
                    </a:ext>
                  </a:extLst>
                </a:gridCol>
                <a:gridCol w="2947924">
                  <a:extLst>
                    <a:ext uri="{9D8B030D-6E8A-4147-A177-3AD203B41FA5}">
                      <a16:colId xmlns:a16="http://schemas.microsoft.com/office/drawing/2014/main" val="3857505921"/>
                    </a:ext>
                  </a:extLst>
                </a:gridCol>
                <a:gridCol w="2947924">
                  <a:extLst>
                    <a:ext uri="{9D8B030D-6E8A-4147-A177-3AD203B41FA5}">
                      <a16:colId xmlns:a16="http://schemas.microsoft.com/office/drawing/2014/main" val="2280457091"/>
                    </a:ext>
                  </a:extLst>
                </a:gridCol>
              </a:tblGrid>
              <a:tr h="318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Aspect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Pre-training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Fine-tuning</a:t>
                      </a:r>
                      <a:endParaRPr lang="en-US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3350808"/>
                  </a:ext>
                </a:extLst>
              </a:tr>
              <a:tr h="6021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Data Size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Billions of sequence tokens (e.g., genomes, proteomes)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Thousands to millions of labeled samples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5796692"/>
                  </a:ext>
                </a:extLst>
              </a:tr>
              <a:tr h="78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Data Type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Unlabeled biological sequences (self-supervised tasks)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Labeled data for specific tasks (e.g., promoters, variants, binding sites)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0841184"/>
                  </a:ext>
                </a:extLst>
              </a:tr>
              <a:tr h="6021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Objective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Learn general biological representations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Adapt representations to a specific prediction task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0030319"/>
                  </a:ext>
                </a:extLst>
              </a:tr>
              <a:tr h="318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Time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Weeks to months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Hours to days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9025418"/>
                  </a:ext>
                </a:extLst>
              </a:tr>
              <a:tr h="6021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Compute &amp; GPUs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Multi-GPU or TPU clusters (e.g., 64–256 GPUs)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Single or few GPUs (e.g., LoRA on RTX 3090)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750006"/>
                  </a:ext>
                </a:extLst>
              </a:tr>
              <a:tr h="318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Cost Estimate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$50k–$500k+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$10–$1k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6632372"/>
                  </a:ext>
                </a:extLst>
              </a:tr>
              <a:tr h="5507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Result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Foundation (base)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Task-adapted (specialized) model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8520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85E2337-1C93-C188-724C-D68A91F65301}"/>
              </a:ext>
            </a:extLst>
          </p:cNvPr>
          <p:cNvSpPr txBox="1"/>
          <p:nvPr/>
        </p:nvSpPr>
        <p:spPr>
          <a:xfrm>
            <a:off x="1324356" y="6066678"/>
            <a:ext cx="7900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Pretraining builds “biological intelligence,” fine-tuning channels it for specific task</a:t>
            </a:r>
            <a:endParaRPr lang="en-S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4422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7A2FB-9353-CC79-A754-C9479296E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Fine-Tuning: The Transfer Learning Paradigm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2899C6-8619-BB50-591A-B22B676E6A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9466501"/>
              </p:ext>
            </p:extLst>
          </p:nvPr>
        </p:nvGraphicFramePr>
        <p:xfrm>
          <a:off x="1410027" y="1566001"/>
          <a:ext cx="9371948" cy="46206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1701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A2C8-3D69-4CFB-B3AC-4EC29CD2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Fine-Tuning vs. Parameter-Efficient Fine-Tuning</a:t>
            </a:r>
            <a:endParaRPr lang="en-SA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FBAF3A40-2AA7-95B0-380A-1E136A14C5C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40332374"/>
              </p:ext>
            </p:extLst>
          </p:nvPr>
        </p:nvGraphicFramePr>
        <p:xfrm>
          <a:off x="1409700" y="2480203"/>
          <a:ext cx="9759043" cy="38570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721">
                  <a:extLst>
                    <a:ext uri="{9D8B030D-6E8A-4147-A177-3AD203B41FA5}">
                      <a16:colId xmlns:a16="http://schemas.microsoft.com/office/drawing/2014/main" val="3503124722"/>
                    </a:ext>
                  </a:extLst>
                </a:gridCol>
                <a:gridCol w="3417603">
                  <a:extLst>
                    <a:ext uri="{9D8B030D-6E8A-4147-A177-3AD203B41FA5}">
                      <a16:colId xmlns:a16="http://schemas.microsoft.com/office/drawing/2014/main" val="2901146845"/>
                    </a:ext>
                  </a:extLst>
                </a:gridCol>
                <a:gridCol w="4136719">
                  <a:extLst>
                    <a:ext uri="{9D8B030D-6E8A-4147-A177-3AD203B41FA5}">
                      <a16:colId xmlns:a16="http://schemas.microsoft.com/office/drawing/2014/main" val="3576984174"/>
                    </a:ext>
                  </a:extLst>
                </a:gridCol>
              </a:tblGrid>
              <a:tr h="623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Aspect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Full Fine-Tuning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Parameter-Efficient Fine-Tuning (PEFT)</a:t>
                      </a:r>
                      <a:endParaRPr 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8881923"/>
                  </a:ext>
                </a:extLst>
              </a:tr>
              <a:tr h="564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Parameters Updated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All model 117M parameters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Only a small subset (e.g., LoRA or adapter weights)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590799"/>
                  </a:ext>
                </a:extLst>
              </a:tr>
              <a:tr h="564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GPU Memory Requirement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Very high (≈30 GB or more)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Low (≈4× less)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1548175"/>
                  </a:ext>
                </a:extLst>
              </a:tr>
              <a:tr h="33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Training Speed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Slow — hours to days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Fast — minutes to a few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3313429"/>
                  </a:ext>
                </a:extLst>
              </a:tr>
              <a:tr h="564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Risk of Catastrophic Forgetting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High — overwrites pre-trained knowledge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Low — base model remains frozen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2148759"/>
                  </a:ext>
                </a:extLst>
              </a:tr>
              <a:tr h="564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Flexibility / Adaptability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Full flexibility — can adapt all layers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Moderate — only modifies low-rank or adapter components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5798335"/>
                  </a:ext>
                </a:extLst>
              </a:tr>
              <a:tr h="5642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Best Suited For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Large institutions or foundational model creators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Research labs and applied task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357837"/>
                  </a:ext>
                </a:extLst>
              </a:tr>
            </a:tbl>
          </a:graphicData>
        </a:graphic>
      </p:graphicFrame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33F6C46-E0A0-BD87-22C7-4DE1798ED5B4}"/>
              </a:ext>
            </a:extLst>
          </p:cNvPr>
          <p:cNvSpPr txBox="1">
            <a:spLocks/>
          </p:cNvSpPr>
          <p:nvPr/>
        </p:nvSpPr>
        <p:spPr>
          <a:xfrm>
            <a:off x="1409700" y="1736611"/>
            <a:ext cx="9371949" cy="71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0312" indent="-210312" algn="l" defTabSz="91440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8912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76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05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624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910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19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8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A" dirty="0"/>
              <a:t>Finetuning full model can be very heavy and complex</a:t>
            </a:r>
          </a:p>
          <a:p>
            <a:pPr lvl="1"/>
            <a:r>
              <a:rPr lang="en-SA" dirty="0"/>
              <a:t>Let’s take examle of DNABERT-2 model (117 Million parameters)</a:t>
            </a:r>
          </a:p>
        </p:txBody>
      </p:sp>
    </p:spTree>
    <p:extLst>
      <p:ext uri="{BB962C8B-B14F-4D97-AF65-F5344CB8AC3E}">
        <p14:creationId xmlns:p14="http://schemas.microsoft.com/office/powerpoint/2010/main" val="874211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C997-7405-444D-5900-8BE285D5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LoRA</a:t>
            </a:r>
            <a:r>
              <a:rPr lang="en-US" dirty="0"/>
              <a:t>: From Full Fine-Tuning → Smart Parameter Updates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E4ED6F-5BAB-137A-E26E-9F27DDD85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6" y="3429000"/>
            <a:ext cx="5041900" cy="243201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How </a:t>
            </a:r>
            <a:r>
              <a:rPr lang="en-US" dirty="0" err="1"/>
              <a:t>LoRA</a:t>
            </a:r>
            <a:r>
              <a:rPr lang="en-US" dirty="0"/>
              <a:t> works</a:t>
            </a:r>
          </a:p>
          <a:p>
            <a:pPr lvl="1"/>
            <a:r>
              <a:rPr lang="en-US" dirty="0"/>
              <a:t>Freeze the pre-trained model</a:t>
            </a:r>
          </a:p>
          <a:p>
            <a:pPr lvl="1"/>
            <a:r>
              <a:rPr lang="en-US" dirty="0"/>
              <a:t>Insert small trainable matrices A and B</a:t>
            </a:r>
          </a:p>
          <a:p>
            <a:pPr lvl="1"/>
            <a:r>
              <a:rPr lang="en-US" dirty="0"/>
              <a:t>Update only 1–3 % of parameters</a:t>
            </a:r>
          </a:p>
          <a:p>
            <a:r>
              <a:rPr lang="en-US" dirty="0"/>
              <a:t>Outcome</a:t>
            </a:r>
          </a:p>
          <a:p>
            <a:pPr lvl="1"/>
            <a:r>
              <a:rPr lang="en-SA" dirty="0"/>
              <a:t>100× </a:t>
            </a:r>
            <a:r>
              <a:rPr lang="en-US" dirty="0"/>
              <a:t>fewer trainable parameters</a:t>
            </a:r>
          </a:p>
          <a:p>
            <a:pPr lvl="1"/>
            <a:r>
              <a:rPr lang="en-SA" dirty="0"/>
              <a:t>4× </a:t>
            </a:r>
            <a:r>
              <a:rPr lang="en-US" dirty="0"/>
              <a:t>less GPU memory</a:t>
            </a:r>
          </a:p>
          <a:p>
            <a:pPr lvl="1"/>
            <a:r>
              <a:rPr lang="en-US" dirty="0"/>
              <a:t>Modular adapters per task</a:t>
            </a:r>
            <a:endParaRPr lang="en-S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0132E3-6028-EE7A-7073-62E4A22DC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027" y="3877552"/>
            <a:ext cx="5041900" cy="1308100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FD9E240-10FC-F7F3-6D57-463E7546C5A6}"/>
              </a:ext>
            </a:extLst>
          </p:cNvPr>
          <p:cNvSpPr txBox="1">
            <a:spLocks/>
          </p:cNvSpPr>
          <p:nvPr/>
        </p:nvSpPr>
        <p:spPr>
          <a:xfrm>
            <a:off x="1410026" y="1672349"/>
            <a:ext cx="9922003" cy="13081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10312" indent="-210312" algn="l" defTabSz="91440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8912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76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05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624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910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19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8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Full fine-tuning updates every parameter, demanding huge GPU memory and long training.</a:t>
            </a:r>
          </a:p>
          <a:p>
            <a:r>
              <a:rPr lang="en-US" dirty="0" err="1"/>
              <a:t>LoRA</a:t>
            </a:r>
            <a:r>
              <a:rPr lang="en-US" dirty="0"/>
              <a:t> offers a smarter alternative — train only a few thousand parameters while keeping most knowledge intact.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257466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1609F-C18C-CBDA-11F4-87353354D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 </a:t>
            </a:r>
            <a:r>
              <a:rPr lang="en-US" dirty="0" err="1"/>
              <a:t>LoRA</a:t>
            </a:r>
            <a:r>
              <a:rPr lang="en-US" dirty="0"/>
              <a:t> models can be large → compress the frozen base further.</a:t>
            </a:r>
          </a:p>
          <a:p>
            <a:r>
              <a:rPr lang="en-US" dirty="0"/>
              <a:t>Quantization:</a:t>
            </a:r>
          </a:p>
          <a:p>
            <a:pPr lvl="1"/>
            <a:r>
              <a:rPr lang="en-US" dirty="0"/>
              <a:t>~50% memory reduction when moving from fp16 → 8-bit</a:t>
            </a:r>
          </a:p>
          <a:p>
            <a:pPr lvl="1"/>
            <a:r>
              <a:rPr lang="en-US" dirty="0"/>
              <a:t>~75% reduction from fp16 → 4-bit</a:t>
            </a:r>
          </a:p>
          <a:p>
            <a:pPr lvl="1"/>
            <a:r>
              <a:rPr lang="en-US" dirty="0"/>
              <a:t>Accuracy largely maintained if quantization is applied correctly</a:t>
            </a:r>
          </a:p>
          <a:p>
            <a:r>
              <a:rPr lang="en-US" dirty="0" err="1"/>
              <a:t>QLoRA</a:t>
            </a:r>
            <a:r>
              <a:rPr lang="en-US" dirty="0"/>
              <a:t> = Quantization + </a:t>
            </a:r>
            <a:r>
              <a:rPr lang="en-US" dirty="0" err="1"/>
              <a:t>LoRA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Quantize the frozen base → smaller memory footprint</a:t>
            </a:r>
          </a:p>
          <a:p>
            <a:pPr lvl="1"/>
            <a:r>
              <a:rPr lang="en-US" dirty="0"/>
              <a:t>Keep </a:t>
            </a:r>
            <a:r>
              <a:rPr lang="en-US" dirty="0" err="1"/>
              <a:t>LoRA</a:t>
            </a:r>
            <a:r>
              <a:rPr lang="en-US" dirty="0"/>
              <a:t> adapters in higher precision for stability</a:t>
            </a:r>
          </a:p>
          <a:p>
            <a:pPr lvl="1"/>
            <a:r>
              <a:rPr lang="en-US" dirty="0"/>
              <a:t>Enables fine-tuning billion-parameter models on consumer GPUs</a:t>
            </a:r>
          </a:p>
          <a:p>
            <a:pPr marL="283464" lvl="1" indent="0">
              <a:buNone/>
            </a:pPr>
            <a:endParaRPr lang="en-US" dirty="0"/>
          </a:p>
          <a:p>
            <a:r>
              <a:rPr lang="en-US" dirty="0" err="1"/>
              <a:t>LoRA</a:t>
            </a:r>
            <a:r>
              <a:rPr lang="en-US" dirty="0"/>
              <a:t> shrinks what you train; quantization shrinks what you load </a:t>
            </a:r>
          </a:p>
          <a:p>
            <a:r>
              <a:rPr lang="en-US" dirty="0"/>
              <a:t>Together, they achieve up to 4×–8× memory savings with relatively smaller in accuracy loss.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7245C-3692-7DEE-B0F8-E515B435D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Quantization + </a:t>
            </a:r>
            <a:r>
              <a:rPr lang="en-US" dirty="0" err="1"/>
              <a:t>LoRA</a:t>
            </a:r>
            <a:r>
              <a:rPr lang="en-US" dirty="0"/>
              <a:t> → </a:t>
            </a:r>
            <a:r>
              <a:rPr lang="en-US" dirty="0" err="1"/>
              <a:t>QLoRA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59218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D107-D5CE-A6FC-71DF-78DF8B7D5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Overview of Fine-Tuning Pipeline</a:t>
            </a:r>
            <a:endParaRPr lang="en-S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F08A68-0025-9634-4D8D-27F4874261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98742741"/>
              </p:ext>
            </p:extLst>
          </p:nvPr>
        </p:nvGraphicFramePr>
        <p:xfrm>
          <a:off x="1409049" y="1960700"/>
          <a:ext cx="9372600" cy="4227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6F1B404E-8C9C-0C3D-C57E-0095EBB80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62835" y="2414725"/>
            <a:ext cx="1132114" cy="1132114"/>
          </a:xfrm>
          <a:prstGeom prst="rect">
            <a:avLst/>
          </a:prstGeom>
        </p:spPr>
      </p:pic>
      <p:pic>
        <p:nvPicPr>
          <p:cNvPr id="8" name="Graphic 7" descr="Artificial Intelligence with solid fill">
            <a:extLst>
              <a:ext uri="{FF2B5EF4-FFF2-40B4-BE49-F238E27FC236}">
                <a16:creationId xmlns:a16="http://schemas.microsoft.com/office/drawing/2014/main" id="{132669AC-B686-5E1E-CCFE-23A54AB50B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89606" y="2414725"/>
            <a:ext cx="1132114" cy="1132114"/>
          </a:xfrm>
          <a:prstGeom prst="rect">
            <a:avLst/>
          </a:prstGeom>
        </p:spPr>
      </p:pic>
      <p:pic>
        <p:nvPicPr>
          <p:cNvPr id="10" name="Graphic 9" descr="Gears with solid fill">
            <a:extLst>
              <a:ext uri="{FF2B5EF4-FFF2-40B4-BE49-F238E27FC236}">
                <a16:creationId xmlns:a16="http://schemas.microsoft.com/office/drawing/2014/main" id="{0093E255-042B-EEEC-8978-7D0C97964B7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34735" y="2414725"/>
            <a:ext cx="1132114" cy="1132114"/>
          </a:xfrm>
          <a:prstGeom prst="rect">
            <a:avLst/>
          </a:prstGeom>
        </p:spPr>
      </p:pic>
      <p:pic>
        <p:nvPicPr>
          <p:cNvPr id="12" name="Graphic 11" descr="Teacher with solid fill">
            <a:extLst>
              <a:ext uri="{FF2B5EF4-FFF2-40B4-BE49-F238E27FC236}">
                <a16:creationId xmlns:a16="http://schemas.microsoft.com/office/drawing/2014/main" id="{189D3BEE-02D1-06DA-A24B-0A07E890FF9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79864" y="2414725"/>
            <a:ext cx="1132114" cy="1132114"/>
          </a:xfrm>
          <a:prstGeom prst="rect">
            <a:avLst/>
          </a:prstGeom>
        </p:spPr>
      </p:pic>
      <p:pic>
        <p:nvPicPr>
          <p:cNvPr id="14" name="Graphic 13" descr="Judge male with solid fill">
            <a:extLst>
              <a:ext uri="{FF2B5EF4-FFF2-40B4-BE49-F238E27FC236}">
                <a16:creationId xmlns:a16="http://schemas.microsoft.com/office/drawing/2014/main" id="{9BC4B034-B3D2-AD39-867D-F31E6E649F6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06635" y="2414725"/>
            <a:ext cx="1132114" cy="113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35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47EC5-909C-02B5-23F9-43938753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Prepare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3579F-3E63-AF24-092C-2E282CDCE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8" y="1566001"/>
            <a:ext cx="7260444" cy="4620682"/>
          </a:xfrm>
        </p:spPr>
        <p:txBody>
          <a:bodyPr/>
          <a:lstStyle/>
          <a:p>
            <a:r>
              <a:rPr lang="en-SA" dirty="0"/>
              <a:t>Get the data</a:t>
            </a:r>
          </a:p>
          <a:p>
            <a:pPr lvl="1"/>
            <a:r>
              <a:rPr lang="en-US" dirty="0"/>
              <a:t>Collect raw biological sequences (e.g., DNA, RNA, or protein) along with task-specific labels such as binding sites, promoters, or variant effects.</a:t>
            </a:r>
            <a:endParaRPr lang="en-SA" dirty="0"/>
          </a:p>
          <a:p>
            <a:r>
              <a:rPr lang="en-SA" dirty="0"/>
              <a:t>Tokenize data</a:t>
            </a:r>
          </a:p>
          <a:p>
            <a:pPr lvl="1"/>
            <a:r>
              <a:rPr lang="en-US" dirty="0"/>
              <a:t>Convert sequences into numerical tokens (e.g., k-</a:t>
            </a:r>
            <a:r>
              <a:rPr lang="en-US" dirty="0" err="1"/>
              <a:t>mers</a:t>
            </a:r>
            <a:r>
              <a:rPr lang="en-US" dirty="0"/>
              <a:t>, BPE, character tokens) so the model can understand and process them efficiently.</a:t>
            </a:r>
            <a:endParaRPr lang="en-SA" dirty="0"/>
          </a:p>
          <a:p>
            <a:r>
              <a:rPr lang="en-SA" dirty="0"/>
              <a:t>Split into Train, Validation and Test set</a:t>
            </a:r>
          </a:p>
          <a:p>
            <a:pPr lvl="1"/>
            <a:r>
              <a:rPr lang="en-US" dirty="0"/>
              <a:t>Divide the dataset to train the model, tune its parameters, and fairly evaluate its performance on unseen examples.</a:t>
            </a:r>
            <a:endParaRPr lang="en-SA" dirty="0"/>
          </a:p>
          <a:p>
            <a:r>
              <a:rPr lang="en-SA" dirty="0"/>
              <a:t>Configure Data Collation</a:t>
            </a:r>
          </a:p>
          <a:p>
            <a:pPr lvl="1"/>
            <a:r>
              <a:rPr lang="en-US" dirty="0"/>
              <a:t>Define how batches are formed during training—padding, truncation, and alignment—to ensure consistent sequence lengths and efficient GPU use.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37746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5FA6-FC05-7A68-20E2-5A58D4D25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Load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6F488-08F5-CDB0-F0B7-6D53797B2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Load pre-trained model </a:t>
            </a:r>
          </a:p>
          <a:p>
            <a:pPr lvl="1"/>
            <a:r>
              <a:rPr lang="en-SA" dirty="0"/>
              <a:t>Usually </a:t>
            </a:r>
            <a:r>
              <a:rPr lang="en-US" dirty="0"/>
              <a:t>hosted on model hubs (e.g., Hugging Face Hub, GitHub, or lab repositories)</a:t>
            </a:r>
          </a:p>
          <a:p>
            <a:pPr lvl="1"/>
            <a:r>
              <a:rPr lang="en-US" dirty="0"/>
              <a:t>Can also be stored locally or on HPC</a:t>
            </a:r>
            <a:endParaRPr lang="en-SA" dirty="0"/>
          </a:p>
          <a:p>
            <a:r>
              <a:rPr lang="en-US" dirty="0"/>
              <a:t>Attach PEFT adapters (e.g., </a:t>
            </a:r>
            <a:r>
              <a:rPr lang="en-US" dirty="0" err="1"/>
              <a:t>LoRA</a:t>
            </a:r>
            <a:r>
              <a:rPr lang="en-US" dirty="0"/>
              <a:t>)</a:t>
            </a:r>
            <a:endParaRPr lang="en-SA" dirty="0"/>
          </a:p>
          <a:p>
            <a:r>
              <a:rPr lang="en-SA" dirty="0"/>
              <a:t>Model organization</a:t>
            </a:r>
          </a:p>
          <a:p>
            <a:pPr lvl="1"/>
            <a:r>
              <a:rPr lang="en-US" dirty="0"/>
              <a:t>Architecture – the model’s structure (e.g., transformer layers, attention heads).</a:t>
            </a:r>
          </a:p>
          <a:p>
            <a:pPr lvl="1"/>
            <a:r>
              <a:rPr lang="en-US" dirty="0"/>
              <a:t>Weights / Parameters: Numerical values that capture learned biological relationships.</a:t>
            </a:r>
          </a:p>
          <a:p>
            <a:pPr lvl="1"/>
            <a:r>
              <a:rPr lang="en-US" dirty="0"/>
              <a:t>Tokenizer / Vocabulary: The mapping between biological symbols (A, T, C, G, amino acids) and numerical tokens</a:t>
            </a:r>
          </a:p>
          <a:p>
            <a:pPr lvl="1"/>
            <a:r>
              <a:rPr lang="en-US" dirty="0"/>
              <a:t>Configuration File: Metadata such as model size, layer count, and training setup.</a:t>
            </a:r>
            <a:endParaRPr lang="en-SA" dirty="0"/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624749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66DD2-951E-2687-5FC0-F4BAB7364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Configure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FA70-845D-B588-EEE4-84EC303C2E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9187543" cy="1338469"/>
          </a:xfrm>
        </p:spPr>
        <p:txBody>
          <a:bodyPr>
            <a:normAutofit lnSpcReduction="10000"/>
          </a:bodyPr>
          <a:lstStyle/>
          <a:p>
            <a:r>
              <a:rPr lang="en-SA" dirty="0"/>
              <a:t>Why configuration matters</a:t>
            </a:r>
          </a:p>
          <a:p>
            <a:pPr lvl="1"/>
            <a:r>
              <a:rPr lang="en-US" dirty="0"/>
              <a:t>Same model + Same data + </a:t>
            </a:r>
            <a:r>
              <a:rPr lang="en-US" dirty="0">
                <a:solidFill>
                  <a:srgbClr val="FF0000"/>
                </a:solidFill>
              </a:rPr>
              <a:t>Different configuration </a:t>
            </a:r>
            <a:r>
              <a:rPr lang="en-US" dirty="0"/>
              <a:t>= </a:t>
            </a:r>
            <a:r>
              <a:rPr lang="en-US" dirty="0">
                <a:solidFill>
                  <a:srgbClr val="7030A0"/>
                </a:solidFill>
              </a:rPr>
              <a:t>Totally different outcomes</a:t>
            </a:r>
          </a:p>
          <a:p>
            <a:r>
              <a:rPr lang="en-US" dirty="0"/>
              <a:t>The Restaurant Analogy</a:t>
            </a:r>
          </a:p>
          <a:p>
            <a:pPr lvl="1"/>
            <a:r>
              <a:rPr lang="en-US" dirty="0"/>
              <a:t>Same ingredients but a </a:t>
            </a:r>
            <a:r>
              <a:rPr lang="en-US" dirty="0">
                <a:solidFill>
                  <a:srgbClr val="FF0000"/>
                </a:solidFill>
              </a:rPr>
              <a:t>change in recipe </a:t>
            </a:r>
            <a:r>
              <a:rPr lang="en-US" dirty="0"/>
              <a:t>may drastically change </a:t>
            </a:r>
            <a:r>
              <a:rPr lang="en-US" dirty="0">
                <a:solidFill>
                  <a:srgbClr val="7030A0"/>
                </a:solidFill>
              </a:rPr>
              <a:t>food experience</a:t>
            </a:r>
          </a:p>
          <a:p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1E69F-6525-A7C5-18C1-67FFE8DDC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3" y="3429000"/>
            <a:ext cx="4609775" cy="20691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Good Configuration</a:t>
            </a:r>
          </a:p>
          <a:p>
            <a:pPr lvl="1"/>
            <a:r>
              <a:rPr lang="en-US" dirty="0"/>
              <a:t>Training: 2 hours done</a:t>
            </a:r>
          </a:p>
          <a:p>
            <a:pPr lvl="1"/>
            <a:r>
              <a:rPr lang="en-US" dirty="0"/>
              <a:t>Memory: 60% utilized</a:t>
            </a:r>
          </a:p>
          <a:p>
            <a:pPr lvl="1"/>
            <a:r>
              <a:rPr lang="en-US" dirty="0"/>
              <a:t>Accuracy: 89% (paper-worthy!)</a:t>
            </a:r>
          </a:p>
          <a:p>
            <a:pPr lvl="1"/>
            <a:r>
              <a:rPr lang="en-US" dirty="0"/>
              <a:t>Cost: $5 total</a:t>
            </a:r>
          </a:p>
          <a:p>
            <a:pPr lvl="1"/>
            <a:r>
              <a:rPr lang="en-US" dirty="0"/>
              <a:t>You: "I'm publishing this!"</a:t>
            </a:r>
            <a:endParaRPr lang="en-SA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C99763-E598-6108-554C-F9AA7E348FDD}"/>
              </a:ext>
            </a:extLst>
          </p:cNvPr>
          <p:cNvSpPr txBox="1">
            <a:spLocks/>
          </p:cNvSpPr>
          <p:nvPr/>
        </p:nvSpPr>
        <p:spPr>
          <a:xfrm>
            <a:off x="1409700" y="3436814"/>
            <a:ext cx="4610099" cy="2069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10312" indent="-210312" algn="l" defTabSz="91440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8912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76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05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624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910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196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8256" indent="-155448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Bad Configuration</a:t>
            </a:r>
          </a:p>
          <a:p>
            <a:pPr lvl="1"/>
            <a:r>
              <a:rPr lang="en-US" dirty="0"/>
              <a:t>Training: Crashes after 2 days</a:t>
            </a:r>
          </a:p>
          <a:p>
            <a:pPr lvl="1"/>
            <a:r>
              <a:rPr lang="en-US" dirty="0"/>
              <a:t>Memory: OOM errors</a:t>
            </a:r>
          </a:p>
          <a:p>
            <a:pPr lvl="1"/>
            <a:r>
              <a:rPr lang="en-US" dirty="0"/>
              <a:t>Accuracy: 52% (coin flip!)</a:t>
            </a:r>
          </a:p>
          <a:p>
            <a:pPr lvl="1"/>
            <a:r>
              <a:rPr lang="en-US" dirty="0"/>
              <a:t>Cost: $500 wasted</a:t>
            </a:r>
          </a:p>
          <a:p>
            <a:pPr lvl="1"/>
            <a:r>
              <a:rPr lang="en-US" dirty="0"/>
              <a:t>You: "Deep learning is broken!”</a:t>
            </a:r>
          </a:p>
        </p:txBody>
      </p:sp>
    </p:spTree>
    <p:extLst>
      <p:ext uri="{BB962C8B-B14F-4D97-AF65-F5344CB8AC3E}">
        <p14:creationId xmlns:p14="http://schemas.microsoft.com/office/powerpoint/2010/main" val="1890797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B3D8-1ABD-27D8-4B6E-ACE1445C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Training Hyperparameters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1331071-794B-9C11-E618-D348D5306C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0770618"/>
              </p:ext>
            </p:extLst>
          </p:nvPr>
        </p:nvGraphicFramePr>
        <p:xfrm>
          <a:off x="1409699" y="1565275"/>
          <a:ext cx="9693729" cy="47073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230">
                  <a:extLst>
                    <a:ext uri="{9D8B030D-6E8A-4147-A177-3AD203B41FA5}">
                      <a16:colId xmlns:a16="http://schemas.microsoft.com/office/drawing/2014/main" val="2446482511"/>
                    </a:ext>
                  </a:extLst>
                </a:gridCol>
                <a:gridCol w="4441371">
                  <a:extLst>
                    <a:ext uri="{9D8B030D-6E8A-4147-A177-3AD203B41FA5}">
                      <a16:colId xmlns:a16="http://schemas.microsoft.com/office/drawing/2014/main" val="3398728253"/>
                    </a:ext>
                  </a:extLst>
                </a:gridCol>
                <a:gridCol w="2988128">
                  <a:extLst>
                    <a:ext uri="{9D8B030D-6E8A-4147-A177-3AD203B41FA5}">
                      <a16:colId xmlns:a16="http://schemas.microsoft.com/office/drawing/2014/main" val="3836130884"/>
                    </a:ext>
                  </a:extLst>
                </a:gridCol>
              </a:tblGrid>
              <a:tr h="3273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Parameter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Description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Typical Value / Range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341554"/>
                  </a:ext>
                </a:extLst>
              </a:tr>
              <a:tr h="8071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Learning Rate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Most critical parameter: too high → divergence; too low → no learning.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1e-5 to 1e-4 (for fine-tuning)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653960"/>
                  </a:ext>
                </a:extLst>
              </a:tr>
              <a:tr h="5649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Batch Size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Balances memory usage vs gradient quality.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8–32 (use gradient accumulation if limited)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1756847"/>
                  </a:ext>
                </a:extLst>
              </a:tr>
              <a:tr h="5649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Number of Epochs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of full passes through the data.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Use early stopping rather than fixed count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4873569"/>
                  </a:ext>
                </a:extLst>
              </a:tr>
              <a:tr h="5649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Warmup Steps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Gradual lr increase at start to prevent instability.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5–10% of total steps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1912209"/>
                  </a:ext>
                </a:extLst>
              </a:tr>
              <a:tr h="8071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Optimizer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Update rule; affects convergence speed and stability.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AdamW</a:t>
                      </a:r>
                      <a:r>
                        <a:rPr lang="en-US" dirty="0"/>
                        <a:t> (</a:t>
                      </a:r>
                      <a:r>
                        <a:rPr lang="el-GR" dirty="0"/>
                        <a:t>β1=0.9, β2=0.999, ε=1</a:t>
                      </a:r>
                      <a:r>
                        <a:rPr lang="en-US" dirty="0"/>
                        <a:t>e-8)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0648637"/>
                  </a:ext>
                </a:extLst>
              </a:tr>
              <a:tr h="8071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Dropout Rate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Randomly zeros activations to regularize; applied to embeddings/attention/MLP.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0.0–0.2 (often 0.1 in pretrained configs)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1099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9206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FB82E-4725-1665-BE1C-CB04C65C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B2ABE-ECF3-F17D-56E2-3A8F0A35C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013645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39284</TotalTime>
  <Words>1253</Words>
  <Application>Microsoft Macintosh PowerPoint</Application>
  <PresentationFormat>Widescreen</PresentationFormat>
  <Paragraphs>188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Corbel</vt:lpstr>
      <vt:lpstr>Harding</vt:lpstr>
      <vt:lpstr>Custom</vt:lpstr>
      <vt:lpstr>Fine-Tuning Genomic Foundation Models</vt:lpstr>
      <vt:lpstr>Agenda</vt:lpstr>
      <vt:lpstr>What is Pre-training?</vt:lpstr>
      <vt:lpstr>What is Fine-tuning?</vt:lpstr>
      <vt:lpstr>Pre-training vs Fine-tuning</vt:lpstr>
      <vt:lpstr>Fine-Tuning: The Transfer Learning Paradigm</vt:lpstr>
      <vt:lpstr>Full Fine-Tuning vs. Parameter-Efficient Fine-Tuning</vt:lpstr>
      <vt:lpstr>LoRA: From Full Fine-Tuning → Smart Parameter Updates</vt:lpstr>
      <vt:lpstr>Quantization + LoRA → QLoRA</vt:lpstr>
      <vt:lpstr>Overview of Fine-Tuning Pipeline</vt:lpstr>
      <vt:lpstr>Prepare Dataset</vt:lpstr>
      <vt:lpstr>Load Model</vt:lpstr>
      <vt:lpstr>Configure Training</vt:lpstr>
      <vt:lpstr>Key Training Hyperparameters</vt:lpstr>
      <vt:lpstr>PowerPoint Presentation</vt:lpstr>
      <vt:lpstr>Questions &amp; Comments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844</cp:revision>
  <cp:lastPrinted>2025-05-18T13:30:56Z</cp:lastPrinted>
  <dcterms:created xsi:type="dcterms:W3CDTF">2025-04-08T12:26:15Z</dcterms:created>
  <dcterms:modified xsi:type="dcterms:W3CDTF">2026-01-05T14:28:07Z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