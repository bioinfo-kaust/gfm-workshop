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handoutMasterIdLst>
    <p:handoutMasterId r:id="rId14"/>
  </p:handoutMasterIdLst>
  <p:sldIdLst>
    <p:sldId id="258" r:id="rId5"/>
    <p:sldId id="355" r:id="rId6"/>
    <p:sldId id="356" r:id="rId7"/>
    <p:sldId id="357" r:id="rId8"/>
    <p:sldId id="358" r:id="rId9"/>
    <p:sldId id="359" r:id="rId10"/>
    <p:sldId id="361" r:id="rId11"/>
    <p:sldId id="36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193"/>
    <a:srgbClr val="F89500"/>
    <a:srgbClr val="FF00AF"/>
    <a:srgbClr val="C8E2C4"/>
    <a:srgbClr val="8C509A"/>
    <a:srgbClr val="E9CDFB"/>
    <a:srgbClr val="B7B8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113" autoAdjust="0"/>
    <p:restoredTop sz="80408" autoAdjust="0"/>
  </p:normalViewPr>
  <p:slideViewPr>
    <p:cSldViewPr snapToGrid="0">
      <p:cViewPr varScale="1">
        <p:scale>
          <a:sx n="102" d="100"/>
          <a:sy n="102" d="100"/>
        </p:scale>
        <p:origin x="824" y="168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5" d="100"/>
          <a:sy n="65" d="100"/>
        </p:scale>
        <p:origin x="2796" y="6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E08F2E-5F06-4CE2-A139-452A1382A6F0}" type="datetimeFigureOut">
              <a:rPr lang="en-US"/>
              <a:t>2/14/26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28588A-5C4E-401A-AECC-B6F63A9DE965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599797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4C5DC6-1594-414D-9341-ABA08739246C}" type="datetimeFigureOut">
              <a:rPr lang="en-US"/>
              <a:t>2/14/26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7542409-6A04-4DC6-AC3A-D3758287A8F2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5411505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7542409-6A04-4DC6-AC3A-D3758287A8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82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7542409-6A04-4DC6-AC3A-D3758287A8F2}" type="slidenum">
              <a:rPr lang="en-SA" smtClean="0"/>
              <a:t>4</a:t>
            </a:fld>
            <a:endParaRPr lang="en-SA"/>
          </a:p>
        </p:txBody>
      </p:sp>
    </p:spTree>
    <p:extLst>
      <p:ext uri="{BB962C8B-B14F-4D97-AF65-F5344CB8AC3E}">
        <p14:creationId xmlns:p14="http://schemas.microsoft.com/office/powerpoint/2010/main" val="28461685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1600200" y="0"/>
            <a:ext cx="5029200" cy="5943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Closeup of plant shoot" title="Slide Design Picture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460567" y="2057400"/>
            <a:ext cx="2060767" cy="38862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777" y="3019706"/>
            <a:ext cx="4846320" cy="2387600"/>
          </a:xfrm>
        </p:spPr>
        <p:txBody>
          <a:bodyPr anchor="b">
            <a:normAutofit/>
          </a:bodyPr>
          <a:lstStyle>
            <a:lvl1pPr algn="l">
              <a:lnSpc>
                <a:spcPct val="9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777" y="5381894"/>
            <a:ext cx="4846320" cy="448056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698731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5116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751777" y="2263913"/>
            <a:ext cx="7199696" cy="21883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777" y="2263913"/>
            <a:ext cx="6949440" cy="2188355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0851" y="4524522"/>
            <a:ext cx="7220622" cy="449523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89894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3768">
          <p15:clr>
            <a:srgbClr val="FDE53C"/>
          </p15:clr>
        </p15:guide>
        <p15:guide id="2" orient="horz" pos="1296">
          <p15:clr>
            <a:srgbClr val="FDE53C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09700" y="1556281"/>
            <a:ext cx="4610099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556281"/>
            <a:ext cx="4609775" cy="4620682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81687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09699" y="1554480"/>
            <a:ext cx="4608576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09699" y="2378392"/>
            <a:ext cx="4608576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554480"/>
            <a:ext cx="4610100" cy="823912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378392"/>
            <a:ext cx="4610100" cy="3811271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8271807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5877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07393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79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09699" y="915923"/>
            <a:ext cx="5216979" cy="5065776"/>
          </a:xfrm>
        </p:spPr>
        <p:txBody>
          <a:bodyPr/>
          <a:lstStyle>
            <a:lvl1pPr>
              <a:defRPr sz="22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79" y="3446396"/>
            <a:ext cx="4155622" cy="2535303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354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26680" y="919616"/>
            <a:ext cx="4155622" cy="2532888"/>
          </a:xfrm>
        </p:spPr>
        <p:txBody>
          <a:bodyPr anchor="b"/>
          <a:lstStyle>
            <a:lvl1pPr>
              <a:defRPr sz="32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915923"/>
            <a:ext cx="6626677" cy="5065776"/>
          </a:xfrm>
        </p:spPr>
        <p:txBody>
          <a:bodyPr tIns="1371600">
            <a:normAutofit/>
          </a:bodyPr>
          <a:lstStyle>
            <a:lvl1pPr marL="0" indent="0" algn="ctr">
              <a:spcBef>
                <a:spcPts val="0"/>
              </a:spcBef>
              <a:buNone/>
              <a:defRPr sz="2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626680" y="3446397"/>
            <a:ext cx="4155622" cy="2535304"/>
          </a:xfrm>
        </p:spPr>
        <p:txBody>
          <a:bodyPr>
            <a:normAutofit/>
          </a:bodyPr>
          <a:lstStyle>
            <a:lvl1pPr marL="0" indent="0">
              <a:spcBef>
                <a:spcPts val="9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16422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207092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190500"/>
            <a:ext cx="2057400" cy="5986463"/>
          </a:xfrm>
        </p:spPr>
        <p:txBody>
          <a:bodyPr vert="eaVert"/>
          <a:lstStyle/>
          <a:p>
            <a: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190500"/>
            <a:ext cx="7734300" cy="5986463"/>
          </a:xfrm>
        </p:spPr>
        <p:txBody>
          <a:bodyPr vert="eaVert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Footer text here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D8D479-8942-46E8-A226-A4E01F7A105C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021014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6629400"/>
            <a:ext cx="1499616" cy="228600"/>
          </a:xfrm>
          <a:prstGeom prst="rect">
            <a:avLst/>
          </a:prstGeom>
          <a:gradFill>
            <a:gsLst>
              <a:gs pos="0">
                <a:schemeClr val="accent1">
                  <a:lumMod val="15000"/>
                  <a:lumOff val="85000"/>
                </a:schemeClr>
              </a:gs>
              <a:gs pos="100000">
                <a:schemeClr val="accent1">
                  <a:lumMod val="15000"/>
                  <a:lumOff val="8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609344" y="6629400"/>
            <a:ext cx="10582656" cy="228600"/>
          </a:xfrm>
          <a:prstGeom prst="rect">
            <a:avLst/>
          </a:prstGeom>
          <a:gradFill>
            <a:gsLst>
              <a:gs pos="0">
                <a:schemeClr val="accent1">
                  <a:lumMod val="35000"/>
                  <a:lumOff val="65000"/>
                </a:schemeClr>
              </a:gs>
              <a:gs pos="100000">
                <a:schemeClr val="accent1">
                  <a:lumMod val="35000"/>
                  <a:lumOff val="6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10026" y="276087"/>
            <a:ext cx="9371949" cy="118356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10027" y="1566001"/>
            <a:ext cx="9371948" cy="46206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0" y="6629400"/>
            <a:ext cx="41040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fld id="{9CD8D479-8942-46E8-A226-A4E01F7A105C}" type="slidenum">
              <a:rPr/>
              <a:pPr/>
              <a:t>‹#›</a:t>
            </a:fld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31101" y="6629400"/>
            <a:ext cx="1000662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July 22, 2012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37716" y="6629400"/>
            <a:ext cx="9144259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dirty="0"/>
              <a:t>Footer text here</a:t>
            </a:r>
          </a:p>
        </p:txBody>
      </p:sp>
    </p:spTree>
    <p:extLst>
      <p:ext uri="{BB962C8B-B14F-4D97-AF65-F5344CB8AC3E}">
        <p14:creationId xmlns:p14="http://schemas.microsoft.com/office/powerpoint/2010/main" val="28660464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10312" indent="-210312" algn="l" defTabSz="91440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438912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76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05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1338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3624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5910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8196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048256" indent="-155448" algn="l" defTabSz="91440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bioinfo-kaust.github.io/gfm-workshop/setup.html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5E43459-5AD6-05A7-68C8-F3E8FBC3CB19}"/>
              </a:ext>
            </a:extLst>
          </p:cNvPr>
          <p:cNvSpPr/>
          <p:nvPr/>
        </p:nvSpPr>
        <p:spPr>
          <a:xfrm>
            <a:off x="6705600" y="2036618"/>
            <a:ext cx="5486400" cy="4031673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SA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64095" y="1664854"/>
            <a:ext cx="4846320" cy="2387600"/>
          </a:xfrm>
        </p:spPr>
        <p:txBody>
          <a:bodyPr>
            <a:normAutofit/>
          </a:bodyPr>
          <a:lstStyle/>
          <a:p>
            <a:r>
              <a:rPr lang="en-US" dirty="0"/>
              <a:t>Welcome to the GFM Workshop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64095" y="5001020"/>
            <a:ext cx="4846320" cy="590936"/>
          </a:xfrm>
        </p:spPr>
        <p:txBody>
          <a:bodyPr>
            <a:normAutofit/>
          </a:bodyPr>
          <a:lstStyle/>
          <a:p>
            <a:r>
              <a:rPr lang="en-US" dirty="0"/>
              <a:t>Ikram Ullah, Staff Scientist</a:t>
            </a:r>
          </a:p>
          <a:p>
            <a:r>
              <a:rPr lang="en-US" dirty="0"/>
              <a:t>KAUST Bioinformatics Platform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B258AC2-6818-6EFB-B085-929213EE11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0" y="1909794"/>
            <a:ext cx="2711359" cy="403167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6CDA2E77-8433-8039-37B0-94FB05392400}"/>
              </a:ext>
            </a:extLst>
          </p:cNvPr>
          <p:cNvSpPr txBox="1"/>
          <p:nvPr/>
        </p:nvSpPr>
        <p:spPr>
          <a:xfrm>
            <a:off x="933914" y="6347072"/>
            <a:ext cx="91244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Image taken from – Tang, Lin. "Large models for genomics." </a:t>
            </a:r>
            <a:r>
              <a:rPr lang="en-US" sz="12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Nature Methods</a:t>
            </a:r>
            <a:r>
              <a:rPr lang="en-US" sz="12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20.12 (2023): 1868-1868.</a:t>
            </a:r>
            <a:endParaRPr lang="en-SA" sz="1200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515659-E998-8B4C-0DAF-13976725D32F}"/>
              </a:ext>
            </a:extLst>
          </p:cNvPr>
          <p:cNvSpPr txBox="1">
            <a:spLocks/>
          </p:cNvSpPr>
          <p:nvPr/>
        </p:nvSpPr>
        <p:spPr>
          <a:xfrm>
            <a:off x="1664095" y="3925630"/>
            <a:ext cx="4846320" cy="5021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dirty="0"/>
              <a:t>From Sequences to Solutions</a:t>
            </a:r>
          </a:p>
        </p:txBody>
      </p:sp>
    </p:spTree>
    <p:extLst>
      <p:ext uri="{BB962C8B-B14F-4D97-AF65-F5344CB8AC3E}">
        <p14:creationId xmlns:p14="http://schemas.microsoft.com/office/powerpoint/2010/main" val="42615469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EE95C-C5B1-6FE9-FEA6-9B6F7DA0AF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Instructor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68494-D1E8-77C3-49F8-04EB3E9175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A" dirty="0"/>
              <a:t>Ikram Ullah (Staff Scientist)</a:t>
            </a:r>
          </a:p>
          <a:p>
            <a:r>
              <a:rPr lang="en-SA" dirty="0"/>
              <a:t>KAUST Bioinformatics Platform</a:t>
            </a:r>
          </a:p>
          <a:p>
            <a:pPr lvl="1"/>
            <a:r>
              <a:rPr lang="en-US" dirty="0"/>
              <a:t>Support</a:t>
            </a:r>
          </a:p>
          <a:p>
            <a:pPr lvl="1"/>
            <a:r>
              <a:rPr lang="en-US" dirty="0"/>
              <a:t>Services</a:t>
            </a:r>
          </a:p>
          <a:p>
            <a:pPr lvl="1"/>
            <a:r>
              <a:rPr lang="en-US" dirty="0"/>
              <a:t>Trainings</a:t>
            </a:r>
          </a:p>
          <a:p>
            <a:pPr lvl="1"/>
            <a:r>
              <a:rPr lang="en-US" dirty="0"/>
              <a:t>Research Collaboration</a:t>
            </a:r>
          </a:p>
          <a:p>
            <a:r>
              <a:rPr lang="en-US" dirty="0"/>
              <a:t>Research Interests</a:t>
            </a:r>
          </a:p>
          <a:p>
            <a:pPr lvl="1"/>
            <a:r>
              <a:rPr lang="en-US" dirty="0"/>
              <a:t>Molecular Evolution</a:t>
            </a:r>
          </a:p>
          <a:p>
            <a:pPr lvl="2"/>
            <a:r>
              <a:rPr lang="en-US" dirty="0"/>
              <a:t>Gene/species, Cancer</a:t>
            </a:r>
          </a:p>
          <a:p>
            <a:pPr lvl="1"/>
            <a:r>
              <a:rPr lang="en-US" dirty="0"/>
              <a:t>Variant Analysis</a:t>
            </a:r>
          </a:p>
          <a:p>
            <a:pPr lvl="2"/>
            <a:r>
              <a:rPr lang="en-US" dirty="0"/>
              <a:t>Pipeline development, Rare disease </a:t>
            </a:r>
          </a:p>
          <a:p>
            <a:pPr lvl="1"/>
            <a:r>
              <a:rPr lang="en-US" dirty="0"/>
              <a:t>Machine Learning </a:t>
            </a:r>
            <a:r>
              <a:rPr lang="en-US"/>
              <a:t>in Biosciences</a:t>
            </a:r>
            <a:endParaRPr lang="en-SA" dirty="0"/>
          </a:p>
          <a:p>
            <a:pPr lvl="1"/>
            <a:endParaRPr lang="en-SA" dirty="0"/>
          </a:p>
          <a:p>
            <a:pPr lvl="1"/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29097265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2C3A3-E86F-CCAC-9ADA-5D9CAC101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Participant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AE16E-E234-397C-AA76-F3378C050E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Name</a:t>
            </a:r>
          </a:p>
          <a:p>
            <a:r>
              <a:rPr lang="en-US" dirty="0"/>
              <a:t>Designation </a:t>
            </a:r>
          </a:p>
          <a:p>
            <a:pPr lvl="1"/>
            <a:r>
              <a:rPr lang="en-US" dirty="0"/>
              <a:t>PhD student, Postdoc, Faculty, Staff</a:t>
            </a:r>
          </a:p>
          <a:p>
            <a:r>
              <a:rPr lang="en-US" dirty="0"/>
              <a:t>Research</a:t>
            </a:r>
          </a:p>
          <a:p>
            <a:pPr lvl="1"/>
            <a:r>
              <a:rPr lang="en-US" dirty="0"/>
              <a:t>Topic and domain of research</a:t>
            </a:r>
          </a:p>
          <a:p>
            <a:pPr lvl="1"/>
            <a:r>
              <a:rPr lang="en-US" dirty="0"/>
              <a:t>What organisms/systems do you work with?</a:t>
            </a:r>
          </a:p>
          <a:p>
            <a:r>
              <a:rPr lang="en-US" dirty="0"/>
              <a:t>What brought you to this workshop?</a:t>
            </a:r>
          </a:p>
          <a:p>
            <a:pPr lvl="1"/>
            <a:r>
              <a:rPr lang="en-US" dirty="0"/>
              <a:t>Specific problem you want to solve?</a:t>
            </a:r>
          </a:p>
          <a:p>
            <a:pPr lvl="1"/>
            <a:r>
              <a:rPr lang="en-US" dirty="0"/>
              <a:t>Skills you want to learn?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19339538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A3D2A-7572-FAE6-20AB-6A7E889D9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A8439-DE96-6A3D-40BE-47BD02A34A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A" b="1" dirty="0"/>
              <a:t>What you need</a:t>
            </a:r>
            <a:r>
              <a:rPr lang="en-SA" dirty="0"/>
              <a:t>: A laptop and a Hugging Face API</a:t>
            </a:r>
          </a:p>
          <a:p>
            <a:r>
              <a:rPr lang="en-US" b="1" dirty="0"/>
              <a:t>GPU access on Ibex</a:t>
            </a:r>
            <a:r>
              <a:rPr lang="en-SA" dirty="0"/>
              <a:t>: </a:t>
            </a:r>
            <a:r>
              <a:rPr lang="en-US" dirty="0"/>
              <a:t>Each student is assigned priority GPU access by the Ibex team</a:t>
            </a:r>
            <a:endParaRPr lang="en-SA" dirty="0"/>
          </a:p>
          <a:p>
            <a:r>
              <a:rPr lang="en-SA" b="1" dirty="0"/>
              <a:t>Technical Setup</a:t>
            </a:r>
            <a:r>
              <a:rPr lang="en-SA" dirty="0"/>
              <a:t>: Check the </a:t>
            </a:r>
            <a:r>
              <a:rPr lang="en-SA" dirty="0">
                <a:hlinkClick r:id="rId3"/>
              </a:rPr>
              <a:t>setup page</a:t>
            </a:r>
            <a:endParaRPr lang="en-SA" dirty="0"/>
          </a:p>
          <a:p>
            <a:pPr lvl="1"/>
            <a:r>
              <a:rPr lang="en-SA" dirty="0"/>
              <a:t>Ibex login</a:t>
            </a:r>
          </a:p>
          <a:p>
            <a:pPr lvl="1"/>
            <a:r>
              <a:rPr lang="en-US" dirty="0"/>
              <a:t>C</a:t>
            </a:r>
            <a:r>
              <a:rPr lang="en-SA" dirty="0"/>
              <a:t>onda env setup</a:t>
            </a:r>
          </a:p>
          <a:p>
            <a:pPr lvl="1"/>
            <a:r>
              <a:rPr lang="en-SA" dirty="0"/>
              <a:t>Running Jupyter server</a:t>
            </a:r>
          </a:p>
          <a:p>
            <a:pPr lvl="1"/>
            <a:endParaRPr lang="en-SA" dirty="0"/>
          </a:p>
          <a:p>
            <a:r>
              <a:rPr lang="en-SA" dirty="0">
                <a:solidFill>
                  <a:schemeClr val="accent1">
                    <a:lumMod val="50000"/>
                  </a:schemeClr>
                </a:solidFill>
              </a:rPr>
              <a:t>The course contains scientific material from a mix of machine learning, </a:t>
            </a:r>
            <a:r>
              <a:rPr lang="en-SA">
                <a:solidFill>
                  <a:schemeClr val="accent1">
                    <a:lumMod val="50000"/>
                  </a:schemeClr>
                </a:solidFill>
              </a:rPr>
              <a:t>biology and technology</a:t>
            </a:r>
            <a:endParaRPr lang="en-SA" dirty="0">
              <a:solidFill>
                <a:schemeClr val="accent1">
                  <a:lumMod val="50000"/>
                </a:schemeClr>
              </a:solidFill>
            </a:endParaRPr>
          </a:p>
          <a:p>
            <a:pPr lvl="1"/>
            <a:r>
              <a:rPr lang="en-US" sz="2200" dirty="0">
                <a:solidFill>
                  <a:schemeClr val="accent1">
                    <a:lumMod val="50000"/>
                  </a:schemeClr>
                </a:solidFill>
              </a:rPr>
              <a:t>Errors and omissions excepted </a:t>
            </a:r>
            <a:endParaRPr lang="en-SA" sz="2200" dirty="0">
              <a:solidFill>
                <a:schemeClr val="accent1">
                  <a:lumMod val="50000"/>
                </a:schemeClr>
              </a:solidFill>
            </a:endParaRPr>
          </a:p>
          <a:p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15689089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ED99A-757B-5CF8-640C-15FFF59EF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Agenda: Day 1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2F24FA7B-2BB3-1D03-C9EC-F81D97FC06A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80634779"/>
              </p:ext>
            </p:extLst>
          </p:nvPr>
        </p:nvGraphicFramePr>
        <p:xfrm>
          <a:off x="1409700" y="1565275"/>
          <a:ext cx="9371949" cy="46351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3983">
                  <a:extLst>
                    <a:ext uri="{9D8B030D-6E8A-4147-A177-3AD203B41FA5}">
                      <a16:colId xmlns:a16="http://schemas.microsoft.com/office/drawing/2014/main" val="3802454782"/>
                    </a:ext>
                  </a:extLst>
                </a:gridCol>
                <a:gridCol w="3123983">
                  <a:extLst>
                    <a:ext uri="{9D8B030D-6E8A-4147-A177-3AD203B41FA5}">
                      <a16:colId xmlns:a16="http://schemas.microsoft.com/office/drawing/2014/main" val="3656652362"/>
                    </a:ext>
                  </a:extLst>
                </a:gridCol>
                <a:gridCol w="3123983">
                  <a:extLst>
                    <a:ext uri="{9D8B030D-6E8A-4147-A177-3AD203B41FA5}">
                      <a16:colId xmlns:a16="http://schemas.microsoft.com/office/drawing/2014/main" val="2187371196"/>
                    </a:ext>
                  </a:extLst>
                </a:gridCol>
              </a:tblGrid>
              <a:tr h="402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Time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Session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Type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3004861281"/>
                  </a:ext>
                </a:extLst>
              </a:tr>
              <a:tr h="5674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09:00 - 09:30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Introductions &amp; Overview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3557354651"/>
                  </a:ext>
                </a:extLst>
              </a:tr>
              <a:tr h="402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09:30 - 10:30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Introduction to GFM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2731038423"/>
                  </a:ext>
                </a:extLst>
              </a:tr>
              <a:tr h="402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10:30 - 10:45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Coffee 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4830591"/>
                  </a:ext>
                </a:extLst>
              </a:tr>
              <a:tr h="68129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10:45 - 12:00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DNA Encoding &amp; Tokenization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3376239022"/>
                  </a:ext>
                </a:extLst>
              </a:tr>
              <a:tr h="402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12:00 - 13:00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Lunch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4881671"/>
                  </a:ext>
                </a:extLst>
              </a:tr>
              <a:tr h="5674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13:00 - 14:00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HuggingFace Ecosystem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3087865169"/>
                  </a:ext>
                </a:extLst>
              </a:tr>
              <a:tr h="402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14:00 - 15:15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Embedding Extraction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2372978245"/>
                  </a:ext>
                </a:extLst>
              </a:tr>
              <a:tr h="402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15:15 - 15:30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Coffee Break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9434155"/>
                  </a:ext>
                </a:extLst>
              </a:tr>
              <a:tr h="4027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15:30 - 17:00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HuggingFace Lab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8722007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47407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64DEBE-3BCD-E599-C4D9-4FEEE039A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A" dirty="0"/>
              <a:t>Agenda: Day 2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B1EF767-6E95-3B76-02F2-8D8D3DAADE9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89160531"/>
              </p:ext>
            </p:extLst>
          </p:nvPr>
        </p:nvGraphicFramePr>
        <p:xfrm>
          <a:off x="1409700" y="1565275"/>
          <a:ext cx="9371949" cy="46273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3983">
                  <a:extLst>
                    <a:ext uri="{9D8B030D-6E8A-4147-A177-3AD203B41FA5}">
                      <a16:colId xmlns:a16="http://schemas.microsoft.com/office/drawing/2014/main" val="1872016556"/>
                    </a:ext>
                  </a:extLst>
                </a:gridCol>
                <a:gridCol w="3123983">
                  <a:extLst>
                    <a:ext uri="{9D8B030D-6E8A-4147-A177-3AD203B41FA5}">
                      <a16:colId xmlns:a16="http://schemas.microsoft.com/office/drawing/2014/main" val="3232900917"/>
                    </a:ext>
                  </a:extLst>
                </a:gridCol>
                <a:gridCol w="3123983">
                  <a:extLst>
                    <a:ext uri="{9D8B030D-6E8A-4147-A177-3AD203B41FA5}">
                      <a16:colId xmlns:a16="http://schemas.microsoft.com/office/drawing/2014/main" val="3846197720"/>
                    </a:ext>
                  </a:extLst>
                </a:gridCol>
              </a:tblGrid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Time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Session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Type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2383337615"/>
                  </a:ext>
                </a:extLst>
              </a:tr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09:00 - 10:00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Fine-tuning deep dive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3938761451"/>
                  </a:ext>
                </a:extLst>
              </a:tr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10:00 - 10:30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Coffee Break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351345"/>
                  </a:ext>
                </a:extLst>
              </a:tr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10:30 - 12:00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Fine tuning for Sequence Classification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1477727838"/>
                  </a:ext>
                </a:extLst>
              </a:tr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12:00 - 13:00</a:t>
                      </a:r>
                      <a:endParaRPr lang="en-SA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Lunch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2524245"/>
                  </a:ext>
                </a:extLst>
              </a:tr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13:00 - 14:00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PEFT/LoRA Fine-tuning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Hands-on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1358710585"/>
                  </a:ext>
                </a:extLst>
              </a:tr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14:00 - 14:30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Coffee Break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Break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1492175"/>
                  </a:ext>
                </a:extLst>
              </a:tr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14:30 - 15:30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Matching Models to Goals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Lecture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2624789864"/>
                  </a:ext>
                </a:extLst>
              </a:tr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15:30 - 16:30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Open Lab / Q&amp;A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Discussion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51671632"/>
                  </a:ext>
                </a:extLst>
              </a:tr>
              <a:tr h="44472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SA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16:30 - 17:00</a:t>
                      </a:r>
                      <a:endParaRPr lang="en-SA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Wrap-up &amp; Feedback</a:t>
                      </a:r>
                      <a:endParaRPr lang="en-US">
                        <a:effectLst/>
                      </a:endParaRPr>
                    </a:p>
                  </a:txBody>
                  <a:tcPr marL="38100" marR="38100" marT="38100" marB="38100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solidFill>
                            <a:srgbClr val="000000"/>
                          </a:solidFill>
                          <a:effectLst/>
                          <a:latin typeface="Helvetica Neue" panose="02000503000000020004" pitchFamily="2" charset="0"/>
                        </a:rPr>
                        <a:t>Discussion</a:t>
                      </a:r>
                      <a:endParaRPr lang="en-US" dirty="0">
                        <a:effectLst/>
                      </a:endParaRPr>
                    </a:p>
                  </a:txBody>
                  <a:tcPr marL="38100" marR="38100" marT="38100" marB="38100"/>
                </a:tc>
                <a:extLst>
                  <a:ext uri="{0D108BD9-81ED-4DB2-BD59-A6C34878D82A}">
                    <a16:rowId xmlns:a16="http://schemas.microsoft.com/office/drawing/2014/main" val="17858523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5843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B26D32E-92F0-7E22-0EC3-B90E2A026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Post-workshop feedback is highly appreciated</a:t>
            </a:r>
            <a:endParaRPr lang="en-SA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7EA68A-B1D6-1EF2-6010-7ADF7AFBD9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10026" y="1566000"/>
            <a:ext cx="7846707" cy="472206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At the end of the workshop, please share:</a:t>
            </a:r>
          </a:p>
          <a:p>
            <a:r>
              <a:rPr lang="en-US" dirty="0"/>
              <a:t>What worked</a:t>
            </a:r>
          </a:p>
          <a:p>
            <a:pPr lvl="1"/>
            <a:r>
              <a:rPr lang="en-US" dirty="0"/>
              <a:t>Which sessions were most valuable?</a:t>
            </a:r>
          </a:p>
          <a:p>
            <a:pPr lvl="1"/>
            <a:r>
              <a:rPr lang="en-US" dirty="0"/>
              <a:t>What concepts clicked?</a:t>
            </a:r>
          </a:p>
          <a:p>
            <a:r>
              <a:rPr lang="en-US" dirty="0"/>
              <a:t>What can be improved</a:t>
            </a:r>
          </a:p>
          <a:p>
            <a:pPr lvl="1"/>
            <a:r>
              <a:rPr lang="en-US" dirty="0"/>
              <a:t>Pace too fast/slow?</a:t>
            </a:r>
          </a:p>
          <a:p>
            <a:pPr lvl="1"/>
            <a:r>
              <a:rPr lang="en-US" dirty="0"/>
              <a:t>Difficulty level</a:t>
            </a:r>
          </a:p>
          <a:p>
            <a:r>
              <a:rPr lang="en-US" dirty="0"/>
              <a:t>Missing topics</a:t>
            </a:r>
          </a:p>
          <a:p>
            <a:r>
              <a:rPr lang="en-US" dirty="0"/>
              <a:t>Giving back to KAUST</a:t>
            </a:r>
          </a:p>
          <a:p>
            <a:pPr lvl="1"/>
            <a:r>
              <a:rPr lang="en-US" dirty="0"/>
              <a:t>Would you like to contribute in future offerings </a:t>
            </a:r>
          </a:p>
          <a:p>
            <a:pPr lvl="3"/>
            <a:endParaRPr lang="en-US" dirty="0"/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dirty="0"/>
              <a:t>This will help us tailor next offering of the workshop</a:t>
            </a:r>
            <a:endParaRPr lang="en-SA" dirty="0"/>
          </a:p>
        </p:txBody>
      </p:sp>
    </p:spTree>
    <p:extLst>
      <p:ext uri="{BB962C8B-B14F-4D97-AF65-F5344CB8AC3E}">
        <p14:creationId xmlns:p14="http://schemas.microsoft.com/office/powerpoint/2010/main" val="4149339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B1F5904-BF17-4593-16DB-67F0D3C107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1776" y="2263913"/>
            <a:ext cx="7354645" cy="2188355"/>
          </a:xfrm>
        </p:spPr>
        <p:txBody>
          <a:bodyPr anchor="ctr">
            <a:noAutofit/>
          </a:bodyPr>
          <a:lstStyle/>
          <a:p>
            <a:pPr algn="ctr"/>
            <a:r>
              <a:rPr lang="en-SA" sz="4800" dirty="0"/>
              <a:t>Any Questions?</a:t>
            </a:r>
          </a:p>
        </p:txBody>
      </p:sp>
    </p:spTree>
    <p:extLst>
      <p:ext uri="{BB962C8B-B14F-4D97-AF65-F5344CB8AC3E}">
        <p14:creationId xmlns:p14="http://schemas.microsoft.com/office/powerpoint/2010/main" val="514100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ustom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EC9E49B7-4EF5-484D-A5C3-E44E8A0091EA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Ecology">
      <a:dk1>
        <a:srgbClr val="4D3E2F"/>
      </a:dk1>
      <a:lt1>
        <a:sysClr val="window" lastClr="FFFFFF"/>
      </a:lt1>
      <a:dk2>
        <a:srgbClr val="000000"/>
      </a:dk2>
      <a:lt2>
        <a:srgbClr val="DDDDDD"/>
      </a:lt2>
      <a:accent1>
        <a:srgbClr val="8BAA00"/>
      </a:accent1>
      <a:accent2>
        <a:srgbClr val="2A6CB2"/>
      </a:accent2>
      <a:accent3>
        <a:srgbClr val="795837"/>
      </a:accent3>
      <a:accent4>
        <a:srgbClr val="D18316"/>
      </a:accent4>
      <a:accent5>
        <a:srgbClr val="79B4F0"/>
      </a:accent5>
      <a:accent6>
        <a:srgbClr val="CDC80F"/>
      </a:accent6>
      <a:hlink>
        <a:srgbClr val="2A6CB2"/>
      </a:hlink>
      <a:folHlink>
        <a:srgbClr val="808080"/>
      </a:folHlink>
    </a:clrScheme>
    <a:fontScheme name="Corbel">
      <a:maj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74F6EFD-5A76-4C77-A0A3-4BA9EAEE14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D18307F-863E-465D-9426-B14DA0CBD25E}">
  <ds:schemaRefs>
    <ds:schemaRef ds:uri="http://schemas.microsoft.com/sharepoint/v3"/>
    <ds:schemaRef ds:uri="16c05727-aa75-4e4a-9b5f-8a80a1165891"/>
    <ds:schemaRef ds:uri="http://schemas.microsoft.com/office/2006/metadata/properties"/>
    <ds:schemaRef ds:uri="http://www.w3.org/XML/1998/namespace"/>
    <ds:schemaRef ds:uri="230e9df3-be65-4c73-a93b-d1236ebd677e"/>
    <ds:schemaRef ds:uri="http://purl.org/dc/terms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71af3243-3dd4-4a8d-8c0d-dd76da1f02a5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78F2847D-96C7-4634-93AB-D232DDB6E5E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23602</TotalTime>
  <Words>390</Words>
  <Application>Microsoft Macintosh PowerPoint</Application>
  <PresentationFormat>Widescreen</PresentationFormat>
  <Paragraphs>117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Corbel</vt:lpstr>
      <vt:lpstr>Helvetica Neue</vt:lpstr>
      <vt:lpstr>Custom</vt:lpstr>
      <vt:lpstr>Welcome to the GFM Workshop</vt:lpstr>
      <vt:lpstr>Instructor Introduction</vt:lpstr>
      <vt:lpstr>Participant Introduction</vt:lpstr>
      <vt:lpstr>Logistics</vt:lpstr>
      <vt:lpstr>Agenda: Day 1</vt:lpstr>
      <vt:lpstr>Agenda: Day 2</vt:lpstr>
      <vt:lpstr>Post-workshop feedback is highly appreciated</vt:lpstr>
      <vt:lpstr>Any 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Ikram Ullah</cp:lastModifiedBy>
  <cp:revision>750</cp:revision>
  <cp:lastPrinted>2025-05-18T13:30:56Z</cp:lastPrinted>
  <dcterms:created xsi:type="dcterms:W3CDTF">2025-04-08T12:26:15Z</dcterms:created>
  <dcterms:modified xsi:type="dcterms:W3CDTF">2026-02-14T14:18:57Z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