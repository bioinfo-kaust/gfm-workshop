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8" r:id="rId5"/>
    <p:sldId id="355" r:id="rId6"/>
    <p:sldId id="356" r:id="rId7"/>
    <p:sldId id="357" r:id="rId8"/>
    <p:sldId id="358" r:id="rId9"/>
    <p:sldId id="359" r:id="rId10"/>
    <p:sldId id="361" r:id="rId11"/>
    <p:sldId id="3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F89500"/>
    <a:srgbClr val="FF00AF"/>
    <a:srgbClr val="C8E2C4"/>
    <a:srgbClr val="8C509A"/>
    <a:srgbClr val="E9CDFB"/>
    <a:srgbClr val="B7B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3" autoAdjust="0"/>
    <p:restoredTop sz="80408" autoAdjust="0"/>
  </p:normalViewPr>
  <p:slideViewPr>
    <p:cSldViewPr snapToGrid="0">
      <p:cViewPr varScale="1">
        <p:scale>
          <a:sx n="102" d="100"/>
          <a:sy n="102" d="100"/>
        </p:scale>
        <p:origin x="824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2/10/26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2/10/26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oseup of plant shoot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0567" y="2057400"/>
            <a:ext cx="2060767" cy="38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51777" y="2263913"/>
            <a:ext cx="7199696" cy="218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21883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0851" y="4524522"/>
            <a:ext cx="7220622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378392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8392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79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79" y="3446396"/>
            <a:ext cx="4155622" cy="2535303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80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80" y="3446397"/>
            <a:ext cx="4155622" cy="2535304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CD8D479-8942-46E8-A226-A4E01F7A105C}" type="slidenum">
              <a:rPr/>
              <a:p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101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ioinfo-kaust.github.io/gfm-workshop/setup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E43459-5AD6-05A7-68C8-F3E8FBC3CB19}"/>
              </a:ext>
            </a:extLst>
          </p:cNvPr>
          <p:cNvSpPr/>
          <p:nvPr/>
        </p:nvSpPr>
        <p:spPr>
          <a:xfrm>
            <a:off x="6705600" y="2036618"/>
            <a:ext cx="5486400" cy="4031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4095" y="1664854"/>
            <a:ext cx="4846320" cy="2387600"/>
          </a:xfrm>
        </p:spPr>
        <p:txBody>
          <a:bodyPr>
            <a:normAutofit/>
          </a:bodyPr>
          <a:lstStyle/>
          <a:p>
            <a:r>
              <a:rPr lang="en-US" dirty="0"/>
              <a:t>Welcome to the GFM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4095" y="5001020"/>
            <a:ext cx="4846320" cy="590936"/>
          </a:xfrm>
        </p:spPr>
        <p:txBody>
          <a:bodyPr>
            <a:normAutofit/>
          </a:bodyPr>
          <a:lstStyle/>
          <a:p>
            <a:r>
              <a:rPr lang="en-US" dirty="0"/>
              <a:t>Ikram Ullah, Staff Scientist</a:t>
            </a:r>
          </a:p>
          <a:p>
            <a:r>
              <a:rPr lang="en-US" dirty="0"/>
              <a:t>KAUST Bioinformatics Platform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58AC2-6818-6EFB-B085-929213EE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09794"/>
            <a:ext cx="2711359" cy="4031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DA2E77-8433-8039-37B0-94FB05392400}"/>
              </a:ext>
            </a:extLst>
          </p:cNvPr>
          <p:cNvSpPr txBox="1"/>
          <p:nvPr/>
        </p:nvSpPr>
        <p:spPr>
          <a:xfrm>
            <a:off x="933914" y="6347072"/>
            <a:ext cx="91244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 taken from – Tang, Lin. "Large models for genomics."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20.12 (2023): 1868-1868.</a:t>
            </a:r>
            <a:endParaRPr lang="en-SA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15659-E998-8B4C-0DAF-13976725D32F}"/>
              </a:ext>
            </a:extLst>
          </p:cNvPr>
          <p:cNvSpPr txBox="1">
            <a:spLocks/>
          </p:cNvSpPr>
          <p:nvPr/>
        </p:nvSpPr>
        <p:spPr>
          <a:xfrm>
            <a:off x="1664095" y="3925630"/>
            <a:ext cx="4846320" cy="5021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From Sequences to Solutions</a:t>
            </a:r>
          </a:p>
        </p:txBody>
      </p:sp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E95C-C5B1-6FE9-FEA6-9B6F7DA0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Instructor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8494-D1E8-77C3-49F8-04EB3E917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A" dirty="0"/>
              <a:t>Ikram Ullah (Staff Scientist)</a:t>
            </a:r>
          </a:p>
          <a:p>
            <a:r>
              <a:rPr lang="en-SA" dirty="0"/>
              <a:t>KAUST Bioinformatics Platform</a:t>
            </a:r>
          </a:p>
          <a:p>
            <a:pPr lvl="1"/>
            <a:r>
              <a:rPr lang="en-US" dirty="0"/>
              <a:t>Support</a:t>
            </a:r>
          </a:p>
          <a:p>
            <a:pPr lvl="1"/>
            <a:r>
              <a:rPr lang="en-US" dirty="0"/>
              <a:t>Services</a:t>
            </a:r>
          </a:p>
          <a:p>
            <a:pPr lvl="1"/>
            <a:r>
              <a:rPr lang="en-US" dirty="0"/>
              <a:t>Trainings</a:t>
            </a:r>
          </a:p>
          <a:p>
            <a:pPr lvl="1"/>
            <a:r>
              <a:rPr lang="en-US" dirty="0"/>
              <a:t>Research Collaboration</a:t>
            </a:r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Molecular Evolution</a:t>
            </a:r>
          </a:p>
          <a:p>
            <a:pPr lvl="2"/>
            <a:r>
              <a:rPr lang="en-US" dirty="0"/>
              <a:t>Gene/species, Cancer</a:t>
            </a:r>
          </a:p>
          <a:p>
            <a:pPr lvl="1"/>
            <a:r>
              <a:rPr lang="en-US" dirty="0"/>
              <a:t>Variant Analysis</a:t>
            </a:r>
          </a:p>
          <a:p>
            <a:pPr lvl="2"/>
            <a:r>
              <a:rPr lang="en-US" dirty="0"/>
              <a:t>Pipeline development, Rare disease </a:t>
            </a:r>
          </a:p>
          <a:p>
            <a:pPr lvl="1"/>
            <a:r>
              <a:rPr lang="en-US" dirty="0"/>
              <a:t>Machine Learning </a:t>
            </a:r>
            <a:r>
              <a:rPr lang="en-US"/>
              <a:t>in Biosciences</a:t>
            </a:r>
            <a:endParaRPr lang="en-SA" dirty="0"/>
          </a:p>
          <a:p>
            <a:pPr lvl="1"/>
            <a:endParaRPr lang="en-SA" dirty="0"/>
          </a:p>
          <a:p>
            <a:pPr lvl="1"/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90972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C3A3-E86F-CCAC-9ADA-5D9CAC10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Participant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AE16E-E234-397C-AA76-F3378C050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  <a:p>
            <a:r>
              <a:rPr lang="en-US" dirty="0"/>
              <a:t>Designation </a:t>
            </a:r>
          </a:p>
          <a:p>
            <a:pPr lvl="1"/>
            <a:r>
              <a:rPr lang="en-US" dirty="0"/>
              <a:t>PhD student, Postdoc, Faculty, Staff</a:t>
            </a:r>
          </a:p>
          <a:p>
            <a:r>
              <a:rPr lang="en-US" dirty="0"/>
              <a:t>Research</a:t>
            </a:r>
          </a:p>
          <a:p>
            <a:pPr lvl="1"/>
            <a:r>
              <a:rPr lang="en-US" dirty="0"/>
              <a:t>Topic and domain of research</a:t>
            </a:r>
          </a:p>
          <a:p>
            <a:pPr lvl="1"/>
            <a:r>
              <a:rPr lang="en-US" dirty="0"/>
              <a:t>What organisms/systems do you work with?</a:t>
            </a:r>
          </a:p>
          <a:p>
            <a:r>
              <a:rPr lang="en-US" dirty="0"/>
              <a:t>What brought you to this workshop?</a:t>
            </a:r>
          </a:p>
          <a:p>
            <a:pPr lvl="1"/>
            <a:r>
              <a:rPr lang="en-US" dirty="0"/>
              <a:t>Specific problem you want to solve?</a:t>
            </a:r>
          </a:p>
          <a:p>
            <a:pPr lvl="1"/>
            <a:r>
              <a:rPr lang="en-US" dirty="0"/>
              <a:t>Skills you want to learn?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93395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3D2A-7572-FAE6-20AB-6A7E889D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A8439-DE96-6A3D-40BE-47BD02A34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A" b="1" dirty="0"/>
              <a:t>What you need</a:t>
            </a:r>
            <a:r>
              <a:rPr lang="en-SA" dirty="0"/>
              <a:t>: A laptop and a Hugging Face API</a:t>
            </a:r>
          </a:p>
          <a:p>
            <a:r>
              <a:rPr lang="en-US" b="1" dirty="0"/>
              <a:t>GPU access on Ibex</a:t>
            </a:r>
            <a:r>
              <a:rPr lang="en-SA" dirty="0"/>
              <a:t>: </a:t>
            </a:r>
            <a:r>
              <a:rPr lang="en-US" dirty="0"/>
              <a:t>Each student is assigned priority GPU access by the Ibex team</a:t>
            </a:r>
            <a:endParaRPr lang="en-SA" dirty="0"/>
          </a:p>
          <a:p>
            <a:r>
              <a:rPr lang="en-SA" b="1" dirty="0"/>
              <a:t>Technical Setup</a:t>
            </a:r>
            <a:r>
              <a:rPr lang="en-SA" dirty="0"/>
              <a:t>: Check the </a:t>
            </a:r>
            <a:r>
              <a:rPr lang="en-SA" dirty="0">
                <a:hlinkClick r:id="rId2"/>
              </a:rPr>
              <a:t>setup page</a:t>
            </a:r>
            <a:endParaRPr lang="en-SA" dirty="0"/>
          </a:p>
          <a:p>
            <a:pPr lvl="1"/>
            <a:r>
              <a:rPr lang="en-SA" dirty="0"/>
              <a:t>Ibex login</a:t>
            </a:r>
          </a:p>
          <a:p>
            <a:pPr lvl="1"/>
            <a:r>
              <a:rPr lang="en-US" dirty="0"/>
              <a:t>C</a:t>
            </a:r>
            <a:r>
              <a:rPr lang="en-SA" dirty="0"/>
              <a:t>onda env setup</a:t>
            </a:r>
          </a:p>
          <a:p>
            <a:pPr lvl="1"/>
            <a:r>
              <a:rPr lang="en-SA" dirty="0"/>
              <a:t>Running Jupyter server</a:t>
            </a:r>
          </a:p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56890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D99A-757B-5CF8-640C-15FFF59E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Agenda: Day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24FA7B-2BB3-1D03-C9EC-F81D97FC06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634779"/>
              </p:ext>
            </p:extLst>
          </p:nvPr>
        </p:nvGraphicFramePr>
        <p:xfrm>
          <a:off x="1409700" y="1565275"/>
          <a:ext cx="9371949" cy="4635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983">
                  <a:extLst>
                    <a:ext uri="{9D8B030D-6E8A-4147-A177-3AD203B41FA5}">
                      <a16:colId xmlns:a16="http://schemas.microsoft.com/office/drawing/2014/main" val="3802454782"/>
                    </a:ext>
                  </a:extLst>
                </a:gridCol>
                <a:gridCol w="3123983">
                  <a:extLst>
                    <a:ext uri="{9D8B030D-6E8A-4147-A177-3AD203B41FA5}">
                      <a16:colId xmlns:a16="http://schemas.microsoft.com/office/drawing/2014/main" val="3656652362"/>
                    </a:ext>
                  </a:extLst>
                </a:gridCol>
                <a:gridCol w="3123983">
                  <a:extLst>
                    <a:ext uri="{9D8B030D-6E8A-4147-A177-3AD203B41FA5}">
                      <a16:colId xmlns:a16="http://schemas.microsoft.com/office/drawing/2014/main" val="2187371196"/>
                    </a:ext>
                  </a:extLst>
                </a:gridCol>
              </a:tblGrid>
              <a:tr h="40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Time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Session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Type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04861281"/>
                  </a:ext>
                </a:extLst>
              </a:tr>
              <a:tr h="56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09:00 - 09:30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Introductions &amp; Overview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Lecture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57354651"/>
                  </a:ext>
                </a:extLst>
              </a:tr>
              <a:tr h="40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09:30 - 10:30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Introduction to GFM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Lecture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731038423"/>
                  </a:ext>
                </a:extLst>
              </a:tr>
              <a:tr h="40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10:30 - 10:45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Coffee Break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Break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830591"/>
                  </a:ext>
                </a:extLst>
              </a:tr>
              <a:tr h="681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10:45 - 12:00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DNA Encoding &amp; Tokenization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Hands-on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76239022"/>
                  </a:ext>
                </a:extLst>
              </a:tr>
              <a:tr h="40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12:00 - 13:00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Lunch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Break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881671"/>
                  </a:ext>
                </a:extLst>
              </a:tr>
              <a:tr h="56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13:00 - 14:00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HuggingFace Ecosystem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Lecture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87865169"/>
                  </a:ext>
                </a:extLst>
              </a:tr>
              <a:tr h="40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14:00 - 15:15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Embedding Extraction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Hands-on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72978245"/>
                  </a:ext>
                </a:extLst>
              </a:tr>
              <a:tr h="40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15:15 - 15:30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Coffee Break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Break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34155"/>
                  </a:ext>
                </a:extLst>
              </a:tr>
              <a:tr h="40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15:30 - 17:00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HuggingFace Lab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Hands-on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872200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40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4DEBE-3BCD-E599-C4D9-4FEEE039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Agenda: Day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1EF767-6E95-3B76-02F2-8D8D3DAAD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160531"/>
              </p:ext>
            </p:extLst>
          </p:nvPr>
        </p:nvGraphicFramePr>
        <p:xfrm>
          <a:off x="1409700" y="1565275"/>
          <a:ext cx="9371949" cy="4627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983">
                  <a:extLst>
                    <a:ext uri="{9D8B030D-6E8A-4147-A177-3AD203B41FA5}">
                      <a16:colId xmlns:a16="http://schemas.microsoft.com/office/drawing/2014/main" val="1872016556"/>
                    </a:ext>
                  </a:extLst>
                </a:gridCol>
                <a:gridCol w="3123983">
                  <a:extLst>
                    <a:ext uri="{9D8B030D-6E8A-4147-A177-3AD203B41FA5}">
                      <a16:colId xmlns:a16="http://schemas.microsoft.com/office/drawing/2014/main" val="3232900917"/>
                    </a:ext>
                  </a:extLst>
                </a:gridCol>
                <a:gridCol w="3123983">
                  <a:extLst>
                    <a:ext uri="{9D8B030D-6E8A-4147-A177-3AD203B41FA5}">
                      <a16:colId xmlns:a16="http://schemas.microsoft.com/office/drawing/2014/main" val="3846197720"/>
                    </a:ext>
                  </a:extLst>
                </a:gridCol>
              </a:tblGrid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Time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Session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Type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83337615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09:00 - 10:00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Fine-tuning deep dive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Lecture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938761451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10:00 - 10:30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Coffee Break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Break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351345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10:30 - 12:00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 tuning for Sequence Classification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Hands-on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477727838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12:00 - 13:00</a:t>
                      </a:r>
                      <a:endParaRPr lang="en-SA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Lunch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Break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524245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13:00 - 14:00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PEFT/LoRA Fine-tuning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Hands-on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358710585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14:00 - 14:30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Coffee Break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Break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492175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14:30 - 15:30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Matching Models to Goals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Lecture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24789864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15:30 - 16:30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Open Lab / Q&amp;A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Discussion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51671632"/>
                  </a:ext>
                </a:extLst>
              </a:tr>
              <a:tr h="444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A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16:30 - 17:00</a:t>
                      </a:r>
                      <a:endParaRPr lang="en-SA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Wrap-up &amp; Feedback</a:t>
                      </a:r>
                      <a:endParaRPr lang="en-US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Discussion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785852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84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26D32E-92F0-7E22-0EC3-B90E2A02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Post-workshop feedback is highly appreciated</a:t>
            </a:r>
            <a:endParaRPr lang="en-S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7EA68A-B1D6-1EF2-6010-7ADF7AFBD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6" y="1566000"/>
            <a:ext cx="7846707" cy="4722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At the end of the workshop, please share:</a:t>
            </a:r>
          </a:p>
          <a:p>
            <a:r>
              <a:rPr lang="en-US" dirty="0"/>
              <a:t>What worked</a:t>
            </a:r>
          </a:p>
          <a:p>
            <a:pPr lvl="1"/>
            <a:r>
              <a:rPr lang="en-US" dirty="0"/>
              <a:t>Which sessions were most valuable?</a:t>
            </a:r>
          </a:p>
          <a:p>
            <a:pPr lvl="1"/>
            <a:r>
              <a:rPr lang="en-US" dirty="0"/>
              <a:t>What concepts clicked?</a:t>
            </a:r>
          </a:p>
          <a:p>
            <a:r>
              <a:rPr lang="en-US" dirty="0"/>
              <a:t>What can be improved</a:t>
            </a:r>
          </a:p>
          <a:p>
            <a:pPr lvl="1"/>
            <a:r>
              <a:rPr lang="en-US" dirty="0"/>
              <a:t>Pace too fast/slow?</a:t>
            </a:r>
          </a:p>
          <a:p>
            <a:pPr lvl="1"/>
            <a:r>
              <a:rPr lang="en-US" dirty="0"/>
              <a:t>Difficulty level</a:t>
            </a:r>
          </a:p>
          <a:p>
            <a:r>
              <a:rPr lang="en-US" dirty="0"/>
              <a:t>Missing topics</a:t>
            </a:r>
          </a:p>
          <a:p>
            <a:r>
              <a:rPr lang="en-US" dirty="0"/>
              <a:t>Giving back to KAUST</a:t>
            </a:r>
          </a:p>
          <a:p>
            <a:pPr lvl="1"/>
            <a:r>
              <a:rPr lang="en-US" dirty="0"/>
              <a:t>Would you like to contribute in future offerings </a:t>
            </a:r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This will help us tailor next offering of the workshop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414933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1F5904-BF17-4593-16DB-67F0D3C1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776" y="2263913"/>
            <a:ext cx="7354645" cy="2188355"/>
          </a:xfrm>
        </p:spPr>
        <p:txBody>
          <a:bodyPr anchor="ctr">
            <a:noAutofit/>
          </a:bodyPr>
          <a:lstStyle/>
          <a:p>
            <a:pPr algn="ctr"/>
            <a:r>
              <a:rPr lang="en-SA" sz="48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1410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EC9E49B7-4EF5-484D-A5C3-E44E8A0091E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F2847D-96C7-4634-93AB-D232DDB6E5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18307F-863E-465D-9426-B14DA0CBD25E}">
  <ds:schemaRefs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74F6EFD-5A76-4C77-A0A3-4BA9EAEE1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23597</TotalTime>
  <Words>370</Words>
  <Application>Microsoft Macintosh PowerPoint</Application>
  <PresentationFormat>Widescreen</PresentationFormat>
  <Paragraphs>113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Helvetica Neue</vt:lpstr>
      <vt:lpstr>Custom</vt:lpstr>
      <vt:lpstr>Welcome to the GFM Workshop</vt:lpstr>
      <vt:lpstr>Instructor Introduction</vt:lpstr>
      <vt:lpstr>Participant Introduction</vt:lpstr>
      <vt:lpstr>Logistics</vt:lpstr>
      <vt:lpstr>Agenda: Day 1</vt:lpstr>
      <vt:lpstr>Agenda: Day 2</vt:lpstr>
      <vt:lpstr>Post-workshop feedback is highly appreciated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Ikram Ullah</cp:lastModifiedBy>
  <cp:revision>745</cp:revision>
  <cp:lastPrinted>2025-05-18T13:30:56Z</cp:lastPrinted>
  <dcterms:created xsi:type="dcterms:W3CDTF">2025-04-08T12:26:15Z</dcterms:created>
  <dcterms:modified xsi:type="dcterms:W3CDTF">2026-02-10T09:40:13Z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