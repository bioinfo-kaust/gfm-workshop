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8" r:id="rId5"/>
    <p:sldId id="355" r:id="rId6"/>
    <p:sldId id="356" r:id="rId7"/>
    <p:sldId id="357" r:id="rId8"/>
    <p:sldId id="358" r:id="rId9"/>
    <p:sldId id="359" r:id="rId10"/>
    <p:sldId id="361" r:id="rId11"/>
    <p:sldId id="3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824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2/5/26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2/5/26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bioinfo-kaust.github.io/gfm-workshop/setup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64095" y="1664854"/>
            <a:ext cx="484632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Welcome to the Workshop on  Genomic Foundation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4095" y="5001020"/>
            <a:ext cx="4846320" cy="590936"/>
          </a:xfrm>
        </p:spPr>
        <p:txBody>
          <a:bodyPr>
            <a:normAutofit/>
          </a:bodyPr>
          <a:lstStyle/>
          <a:p>
            <a:r>
              <a:rPr lang="en-US" dirty="0"/>
              <a:t>Ikram Ullah, Staff Scientist</a:t>
            </a:r>
          </a:p>
          <a:p>
            <a:r>
              <a:rPr lang="en-US" dirty="0"/>
              <a:t>KAUST Bioinformatics Platform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15659-E998-8B4C-0DAF-13976725D32F}"/>
              </a:ext>
            </a:extLst>
          </p:cNvPr>
          <p:cNvSpPr txBox="1">
            <a:spLocks/>
          </p:cNvSpPr>
          <p:nvPr/>
        </p:nvSpPr>
        <p:spPr>
          <a:xfrm>
            <a:off x="1664095" y="3925630"/>
            <a:ext cx="4846320" cy="5021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From Sequences to Solutions</a:t>
            </a:r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EE95C-C5B1-6FE9-FEA6-9B6F7DA0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Instructor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68494-D1E8-77C3-49F8-04EB3E917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dirty="0"/>
              <a:t>Ikram Ullah (Staff Scientist)</a:t>
            </a:r>
          </a:p>
          <a:p>
            <a:r>
              <a:rPr lang="en-SA" dirty="0"/>
              <a:t>KAUST Bioinformatics Platform</a:t>
            </a:r>
          </a:p>
          <a:p>
            <a:pPr lvl="1"/>
            <a:r>
              <a:rPr lang="en-US" dirty="0"/>
              <a:t>Support</a:t>
            </a:r>
          </a:p>
          <a:p>
            <a:pPr lvl="1"/>
            <a:r>
              <a:rPr lang="en-US" dirty="0"/>
              <a:t>Services</a:t>
            </a:r>
          </a:p>
          <a:p>
            <a:pPr lvl="1"/>
            <a:r>
              <a:rPr lang="en-US" dirty="0"/>
              <a:t>Trainings</a:t>
            </a:r>
          </a:p>
          <a:p>
            <a:pPr lvl="1"/>
            <a:r>
              <a:rPr lang="en-US" dirty="0"/>
              <a:t>Research Collaboration</a:t>
            </a:r>
          </a:p>
          <a:p>
            <a:r>
              <a:rPr lang="en-US" dirty="0"/>
              <a:t>Research Interests</a:t>
            </a:r>
          </a:p>
          <a:p>
            <a:pPr lvl="1"/>
            <a:r>
              <a:rPr lang="en-US" dirty="0"/>
              <a:t>Molecular Evolution</a:t>
            </a:r>
          </a:p>
          <a:p>
            <a:pPr lvl="2"/>
            <a:r>
              <a:rPr lang="en-US" dirty="0"/>
              <a:t>Gene/species, Cancer</a:t>
            </a:r>
          </a:p>
          <a:p>
            <a:pPr lvl="1"/>
            <a:r>
              <a:rPr lang="en-US" dirty="0"/>
              <a:t>Variant Analysis</a:t>
            </a:r>
          </a:p>
          <a:p>
            <a:pPr lvl="2"/>
            <a:r>
              <a:rPr lang="en-US" dirty="0"/>
              <a:t>Pipeline development, Rare disease </a:t>
            </a:r>
          </a:p>
          <a:p>
            <a:pPr lvl="1"/>
            <a:r>
              <a:rPr lang="en-US" dirty="0"/>
              <a:t>Machine Learning </a:t>
            </a:r>
            <a:r>
              <a:rPr lang="en-US"/>
              <a:t>in Biosciences</a:t>
            </a:r>
            <a:endParaRPr lang="en-SA" dirty="0"/>
          </a:p>
          <a:p>
            <a:pPr lvl="1"/>
            <a:endParaRPr lang="en-SA" dirty="0"/>
          </a:p>
          <a:p>
            <a:pPr lvl="1"/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90972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C3A3-E86F-CCAC-9ADA-5D9CAC10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Participant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AE16E-E234-397C-AA76-F3378C050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</a:t>
            </a:r>
          </a:p>
          <a:p>
            <a:r>
              <a:rPr lang="en-US" dirty="0"/>
              <a:t>Designation </a:t>
            </a:r>
          </a:p>
          <a:p>
            <a:pPr lvl="1"/>
            <a:r>
              <a:rPr lang="en-US" dirty="0"/>
              <a:t>PhD student, Postdoc, Faculty, Staff</a:t>
            </a:r>
          </a:p>
          <a:p>
            <a:r>
              <a:rPr lang="en-US" dirty="0"/>
              <a:t>Research</a:t>
            </a:r>
          </a:p>
          <a:p>
            <a:pPr lvl="1"/>
            <a:r>
              <a:rPr lang="en-US" dirty="0"/>
              <a:t>Topic and domain of research</a:t>
            </a:r>
          </a:p>
          <a:p>
            <a:pPr lvl="1"/>
            <a:r>
              <a:rPr lang="en-US" dirty="0"/>
              <a:t>What organisms/systems do you work with?</a:t>
            </a:r>
          </a:p>
          <a:p>
            <a:r>
              <a:rPr lang="en-US" dirty="0"/>
              <a:t>What brought you to this workshop?</a:t>
            </a:r>
          </a:p>
          <a:p>
            <a:pPr lvl="1"/>
            <a:r>
              <a:rPr lang="en-US" dirty="0"/>
              <a:t>Specific problem you want to solve?</a:t>
            </a:r>
          </a:p>
          <a:p>
            <a:pPr lvl="1"/>
            <a:r>
              <a:rPr lang="en-US" dirty="0"/>
              <a:t>Skills you want to learn?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93395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3D2A-7572-FAE6-20AB-6A7E889D9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A8439-DE96-6A3D-40BE-47BD02A34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b="1" dirty="0"/>
              <a:t>What you need</a:t>
            </a:r>
            <a:r>
              <a:rPr lang="en-SA" dirty="0"/>
              <a:t>: A laptop and a Hugging Face API</a:t>
            </a:r>
          </a:p>
          <a:p>
            <a:r>
              <a:rPr lang="en-US" b="1" dirty="0"/>
              <a:t>GPU access on Ibex</a:t>
            </a:r>
            <a:r>
              <a:rPr lang="en-SA" dirty="0"/>
              <a:t>: </a:t>
            </a:r>
            <a:r>
              <a:rPr lang="en-US" dirty="0"/>
              <a:t>Each student is assigned priority GPU access by the Ibex team</a:t>
            </a:r>
            <a:endParaRPr lang="en-SA" dirty="0"/>
          </a:p>
          <a:p>
            <a:r>
              <a:rPr lang="en-SA" b="1" dirty="0"/>
              <a:t>Technical Setup</a:t>
            </a:r>
            <a:r>
              <a:rPr lang="en-SA" dirty="0"/>
              <a:t>: Check the </a:t>
            </a:r>
            <a:r>
              <a:rPr lang="en-SA" dirty="0">
                <a:hlinkClick r:id="rId2"/>
              </a:rPr>
              <a:t>setup page</a:t>
            </a:r>
            <a:endParaRPr lang="en-SA" dirty="0"/>
          </a:p>
          <a:p>
            <a:pPr lvl="1"/>
            <a:r>
              <a:rPr lang="en-SA" dirty="0"/>
              <a:t>Ibex login</a:t>
            </a:r>
          </a:p>
          <a:p>
            <a:pPr lvl="1"/>
            <a:r>
              <a:rPr lang="en-US" dirty="0"/>
              <a:t>C</a:t>
            </a:r>
            <a:r>
              <a:rPr lang="en-SA" dirty="0"/>
              <a:t>onda env setup</a:t>
            </a:r>
          </a:p>
          <a:p>
            <a:pPr lvl="1"/>
            <a:r>
              <a:rPr lang="en-SA" dirty="0"/>
              <a:t>Running Jupyter server</a:t>
            </a: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56890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D99A-757B-5CF8-640C-15FFF59E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24FA7B-2BB3-1D03-C9EC-F81D97FC06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0634779"/>
              </p:ext>
            </p:extLst>
          </p:nvPr>
        </p:nvGraphicFramePr>
        <p:xfrm>
          <a:off x="1409700" y="1565275"/>
          <a:ext cx="9371949" cy="46351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3983">
                  <a:extLst>
                    <a:ext uri="{9D8B030D-6E8A-4147-A177-3AD203B41FA5}">
                      <a16:colId xmlns:a16="http://schemas.microsoft.com/office/drawing/2014/main" val="3802454782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656652362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2187371196"/>
                    </a:ext>
                  </a:extLst>
                </a:gridCol>
              </a:tblGrid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004861281"/>
                  </a:ext>
                </a:extLst>
              </a:tr>
              <a:tr h="567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09:00 - 09:30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Introductions &amp; Overview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557354651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09:30 - 10:30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Introduction to GFM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731038423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10:30 - 10:45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830591"/>
                  </a:ext>
                </a:extLst>
              </a:tr>
              <a:tr h="681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10:45 - 12:00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DNA Encoding &amp; Tokenization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376239022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881671"/>
                  </a:ext>
                </a:extLst>
              </a:tr>
              <a:tr h="567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 Ecosystem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087865169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14:00 - 15:15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Embedding Extraction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372978245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15:15 - 15:30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34155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15:30 - 17:00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 Lab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872200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7407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4DEBE-3BCD-E599-C4D9-4FEEE039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1EF767-6E95-3B76-02F2-8D8D3DAADE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9160531"/>
              </p:ext>
            </p:extLst>
          </p:nvPr>
        </p:nvGraphicFramePr>
        <p:xfrm>
          <a:off x="1409700" y="1565275"/>
          <a:ext cx="9371949" cy="46273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3983">
                  <a:extLst>
                    <a:ext uri="{9D8B030D-6E8A-4147-A177-3AD203B41FA5}">
                      <a16:colId xmlns:a16="http://schemas.microsoft.com/office/drawing/2014/main" val="1872016556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232900917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846197720"/>
                    </a:ext>
                  </a:extLst>
                </a:gridCol>
              </a:tblGrid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38333761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09:00 - 10:00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Fine-tuning deep dive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938761451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10:00 - 10:30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35134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 tuning for Sequence Classification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477727838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52424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PEFT/LoRA Fine-tuning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35871058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14:00 - 14:30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49217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14:30 - 15:30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Matching Models to Goals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624789864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15:30 - 16:30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Open Lab / Q&amp;A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Discussion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51671632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16:30 - 17:00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Wrap-up &amp; Feedback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Discussion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785852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84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26D32E-92F0-7E22-0EC3-B90E2A02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Post-workshop feedback is highly appreciated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7EA68A-B1D6-1EF2-6010-7ADF7AFBD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6" y="1566000"/>
            <a:ext cx="7846707" cy="47220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At the end of the workshop, please share:</a:t>
            </a:r>
          </a:p>
          <a:p>
            <a:r>
              <a:rPr lang="en-US" dirty="0"/>
              <a:t>What worked</a:t>
            </a:r>
          </a:p>
          <a:p>
            <a:pPr lvl="1"/>
            <a:r>
              <a:rPr lang="en-US" dirty="0"/>
              <a:t>Which sessions were most valuable?</a:t>
            </a:r>
          </a:p>
          <a:p>
            <a:pPr lvl="1"/>
            <a:r>
              <a:rPr lang="en-US" dirty="0"/>
              <a:t>What concepts clicked?</a:t>
            </a:r>
          </a:p>
          <a:p>
            <a:r>
              <a:rPr lang="en-US" dirty="0"/>
              <a:t>What can be improved</a:t>
            </a:r>
          </a:p>
          <a:p>
            <a:pPr lvl="1"/>
            <a:r>
              <a:rPr lang="en-US" dirty="0"/>
              <a:t>Pace too fast/slow?</a:t>
            </a:r>
          </a:p>
          <a:p>
            <a:pPr lvl="1"/>
            <a:r>
              <a:rPr lang="en-US" dirty="0"/>
              <a:t>Difficulty level</a:t>
            </a:r>
          </a:p>
          <a:p>
            <a:r>
              <a:rPr lang="en-US" dirty="0"/>
              <a:t>Missing topics</a:t>
            </a:r>
          </a:p>
          <a:p>
            <a:r>
              <a:rPr lang="en-US" dirty="0"/>
              <a:t>Giving back to KAUST</a:t>
            </a:r>
          </a:p>
          <a:p>
            <a:pPr lvl="1"/>
            <a:r>
              <a:rPr lang="en-US" dirty="0"/>
              <a:t>Would you like to contribute in future offerings </a:t>
            </a:r>
          </a:p>
          <a:p>
            <a:pPr lvl="3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This will help us tailor next offering of the workshop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49339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1F5904-BF17-4593-16DB-67F0D3C10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776" y="2263913"/>
            <a:ext cx="7354645" cy="2188355"/>
          </a:xfrm>
        </p:spPr>
        <p:txBody>
          <a:bodyPr anchor="ctr">
            <a:noAutofit/>
          </a:bodyPr>
          <a:lstStyle/>
          <a:p>
            <a:pPr algn="ctr"/>
            <a:r>
              <a:rPr lang="en-SA" sz="4800" dirty="0"/>
              <a:t>Any Question on the organization of workshop</a:t>
            </a:r>
          </a:p>
        </p:txBody>
      </p:sp>
    </p:spTree>
    <p:extLst>
      <p:ext uri="{BB962C8B-B14F-4D97-AF65-F5344CB8AC3E}">
        <p14:creationId xmlns:p14="http://schemas.microsoft.com/office/powerpoint/2010/main" val="514100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23582</TotalTime>
  <Words>377</Words>
  <Application>Microsoft Macintosh PowerPoint</Application>
  <PresentationFormat>Widescreen</PresentationFormat>
  <Paragraphs>113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Corbel</vt:lpstr>
      <vt:lpstr>Helvetica Neue</vt:lpstr>
      <vt:lpstr>Custom</vt:lpstr>
      <vt:lpstr>Welcome to the Workshop on  Genomic Foundation Models</vt:lpstr>
      <vt:lpstr>Instructor Introduction</vt:lpstr>
      <vt:lpstr>Participant Introduction</vt:lpstr>
      <vt:lpstr>Logistics</vt:lpstr>
      <vt:lpstr>Agenda: Day 1</vt:lpstr>
      <vt:lpstr>Agenda: Day 2</vt:lpstr>
      <vt:lpstr>Post-workshop feedback is highly appreciated</vt:lpstr>
      <vt:lpstr>Any Question on the organization of workshop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743</cp:revision>
  <cp:lastPrinted>2025-05-18T13:30:56Z</cp:lastPrinted>
  <dcterms:created xsi:type="dcterms:W3CDTF">2025-04-08T12:26:15Z</dcterms:created>
  <dcterms:modified xsi:type="dcterms:W3CDTF">2026-02-05T14:10:21Z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