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8" r:id="rId5"/>
    <p:sldId id="355" r:id="rId6"/>
    <p:sldId id="356" r:id="rId7"/>
    <p:sldId id="357" r:id="rId8"/>
    <p:sldId id="358" r:id="rId9"/>
    <p:sldId id="359" r:id="rId10"/>
    <p:sldId id="361" r:id="rId11"/>
    <p:sldId id="3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24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846168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ettings/token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ioinfo-kaust.github.io/gfm-workshop/setup.html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4095" y="1664854"/>
            <a:ext cx="4846320" cy="2387600"/>
          </a:xfrm>
        </p:spPr>
        <p:txBody>
          <a:bodyPr>
            <a:normAutofit/>
          </a:bodyPr>
          <a:lstStyle/>
          <a:p>
            <a:r>
              <a:rPr lang="en-US" dirty="0"/>
              <a:t>Welcome to the GFM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095" y="5001020"/>
            <a:ext cx="4846320" cy="590936"/>
          </a:xfrm>
        </p:spPr>
        <p:txBody>
          <a:bodyPr>
            <a:normAutofit/>
          </a:bodyPr>
          <a:lstStyle/>
          <a:p>
            <a:r>
              <a:rPr lang="en-US" dirty="0"/>
              <a:t>Ikram Ullah, Staff Scientist</a:t>
            </a:r>
          </a:p>
          <a:p>
            <a:r>
              <a:rPr lang="en-US" dirty="0"/>
              <a:t>KAUST Bioinformatics Platform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15659-E998-8B4C-0DAF-13976725D32F}"/>
              </a:ext>
            </a:extLst>
          </p:cNvPr>
          <p:cNvSpPr txBox="1">
            <a:spLocks/>
          </p:cNvSpPr>
          <p:nvPr/>
        </p:nvSpPr>
        <p:spPr>
          <a:xfrm>
            <a:off x="1664095" y="3925630"/>
            <a:ext cx="4846320" cy="5021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From Sequences to Solutions</a:t>
            </a:r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E95C-C5B1-6FE9-FEA6-9B6F7DA0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Instructor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68494-D1E8-77C3-49F8-04EB3E917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Ikram Ullah (Staff Scientist)</a:t>
            </a:r>
          </a:p>
          <a:p>
            <a:r>
              <a:rPr lang="en-SA" dirty="0"/>
              <a:t>Member of KAUST Bioinformatics Platform</a:t>
            </a:r>
          </a:p>
          <a:p>
            <a:pPr lvl="1"/>
            <a:r>
              <a:rPr lang="en-US" dirty="0"/>
              <a:t>Stakeholders Support: BCL, Biomedical Platform</a:t>
            </a:r>
          </a:p>
          <a:p>
            <a:pPr lvl="1"/>
            <a:r>
              <a:rPr lang="en-US" dirty="0"/>
              <a:t>Bioinformatics Workflows Setup</a:t>
            </a:r>
          </a:p>
          <a:p>
            <a:pPr lvl="1"/>
            <a:r>
              <a:rPr lang="en-US" dirty="0"/>
              <a:t>Training Workshops</a:t>
            </a:r>
          </a:p>
          <a:p>
            <a:pPr lvl="1"/>
            <a:r>
              <a:rPr lang="en-US" dirty="0"/>
              <a:t>Research Collaboration &amp; Consultations</a:t>
            </a:r>
          </a:p>
          <a:p>
            <a:r>
              <a:rPr lang="en-US" dirty="0"/>
              <a:t>Research Interests</a:t>
            </a:r>
          </a:p>
          <a:p>
            <a:pPr lvl="1"/>
            <a:r>
              <a:rPr lang="en-US" dirty="0"/>
              <a:t>Molecular Evolution</a:t>
            </a:r>
          </a:p>
          <a:p>
            <a:pPr lvl="2"/>
            <a:r>
              <a:rPr lang="en-US" sz="1800" dirty="0"/>
              <a:t>Gene/species, Cancer</a:t>
            </a:r>
          </a:p>
          <a:p>
            <a:pPr lvl="1"/>
            <a:r>
              <a:rPr lang="en-US" dirty="0"/>
              <a:t>Variant Analysis</a:t>
            </a:r>
          </a:p>
          <a:p>
            <a:pPr lvl="2"/>
            <a:r>
              <a:rPr lang="en-US" sz="1800" dirty="0"/>
              <a:t>Pipeline development, Rare disease </a:t>
            </a:r>
          </a:p>
          <a:p>
            <a:pPr lvl="1"/>
            <a:r>
              <a:rPr lang="en-US" dirty="0"/>
              <a:t>Machine Learning in Biosciences</a:t>
            </a:r>
            <a:endParaRPr lang="en-SA" dirty="0"/>
          </a:p>
          <a:p>
            <a:pPr lvl="1"/>
            <a:endParaRPr lang="en-SA" dirty="0"/>
          </a:p>
          <a:p>
            <a:pPr lvl="1"/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90972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C3A3-E86F-CCAC-9ADA-5D9CAC10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Participant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AE16E-E234-397C-AA76-F3378C050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</a:t>
            </a:r>
          </a:p>
          <a:p>
            <a:r>
              <a:rPr lang="en-US" dirty="0"/>
              <a:t>Designation </a:t>
            </a:r>
          </a:p>
          <a:p>
            <a:pPr lvl="1"/>
            <a:r>
              <a:rPr lang="en-US" dirty="0"/>
              <a:t>PhD student, Postdoc, Staff</a:t>
            </a:r>
          </a:p>
          <a:p>
            <a:r>
              <a:rPr lang="en-US" dirty="0"/>
              <a:t>Research</a:t>
            </a:r>
          </a:p>
          <a:p>
            <a:pPr lvl="1"/>
            <a:r>
              <a:rPr lang="en-US" dirty="0"/>
              <a:t>Topic and domain of research</a:t>
            </a:r>
          </a:p>
          <a:p>
            <a:pPr lvl="1"/>
            <a:r>
              <a:rPr lang="en-US" dirty="0"/>
              <a:t>What organisms/systems do you work with?</a:t>
            </a:r>
          </a:p>
          <a:p>
            <a:r>
              <a:rPr lang="en-US" dirty="0"/>
              <a:t>What brought you to this workshop?</a:t>
            </a:r>
          </a:p>
          <a:p>
            <a:pPr lvl="1"/>
            <a:r>
              <a:rPr lang="en-US" dirty="0"/>
              <a:t>Specific problem you want to solve?</a:t>
            </a:r>
          </a:p>
          <a:p>
            <a:pPr lvl="1"/>
            <a:r>
              <a:rPr lang="en-US" dirty="0"/>
              <a:t>Skills you want to learn?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93395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3D2A-7572-FAE6-20AB-6A7E889D9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8439-DE96-6A3D-40BE-47BD02A34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b="1" dirty="0"/>
              <a:t>What you need</a:t>
            </a:r>
            <a:r>
              <a:rPr lang="en-SA" dirty="0"/>
              <a:t>: A laptop and a </a:t>
            </a:r>
            <a:r>
              <a:rPr lang="en-SA" dirty="0">
                <a:hlinkClick r:id="rId3"/>
              </a:rPr>
              <a:t>Hugging Face access token</a:t>
            </a:r>
            <a:endParaRPr lang="en-SA" dirty="0"/>
          </a:p>
          <a:p>
            <a:r>
              <a:rPr lang="en-US" b="1" dirty="0"/>
              <a:t>GPU access on Ibex</a:t>
            </a:r>
            <a:r>
              <a:rPr lang="en-SA" dirty="0"/>
              <a:t>: </a:t>
            </a:r>
            <a:r>
              <a:rPr lang="en-US" dirty="0"/>
              <a:t>Each student is assigned priority V100 GPU access by the Ibex team</a:t>
            </a:r>
            <a:endParaRPr lang="en-SA" dirty="0"/>
          </a:p>
          <a:p>
            <a:r>
              <a:rPr lang="en-SA" b="1" dirty="0"/>
              <a:t>Technical Setup</a:t>
            </a:r>
            <a:r>
              <a:rPr lang="en-SA" dirty="0"/>
              <a:t>: Check the </a:t>
            </a:r>
            <a:r>
              <a:rPr lang="en-SA" dirty="0">
                <a:hlinkClick r:id="rId4"/>
              </a:rPr>
              <a:t>setup page</a:t>
            </a:r>
            <a:endParaRPr lang="en-SA" dirty="0"/>
          </a:p>
          <a:p>
            <a:pPr lvl="1"/>
            <a:r>
              <a:rPr lang="en-SA" dirty="0"/>
              <a:t>Ibex login</a:t>
            </a:r>
          </a:p>
          <a:p>
            <a:pPr lvl="1"/>
            <a:r>
              <a:rPr lang="en-US" dirty="0"/>
              <a:t>C</a:t>
            </a:r>
            <a:r>
              <a:rPr lang="en-SA" dirty="0"/>
              <a:t>onda env setup</a:t>
            </a:r>
          </a:p>
          <a:p>
            <a:pPr lvl="1"/>
            <a:r>
              <a:rPr lang="en-SA" dirty="0"/>
              <a:t>Running Jupyter server</a:t>
            </a:r>
          </a:p>
          <a:p>
            <a:pPr lvl="1"/>
            <a:endParaRPr lang="en-SA" dirty="0"/>
          </a:p>
          <a:p>
            <a:r>
              <a:rPr lang="en-SA" dirty="0"/>
              <a:t>The course contains scientific material from a mix of machine learning, biology and technology</a:t>
            </a:r>
          </a:p>
          <a:p>
            <a:pPr lvl="1"/>
            <a:r>
              <a:rPr lang="en-US" sz="2200" dirty="0">
                <a:solidFill>
                  <a:schemeClr val="accent1">
                    <a:lumMod val="50000"/>
                  </a:schemeClr>
                </a:solidFill>
              </a:rPr>
              <a:t>Errors and omissions excepted </a:t>
            </a:r>
            <a:endParaRPr lang="en-SA" sz="2200" dirty="0">
              <a:solidFill>
                <a:schemeClr val="accent1">
                  <a:lumMod val="50000"/>
                </a:schemeClr>
              </a:solidFill>
            </a:endParaRP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6890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D99A-757B-5CF8-640C-15FFF59E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24FA7B-2BB3-1D03-C9EC-F81D97FC06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1569903"/>
              </p:ext>
            </p:extLst>
          </p:nvPr>
        </p:nvGraphicFramePr>
        <p:xfrm>
          <a:off x="1409700" y="1565275"/>
          <a:ext cx="9867900" cy="484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>
                  <a:extLst>
                    <a:ext uri="{9D8B030D-6E8A-4147-A177-3AD203B41FA5}">
                      <a16:colId xmlns:a16="http://schemas.microsoft.com/office/drawing/2014/main" val="3802454782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3656652362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2187371196"/>
                    </a:ext>
                  </a:extLst>
                </a:gridCol>
              </a:tblGrid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04861281"/>
                  </a:ext>
                </a:extLst>
              </a:tr>
              <a:tr h="546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09:10 - 09:25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Welcome &amp; Introduction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557354651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09:30 - 10:15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 to GFM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038423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10:15 - 10:30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830591"/>
                  </a:ext>
                </a:extLst>
              </a:tr>
              <a:tr h="655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10:30 - 11:30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GFM Architecture &amp; Components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239022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11:30 - 12:00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Exploring GFM components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987362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881671"/>
                  </a:ext>
                </a:extLst>
              </a:tr>
              <a:tr h="546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 Face Ecosystem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865169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</a:t>
                      </a: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Inference API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978245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4155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15:15 - 16:00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PyTorch</a:t>
                      </a: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for GFM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200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40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4DEBE-3BCD-E599-C4D9-4FEEE039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1EF767-6E95-3B76-02F2-8D8D3DAADE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819690"/>
              </p:ext>
            </p:extLst>
          </p:nvPr>
        </p:nvGraphicFramePr>
        <p:xfrm>
          <a:off x="1409700" y="1565274"/>
          <a:ext cx="9371949" cy="4835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1872016556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232900917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846197720"/>
                    </a:ext>
                  </a:extLst>
                </a:gridCol>
              </a:tblGrid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83337615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09:00 - 10:15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 GFMs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761451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10:15 - 10:30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35134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 tuning for Sequence Classification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727838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2424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Solving biological problems using GFMs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71058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K562 H3K27ac Enhancer Classification Pipeline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492175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624789864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15:15 - 16:00</a:t>
                      </a:r>
                      <a:endParaRPr lang="en-SA" dirty="0">
                        <a:effectLst/>
                      </a:endParaRPr>
                    </a:p>
                    <a:p>
                      <a:pPr>
                        <a:buNone/>
                      </a:pP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K562 H3K27ac Enhancer Regression Pipeline</a:t>
                      </a: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793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84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26D32E-92F0-7E22-0EC3-B90E2A02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Post-Workshop Feedback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7EA68A-B1D6-1EF2-6010-7ADF7AFBD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6" y="1566000"/>
            <a:ext cx="7846707" cy="47220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At the end of the workshop, please share:</a:t>
            </a:r>
          </a:p>
          <a:p>
            <a:r>
              <a:rPr lang="en-US" dirty="0"/>
              <a:t>What worked</a:t>
            </a:r>
          </a:p>
          <a:p>
            <a:pPr lvl="1"/>
            <a:r>
              <a:rPr lang="en-US" dirty="0"/>
              <a:t>Which sessions were most valuable?</a:t>
            </a:r>
          </a:p>
          <a:p>
            <a:pPr lvl="1"/>
            <a:r>
              <a:rPr lang="en-US" dirty="0"/>
              <a:t>What concepts clicked?</a:t>
            </a:r>
          </a:p>
          <a:p>
            <a:r>
              <a:rPr lang="en-US" dirty="0"/>
              <a:t>What can be improved</a:t>
            </a:r>
          </a:p>
          <a:p>
            <a:pPr lvl="1"/>
            <a:r>
              <a:rPr lang="en-US" dirty="0"/>
              <a:t>Pace/Length of Workshop </a:t>
            </a:r>
          </a:p>
          <a:p>
            <a:pPr lvl="1"/>
            <a:r>
              <a:rPr lang="en-US" dirty="0"/>
              <a:t>Difficulty level</a:t>
            </a:r>
          </a:p>
          <a:p>
            <a:r>
              <a:rPr lang="en-US" dirty="0"/>
              <a:t>Missing topics</a:t>
            </a:r>
          </a:p>
          <a:p>
            <a:r>
              <a:rPr lang="en-US" dirty="0"/>
              <a:t>Giving back to KAUST</a:t>
            </a:r>
          </a:p>
          <a:p>
            <a:pPr lvl="1"/>
            <a:r>
              <a:rPr lang="en-US" dirty="0"/>
              <a:t>Can you contribute t0 future offerings </a:t>
            </a:r>
          </a:p>
          <a:p>
            <a:pPr lvl="3"/>
            <a:r>
              <a:rPr lang="en-US" dirty="0"/>
              <a:t>Lecture or Hands-on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This will help us tailor next offering of the workshop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49339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1F5904-BF17-4593-16DB-67F0D3C1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776" y="2263913"/>
            <a:ext cx="7354645" cy="2188355"/>
          </a:xfrm>
        </p:spPr>
        <p:txBody>
          <a:bodyPr anchor="ctr">
            <a:noAutofit/>
          </a:bodyPr>
          <a:lstStyle/>
          <a:p>
            <a:pPr algn="ctr"/>
            <a:r>
              <a:rPr lang="en-SA" sz="4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514100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23632</TotalTime>
  <Words>402</Words>
  <Application>Microsoft Macintosh PowerPoint</Application>
  <PresentationFormat>Widescreen</PresentationFormat>
  <Paragraphs>116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Corbel</vt:lpstr>
      <vt:lpstr>Helvetica Neue</vt:lpstr>
      <vt:lpstr>Custom</vt:lpstr>
      <vt:lpstr>Welcome to the GFM Workshop</vt:lpstr>
      <vt:lpstr>Instructor Introduction</vt:lpstr>
      <vt:lpstr>Participant Introduction</vt:lpstr>
      <vt:lpstr>Logistics</vt:lpstr>
      <vt:lpstr>Agenda: Day 1</vt:lpstr>
      <vt:lpstr>Agenda: Day 2</vt:lpstr>
      <vt:lpstr>Post-Workshop Feedback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787</cp:revision>
  <cp:lastPrinted>2025-05-18T13:30:56Z</cp:lastPrinted>
  <dcterms:created xsi:type="dcterms:W3CDTF">2025-04-08T12:26:15Z</dcterms:created>
  <dcterms:modified xsi:type="dcterms:W3CDTF">2026-02-14T20:25:12Z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