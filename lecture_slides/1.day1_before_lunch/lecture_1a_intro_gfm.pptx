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8" r:id="rId5"/>
    <p:sldId id="275" r:id="rId6"/>
    <p:sldId id="354" r:id="rId7"/>
    <p:sldId id="333" r:id="rId8"/>
    <p:sldId id="353" r:id="rId9"/>
    <p:sldId id="335" r:id="rId10"/>
    <p:sldId id="334" r:id="rId11"/>
    <p:sldId id="352" r:id="rId12"/>
    <p:sldId id="346" r:id="rId13"/>
    <p:sldId id="347" r:id="rId14"/>
    <p:sldId id="348" r:id="rId15"/>
    <p:sldId id="349" r:id="rId16"/>
    <p:sldId id="350" r:id="rId17"/>
    <p:sldId id="351" r:id="rId18"/>
    <p:sldId id="327" r:id="rId19"/>
    <p:sldId id="336" r:id="rId20"/>
    <p:sldId id="326" r:id="rId21"/>
    <p:sldId id="337" r:id="rId22"/>
    <p:sldId id="321" r:id="rId23"/>
    <p:sldId id="318" r:id="rId24"/>
    <p:sldId id="32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F89500"/>
    <a:srgbClr val="FF00AF"/>
    <a:srgbClr val="C8E2C4"/>
    <a:srgbClr val="8C509A"/>
    <a:srgbClr val="E9CDFB"/>
    <a:srgbClr val="B7B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29" autoAdjust="0"/>
    <p:restoredTop sz="80408" autoAdjust="0"/>
  </p:normalViewPr>
  <p:slideViewPr>
    <p:cSldViewPr snapToGrid="0">
      <p:cViewPr varScale="1">
        <p:scale>
          <a:sx n="102" d="100"/>
          <a:sy n="102" d="100"/>
        </p:scale>
        <p:origin x="824" y="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3B0163-60F8-C24D-99D7-D67DB2B889E1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1EB303-A78D-D042-82F4-A6D434129146}">
      <dgm:prSet phldrT="[Text]"/>
      <dgm:spPr/>
      <dgm:t>
        <a:bodyPr/>
        <a:lstStyle/>
        <a:p>
          <a:r>
            <a:rPr lang="en-US" dirty="0"/>
            <a:t>What is a Genomic Foundation Model</a:t>
          </a:r>
        </a:p>
      </dgm:t>
    </dgm:pt>
    <dgm:pt modelId="{F5FF1A83-EF2A-5544-9372-2E23423BF0FB}" type="parTrans" cxnId="{C2902813-02A1-034A-9B32-72386D2E1571}">
      <dgm:prSet/>
      <dgm:spPr/>
      <dgm:t>
        <a:bodyPr/>
        <a:lstStyle/>
        <a:p>
          <a:endParaRPr lang="en-US"/>
        </a:p>
      </dgm:t>
    </dgm:pt>
    <dgm:pt modelId="{B9F6BB09-366C-B545-9434-5FF9DB0E1E62}" type="sibTrans" cxnId="{C2902813-02A1-034A-9B32-72386D2E1571}">
      <dgm:prSet/>
      <dgm:spPr/>
      <dgm:t>
        <a:bodyPr/>
        <a:lstStyle/>
        <a:p>
          <a:endParaRPr lang="en-US"/>
        </a:p>
      </dgm:t>
    </dgm:pt>
    <dgm:pt modelId="{A583A1E5-1E04-3342-941E-F61B4B622013}">
      <dgm:prSet phldrT="[Text]"/>
      <dgm:spPr/>
      <dgm:t>
        <a:bodyPr/>
        <a:lstStyle/>
        <a:p>
          <a:r>
            <a:rPr lang="en-US" dirty="0"/>
            <a:t>Traditional ML models vs Genomic Foundation Models</a:t>
          </a:r>
        </a:p>
      </dgm:t>
    </dgm:pt>
    <dgm:pt modelId="{F9DC1F07-420A-924A-98A3-5658BCCA7FA9}" type="parTrans" cxnId="{1E809AFB-D89B-A243-8E37-E2B4D0A36880}">
      <dgm:prSet/>
      <dgm:spPr/>
      <dgm:t>
        <a:bodyPr/>
        <a:lstStyle/>
        <a:p>
          <a:endParaRPr lang="en-US"/>
        </a:p>
      </dgm:t>
    </dgm:pt>
    <dgm:pt modelId="{BB1B9057-378B-4A4C-9E20-F2BE8BC9F496}" type="sibTrans" cxnId="{1E809AFB-D89B-A243-8E37-E2B4D0A36880}">
      <dgm:prSet/>
      <dgm:spPr/>
      <dgm:t>
        <a:bodyPr/>
        <a:lstStyle/>
        <a:p>
          <a:endParaRPr lang="en-US"/>
        </a:p>
      </dgm:t>
    </dgm:pt>
    <dgm:pt modelId="{CCBF237F-4C6A-3D44-96DB-E37AA5D591EC}">
      <dgm:prSet phldrT="[Text]"/>
      <dgm:spPr/>
      <dgm:t>
        <a:bodyPr/>
        <a:lstStyle/>
        <a:p>
          <a:r>
            <a:rPr lang="en-US" dirty="0"/>
            <a:t>Key Biological Applications &amp; Research Impact</a:t>
          </a:r>
        </a:p>
      </dgm:t>
    </dgm:pt>
    <dgm:pt modelId="{C3FEC71D-7456-DF4B-B7A3-7C46E28EE0ED}" type="parTrans" cxnId="{57D0B876-040D-0949-8633-8F866AA16B5A}">
      <dgm:prSet/>
      <dgm:spPr/>
      <dgm:t>
        <a:bodyPr/>
        <a:lstStyle/>
        <a:p>
          <a:endParaRPr lang="en-US"/>
        </a:p>
      </dgm:t>
    </dgm:pt>
    <dgm:pt modelId="{30498BB9-7B14-1A4D-AADF-C4ABAD426A95}" type="sibTrans" cxnId="{57D0B876-040D-0949-8633-8F866AA16B5A}">
      <dgm:prSet/>
      <dgm:spPr/>
      <dgm:t>
        <a:bodyPr/>
        <a:lstStyle/>
        <a:p>
          <a:endParaRPr lang="en-US"/>
        </a:p>
      </dgm:t>
    </dgm:pt>
    <dgm:pt modelId="{33290DB0-335B-2244-B2EC-CEA82CCA077E}">
      <dgm:prSet phldrT="[Text]"/>
      <dgm:spPr/>
      <dgm:t>
        <a:bodyPr/>
        <a:lstStyle/>
        <a:p>
          <a:r>
            <a:rPr lang="en-US" dirty="0"/>
            <a:t>From Multilayer NN to Large Language Models</a:t>
          </a:r>
        </a:p>
      </dgm:t>
    </dgm:pt>
    <dgm:pt modelId="{B97BCAB3-3382-BE4C-9A6F-1C80F9981856}" type="parTrans" cxnId="{0B7AD6AC-42B5-3D4B-A934-5EF1910D5067}">
      <dgm:prSet/>
      <dgm:spPr/>
      <dgm:t>
        <a:bodyPr/>
        <a:lstStyle/>
        <a:p>
          <a:endParaRPr lang="en-US"/>
        </a:p>
      </dgm:t>
    </dgm:pt>
    <dgm:pt modelId="{D300D250-E747-AF47-99DC-5180D7C5F5B6}" type="sibTrans" cxnId="{0B7AD6AC-42B5-3D4B-A934-5EF1910D5067}">
      <dgm:prSet/>
      <dgm:spPr/>
      <dgm:t>
        <a:bodyPr/>
        <a:lstStyle/>
        <a:p>
          <a:endParaRPr lang="en-US"/>
        </a:p>
      </dgm:t>
    </dgm:pt>
    <dgm:pt modelId="{A4E8FC72-A4DC-C64C-B31D-4FCF391FAC17}">
      <dgm:prSet phldrT="[Text]"/>
      <dgm:spPr/>
      <dgm:t>
        <a:bodyPr/>
        <a:lstStyle/>
        <a:p>
          <a:r>
            <a:rPr lang="en-US" dirty="0"/>
            <a:t>Evolution of Genomic Foundation Models</a:t>
          </a:r>
        </a:p>
      </dgm:t>
    </dgm:pt>
    <dgm:pt modelId="{EC44D525-F66A-E04A-97E0-5EE0FD0B5D43}" type="parTrans" cxnId="{7AD5D693-5FD8-A54C-8EFA-F5F0B3474F6F}">
      <dgm:prSet/>
      <dgm:spPr/>
      <dgm:t>
        <a:bodyPr/>
        <a:lstStyle/>
        <a:p>
          <a:endParaRPr lang="en-US"/>
        </a:p>
      </dgm:t>
    </dgm:pt>
    <dgm:pt modelId="{D7BB9B26-D789-B742-B69D-71E9AE6C3F1F}" type="sibTrans" cxnId="{7AD5D693-5FD8-A54C-8EFA-F5F0B3474F6F}">
      <dgm:prSet/>
      <dgm:spPr/>
      <dgm:t>
        <a:bodyPr/>
        <a:lstStyle/>
        <a:p>
          <a:endParaRPr lang="en-US"/>
        </a:p>
      </dgm:t>
    </dgm:pt>
    <dgm:pt modelId="{C595FDA5-0FF1-784E-B656-52642C161605}" type="pres">
      <dgm:prSet presAssocID="{493B0163-60F8-C24D-99D7-D67DB2B889E1}" presName="linear" presStyleCnt="0">
        <dgm:presLayoutVars>
          <dgm:dir/>
          <dgm:animLvl val="lvl"/>
          <dgm:resizeHandles val="exact"/>
        </dgm:presLayoutVars>
      </dgm:prSet>
      <dgm:spPr/>
    </dgm:pt>
    <dgm:pt modelId="{B333824E-E759-724F-AE2D-2DD94619369F}" type="pres">
      <dgm:prSet presAssocID="{33290DB0-335B-2244-B2EC-CEA82CCA077E}" presName="parentLin" presStyleCnt="0"/>
      <dgm:spPr/>
    </dgm:pt>
    <dgm:pt modelId="{D728418A-6C9A-AD42-8BF2-D32DEFB8DC3A}" type="pres">
      <dgm:prSet presAssocID="{33290DB0-335B-2244-B2EC-CEA82CCA077E}" presName="parentLeftMargin" presStyleLbl="node1" presStyleIdx="0" presStyleCnt="5"/>
      <dgm:spPr/>
    </dgm:pt>
    <dgm:pt modelId="{6FA10DC2-8383-A74F-85BB-943CC3164583}" type="pres">
      <dgm:prSet presAssocID="{33290DB0-335B-2244-B2EC-CEA82CCA077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669061E-535A-8942-9B81-B23C53DE0E66}" type="pres">
      <dgm:prSet presAssocID="{33290DB0-335B-2244-B2EC-CEA82CCA077E}" presName="negativeSpace" presStyleCnt="0"/>
      <dgm:spPr/>
    </dgm:pt>
    <dgm:pt modelId="{C13DF3DF-6D17-2D4F-A8B6-B080C9E03618}" type="pres">
      <dgm:prSet presAssocID="{33290DB0-335B-2244-B2EC-CEA82CCA077E}" presName="childText" presStyleLbl="conFgAcc1" presStyleIdx="0" presStyleCnt="5">
        <dgm:presLayoutVars>
          <dgm:bulletEnabled val="1"/>
        </dgm:presLayoutVars>
      </dgm:prSet>
      <dgm:spPr/>
    </dgm:pt>
    <dgm:pt modelId="{A414E631-DA03-2B44-9189-F289A4AEAE2A}" type="pres">
      <dgm:prSet presAssocID="{D300D250-E747-AF47-99DC-5180D7C5F5B6}" presName="spaceBetweenRectangles" presStyleCnt="0"/>
      <dgm:spPr/>
    </dgm:pt>
    <dgm:pt modelId="{993E15EC-EF57-7B4D-BB69-AE279B94828F}" type="pres">
      <dgm:prSet presAssocID="{F51EB303-A78D-D042-82F4-A6D434129146}" presName="parentLin" presStyleCnt="0"/>
      <dgm:spPr/>
    </dgm:pt>
    <dgm:pt modelId="{1448AD71-6441-E34E-9015-92D6D2B13878}" type="pres">
      <dgm:prSet presAssocID="{F51EB303-A78D-D042-82F4-A6D434129146}" presName="parentLeftMargin" presStyleLbl="node1" presStyleIdx="0" presStyleCnt="5"/>
      <dgm:spPr/>
    </dgm:pt>
    <dgm:pt modelId="{CD3FBD46-0DA2-5641-A6F1-74D37ADF13AD}" type="pres">
      <dgm:prSet presAssocID="{F51EB303-A78D-D042-82F4-A6D43412914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688C717-E75E-314C-B89C-8707791DDF75}" type="pres">
      <dgm:prSet presAssocID="{F51EB303-A78D-D042-82F4-A6D434129146}" presName="negativeSpace" presStyleCnt="0"/>
      <dgm:spPr/>
    </dgm:pt>
    <dgm:pt modelId="{97D1A5F6-CD55-E84B-A06C-AC806A87BF68}" type="pres">
      <dgm:prSet presAssocID="{F51EB303-A78D-D042-82F4-A6D434129146}" presName="childText" presStyleLbl="conFgAcc1" presStyleIdx="1" presStyleCnt="5">
        <dgm:presLayoutVars>
          <dgm:bulletEnabled val="1"/>
        </dgm:presLayoutVars>
      </dgm:prSet>
      <dgm:spPr/>
    </dgm:pt>
    <dgm:pt modelId="{C81274E8-0C39-9841-8B18-D8E75F8D3EF5}" type="pres">
      <dgm:prSet presAssocID="{B9F6BB09-366C-B545-9434-5FF9DB0E1E62}" presName="spaceBetweenRectangles" presStyleCnt="0"/>
      <dgm:spPr/>
    </dgm:pt>
    <dgm:pt modelId="{E88D00CB-0F74-0048-A13C-D8AE6239096F}" type="pres">
      <dgm:prSet presAssocID="{A4E8FC72-A4DC-C64C-B31D-4FCF391FAC17}" presName="parentLin" presStyleCnt="0"/>
      <dgm:spPr/>
    </dgm:pt>
    <dgm:pt modelId="{BC6108D1-F225-9441-B892-404EAE277C4A}" type="pres">
      <dgm:prSet presAssocID="{A4E8FC72-A4DC-C64C-B31D-4FCF391FAC17}" presName="parentLeftMargin" presStyleLbl="node1" presStyleIdx="1" presStyleCnt="5"/>
      <dgm:spPr/>
    </dgm:pt>
    <dgm:pt modelId="{A925514F-46A9-2944-BBC6-39E9C76305CC}" type="pres">
      <dgm:prSet presAssocID="{A4E8FC72-A4DC-C64C-B31D-4FCF391FAC1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33D3C3B-7EA3-6C4C-A1F8-A8C7A3E54DFE}" type="pres">
      <dgm:prSet presAssocID="{A4E8FC72-A4DC-C64C-B31D-4FCF391FAC17}" presName="negativeSpace" presStyleCnt="0"/>
      <dgm:spPr/>
    </dgm:pt>
    <dgm:pt modelId="{155FF732-8A9C-F04B-B2DE-97015F823B06}" type="pres">
      <dgm:prSet presAssocID="{A4E8FC72-A4DC-C64C-B31D-4FCF391FAC17}" presName="childText" presStyleLbl="conFgAcc1" presStyleIdx="2" presStyleCnt="5">
        <dgm:presLayoutVars>
          <dgm:bulletEnabled val="1"/>
        </dgm:presLayoutVars>
      </dgm:prSet>
      <dgm:spPr/>
    </dgm:pt>
    <dgm:pt modelId="{F65EB7CC-64CD-A046-8FEA-9102204C2F73}" type="pres">
      <dgm:prSet presAssocID="{D7BB9B26-D789-B742-B69D-71E9AE6C3F1F}" presName="spaceBetweenRectangles" presStyleCnt="0"/>
      <dgm:spPr/>
    </dgm:pt>
    <dgm:pt modelId="{9114D8D1-F912-1848-8C14-580DBD9B2E95}" type="pres">
      <dgm:prSet presAssocID="{A583A1E5-1E04-3342-941E-F61B4B622013}" presName="parentLin" presStyleCnt="0"/>
      <dgm:spPr/>
    </dgm:pt>
    <dgm:pt modelId="{36564169-D04E-5048-B61C-2E3E227533A7}" type="pres">
      <dgm:prSet presAssocID="{A583A1E5-1E04-3342-941E-F61B4B622013}" presName="parentLeftMargin" presStyleLbl="node1" presStyleIdx="2" presStyleCnt="5"/>
      <dgm:spPr/>
    </dgm:pt>
    <dgm:pt modelId="{CF50D905-E79D-2843-90D4-B5C78D0D0CF6}" type="pres">
      <dgm:prSet presAssocID="{A583A1E5-1E04-3342-941E-F61B4B62201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A274AB3-B947-AB4A-BF31-842F2ED9BE60}" type="pres">
      <dgm:prSet presAssocID="{A583A1E5-1E04-3342-941E-F61B4B622013}" presName="negativeSpace" presStyleCnt="0"/>
      <dgm:spPr/>
    </dgm:pt>
    <dgm:pt modelId="{654247D6-4D08-6A4F-8285-2B85F3F4D08D}" type="pres">
      <dgm:prSet presAssocID="{A583A1E5-1E04-3342-941E-F61B4B622013}" presName="childText" presStyleLbl="conFgAcc1" presStyleIdx="3" presStyleCnt="5">
        <dgm:presLayoutVars>
          <dgm:bulletEnabled val="1"/>
        </dgm:presLayoutVars>
      </dgm:prSet>
      <dgm:spPr/>
    </dgm:pt>
    <dgm:pt modelId="{546D38AF-FD38-0F43-BF5F-9024F54AA958}" type="pres">
      <dgm:prSet presAssocID="{BB1B9057-378B-4A4C-9E20-F2BE8BC9F496}" presName="spaceBetweenRectangles" presStyleCnt="0"/>
      <dgm:spPr/>
    </dgm:pt>
    <dgm:pt modelId="{68E289CA-52C9-2948-8F98-FBBABE9E8E56}" type="pres">
      <dgm:prSet presAssocID="{CCBF237F-4C6A-3D44-96DB-E37AA5D591EC}" presName="parentLin" presStyleCnt="0"/>
      <dgm:spPr/>
    </dgm:pt>
    <dgm:pt modelId="{4CB4B40A-1150-4A40-A9D0-3ED65C32BDDA}" type="pres">
      <dgm:prSet presAssocID="{CCBF237F-4C6A-3D44-96DB-E37AA5D591EC}" presName="parentLeftMargin" presStyleLbl="node1" presStyleIdx="3" presStyleCnt="5"/>
      <dgm:spPr/>
    </dgm:pt>
    <dgm:pt modelId="{B52D4275-9AC5-3243-841B-480BD9714389}" type="pres">
      <dgm:prSet presAssocID="{CCBF237F-4C6A-3D44-96DB-E37AA5D591E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4D324AA-2589-0743-8C08-63EC51981AB9}" type="pres">
      <dgm:prSet presAssocID="{CCBF237F-4C6A-3D44-96DB-E37AA5D591EC}" presName="negativeSpace" presStyleCnt="0"/>
      <dgm:spPr/>
    </dgm:pt>
    <dgm:pt modelId="{0EBB7542-FD1C-F549-9613-B3382B57A30B}" type="pres">
      <dgm:prSet presAssocID="{CCBF237F-4C6A-3D44-96DB-E37AA5D591E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2902813-02A1-034A-9B32-72386D2E1571}" srcId="{493B0163-60F8-C24D-99D7-D67DB2B889E1}" destId="{F51EB303-A78D-D042-82F4-A6D434129146}" srcOrd="1" destOrd="0" parTransId="{F5FF1A83-EF2A-5544-9372-2E23423BF0FB}" sibTransId="{B9F6BB09-366C-B545-9434-5FF9DB0E1E62}"/>
    <dgm:cxn modelId="{0D6EF51E-9B13-9449-9A39-1304CCA87277}" type="presOf" srcId="{493B0163-60F8-C24D-99D7-D67DB2B889E1}" destId="{C595FDA5-0FF1-784E-B656-52642C161605}" srcOrd="0" destOrd="0" presId="urn:microsoft.com/office/officeart/2005/8/layout/list1"/>
    <dgm:cxn modelId="{26641273-B11A-784C-9665-9528CB7235C2}" type="presOf" srcId="{F51EB303-A78D-D042-82F4-A6D434129146}" destId="{CD3FBD46-0DA2-5641-A6F1-74D37ADF13AD}" srcOrd="1" destOrd="0" presId="urn:microsoft.com/office/officeart/2005/8/layout/list1"/>
    <dgm:cxn modelId="{FE8F3D74-429C-D244-AB2F-F8F0412BE757}" type="presOf" srcId="{A4E8FC72-A4DC-C64C-B31D-4FCF391FAC17}" destId="{BC6108D1-F225-9441-B892-404EAE277C4A}" srcOrd="0" destOrd="0" presId="urn:microsoft.com/office/officeart/2005/8/layout/list1"/>
    <dgm:cxn modelId="{57D0B876-040D-0949-8633-8F866AA16B5A}" srcId="{493B0163-60F8-C24D-99D7-D67DB2B889E1}" destId="{CCBF237F-4C6A-3D44-96DB-E37AA5D591EC}" srcOrd="4" destOrd="0" parTransId="{C3FEC71D-7456-DF4B-B7A3-7C46E28EE0ED}" sibTransId="{30498BB9-7B14-1A4D-AADF-C4ABAD426A95}"/>
    <dgm:cxn modelId="{54735382-25ED-644A-BD91-FC30E486A073}" type="presOf" srcId="{A583A1E5-1E04-3342-941E-F61B4B622013}" destId="{36564169-D04E-5048-B61C-2E3E227533A7}" srcOrd="0" destOrd="0" presId="urn:microsoft.com/office/officeart/2005/8/layout/list1"/>
    <dgm:cxn modelId="{7AD5D693-5FD8-A54C-8EFA-F5F0B3474F6F}" srcId="{493B0163-60F8-C24D-99D7-D67DB2B889E1}" destId="{A4E8FC72-A4DC-C64C-B31D-4FCF391FAC17}" srcOrd="2" destOrd="0" parTransId="{EC44D525-F66A-E04A-97E0-5EE0FD0B5D43}" sibTransId="{D7BB9B26-D789-B742-B69D-71E9AE6C3F1F}"/>
    <dgm:cxn modelId="{C8FBCE9C-F039-B14A-A9F0-6A4BFD545CD2}" type="presOf" srcId="{33290DB0-335B-2244-B2EC-CEA82CCA077E}" destId="{6FA10DC2-8383-A74F-85BB-943CC3164583}" srcOrd="1" destOrd="0" presId="urn:microsoft.com/office/officeart/2005/8/layout/list1"/>
    <dgm:cxn modelId="{B7FC5CA1-0E95-4840-A42A-2E60637989C3}" type="presOf" srcId="{33290DB0-335B-2244-B2EC-CEA82CCA077E}" destId="{D728418A-6C9A-AD42-8BF2-D32DEFB8DC3A}" srcOrd="0" destOrd="0" presId="urn:microsoft.com/office/officeart/2005/8/layout/list1"/>
    <dgm:cxn modelId="{0B7AD6AC-42B5-3D4B-A934-5EF1910D5067}" srcId="{493B0163-60F8-C24D-99D7-D67DB2B889E1}" destId="{33290DB0-335B-2244-B2EC-CEA82CCA077E}" srcOrd="0" destOrd="0" parTransId="{B97BCAB3-3382-BE4C-9A6F-1C80F9981856}" sibTransId="{D300D250-E747-AF47-99DC-5180D7C5F5B6}"/>
    <dgm:cxn modelId="{372CD8B3-E375-444E-85BE-C1E31682989A}" type="presOf" srcId="{CCBF237F-4C6A-3D44-96DB-E37AA5D591EC}" destId="{B52D4275-9AC5-3243-841B-480BD9714389}" srcOrd="1" destOrd="0" presId="urn:microsoft.com/office/officeart/2005/8/layout/list1"/>
    <dgm:cxn modelId="{E9E138CA-D941-5E42-BF80-234E3874FCAE}" type="presOf" srcId="{F51EB303-A78D-D042-82F4-A6D434129146}" destId="{1448AD71-6441-E34E-9015-92D6D2B13878}" srcOrd="0" destOrd="0" presId="urn:microsoft.com/office/officeart/2005/8/layout/list1"/>
    <dgm:cxn modelId="{BD5BC8CB-6DC8-304D-8CD6-6354D16B4B77}" type="presOf" srcId="{A4E8FC72-A4DC-C64C-B31D-4FCF391FAC17}" destId="{A925514F-46A9-2944-BBC6-39E9C76305CC}" srcOrd="1" destOrd="0" presId="urn:microsoft.com/office/officeart/2005/8/layout/list1"/>
    <dgm:cxn modelId="{2C5F44DC-0E8F-C842-904D-8D01D26A419A}" type="presOf" srcId="{A583A1E5-1E04-3342-941E-F61B4B622013}" destId="{CF50D905-E79D-2843-90D4-B5C78D0D0CF6}" srcOrd="1" destOrd="0" presId="urn:microsoft.com/office/officeart/2005/8/layout/list1"/>
    <dgm:cxn modelId="{1E809AFB-D89B-A243-8E37-E2B4D0A36880}" srcId="{493B0163-60F8-C24D-99D7-D67DB2B889E1}" destId="{A583A1E5-1E04-3342-941E-F61B4B622013}" srcOrd="3" destOrd="0" parTransId="{F9DC1F07-420A-924A-98A3-5658BCCA7FA9}" sibTransId="{BB1B9057-378B-4A4C-9E20-F2BE8BC9F496}"/>
    <dgm:cxn modelId="{507468FF-4CD0-A844-8EB3-52E88B1DF738}" type="presOf" srcId="{CCBF237F-4C6A-3D44-96DB-E37AA5D591EC}" destId="{4CB4B40A-1150-4A40-A9D0-3ED65C32BDDA}" srcOrd="0" destOrd="0" presId="urn:microsoft.com/office/officeart/2005/8/layout/list1"/>
    <dgm:cxn modelId="{C988ADD6-29AE-074F-A220-52A585D6431B}" type="presParOf" srcId="{C595FDA5-0FF1-784E-B656-52642C161605}" destId="{B333824E-E759-724F-AE2D-2DD94619369F}" srcOrd="0" destOrd="0" presId="urn:microsoft.com/office/officeart/2005/8/layout/list1"/>
    <dgm:cxn modelId="{AA1B5449-FF31-3343-A7E5-24CEF4455530}" type="presParOf" srcId="{B333824E-E759-724F-AE2D-2DD94619369F}" destId="{D728418A-6C9A-AD42-8BF2-D32DEFB8DC3A}" srcOrd="0" destOrd="0" presId="urn:microsoft.com/office/officeart/2005/8/layout/list1"/>
    <dgm:cxn modelId="{AD953A72-5595-984B-A356-F8497A73DACF}" type="presParOf" srcId="{B333824E-E759-724F-AE2D-2DD94619369F}" destId="{6FA10DC2-8383-A74F-85BB-943CC3164583}" srcOrd="1" destOrd="0" presId="urn:microsoft.com/office/officeart/2005/8/layout/list1"/>
    <dgm:cxn modelId="{EFFA8D14-7815-9046-9D29-0E9C489E0C11}" type="presParOf" srcId="{C595FDA5-0FF1-784E-B656-52642C161605}" destId="{A669061E-535A-8942-9B81-B23C53DE0E66}" srcOrd="1" destOrd="0" presId="urn:microsoft.com/office/officeart/2005/8/layout/list1"/>
    <dgm:cxn modelId="{CF00B771-A74C-3A4F-A3AB-4BA6BA27D102}" type="presParOf" srcId="{C595FDA5-0FF1-784E-B656-52642C161605}" destId="{C13DF3DF-6D17-2D4F-A8B6-B080C9E03618}" srcOrd="2" destOrd="0" presId="urn:microsoft.com/office/officeart/2005/8/layout/list1"/>
    <dgm:cxn modelId="{5AE33FC2-7179-EB4B-90D9-F2F094BFFD82}" type="presParOf" srcId="{C595FDA5-0FF1-784E-B656-52642C161605}" destId="{A414E631-DA03-2B44-9189-F289A4AEAE2A}" srcOrd="3" destOrd="0" presId="urn:microsoft.com/office/officeart/2005/8/layout/list1"/>
    <dgm:cxn modelId="{561BC8E1-AED8-424F-8E82-3DA678BFD3D4}" type="presParOf" srcId="{C595FDA5-0FF1-784E-B656-52642C161605}" destId="{993E15EC-EF57-7B4D-BB69-AE279B94828F}" srcOrd="4" destOrd="0" presId="urn:microsoft.com/office/officeart/2005/8/layout/list1"/>
    <dgm:cxn modelId="{196264FC-EFF5-BA47-9684-64D85E2D5594}" type="presParOf" srcId="{993E15EC-EF57-7B4D-BB69-AE279B94828F}" destId="{1448AD71-6441-E34E-9015-92D6D2B13878}" srcOrd="0" destOrd="0" presId="urn:microsoft.com/office/officeart/2005/8/layout/list1"/>
    <dgm:cxn modelId="{8375961E-2DF4-0F4D-849B-FF8ED9F2F918}" type="presParOf" srcId="{993E15EC-EF57-7B4D-BB69-AE279B94828F}" destId="{CD3FBD46-0DA2-5641-A6F1-74D37ADF13AD}" srcOrd="1" destOrd="0" presId="urn:microsoft.com/office/officeart/2005/8/layout/list1"/>
    <dgm:cxn modelId="{2073A685-CFA9-DF42-ADED-87F8AE2B872B}" type="presParOf" srcId="{C595FDA5-0FF1-784E-B656-52642C161605}" destId="{7688C717-E75E-314C-B89C-8707791DDF75}" srcOrd="5" destOrd="0" presId="urn:microsoft.com/office/officeart/2005/8/layout/list1"/>
    <dgm:cxn modelId="{731ACFCD-D46B-474A-B1C9-BDEE8CE8F47E}" type="presParOf" srcId="{C595FDA5-0FF1-784E-B656-52642C161605}" destId="{97D1A5F6-CD55-E84B-A06C-AC806A87BF68}" srcOrd="6" destOrd="0" presId="urn:microsoft.com/office/officeart/2005/8/layout/list1"/>
    <dgm:cxn modelId="{08810ED6-D380-364E-956D-9556F9A1364F}" type="presParOf" srcId="{C595FDA5-0FF1-784E-B656-52642C161605}" destId="{C81274E8-0C39-9841-8B18-D8E75F8D3EF5}" srcOrd="7" destOrd="0" presId="urn:microsoft.com/office/officeart/2005/8/layout/list1"/>
    <dgm:cxn modelId="{AC81D4FB-78DA-9542-B46E-E7FB5CC8A782}" type="presParOf" srcId="{C595FDA5-0FF1-784E-B656-52642C161605}" destId="{E88D00CB-0F74-0048-A13C-D8AE6239096F}" srcOrd="8" destOrd="0" presId="urn:microsoft.com/office/officeart/2005/8/layout/list1"/>
    <dgm:cxn modelId="{D5F68A77-F4CF-384A-A7F3-40228D53D510}" type="presParOf" srcId="{E88D00CB-0F74-0048-A13C-D8AE6239096F}" destId="{BC6108D1-F225-9441-B892-404EAE277C4A}" srcOrd="0" destOrd="0" presId="urn:microsoft.com/office/officeart/2005/8/layout/list1"/>
    <dgm:cxn modelId="{1D90EC80-1195-2F41-B35B-A9E743A3EB0C}" type="presParOf" srcId="{E88D00CB-0F74-0048-A13C-D8AE6239096F}" destId="{A925514F-46A9-2944-BBC6-39E9C76305CC}" srcOrd="1" destOrd="0" presId="urn:microsoft.com/office/officeart/2005/8/layout/list1"/>
    <dgm:cxn modelId="{E3C7D731-6A78-AD4B-B08B-D624C317B941}" type="presParOf" srcId="{C595FDA5-0FF1-784E-B656-52642C161605}" destId="{533D3C3B-7EA3-6C4C-A1F8-A8C7A3E54DFE}" srcOrd="9" destOrd="0" presId="urn:microsoft.com/office/officeart/2005/8/layout/list1"/>
    <dgm:cxn modelId="{014F1179-26D6-BF43-82D8-852BADD802EF}" type="presParOf" srcId="{C595FDA5-0FF1-784E-B656-52642C161605}" destId="{155FF732-8A9C-F04B-B2DE-97015F823B06}" srcOrd="10" destOrd="0" presId="urn:microsoft.com/office/officeart/2005/8/layout/list1"/>
    <dgm:cxn modelId="{15F921E3-B08A-B64E-9305-C92E36304F7C}" type="presParOf" srcId="{C595FDA5-0FF1-784E-B656-52642C161605}" destId="{F65EB7CC-64CD-A046-8FEA-9102204C2F73}" srcOrd="11" destOrd="0" presId="urn:microsoft.com/office/officeart/2005/8/layout/list1"/>
    <dgm:cxn modelId="{23D471A7-C23B-4A45-88B5-3BBFB0FA4302}" type="presParOf" srcId="{C595FDA5-0FF1-784E-B656-52642C161605}" destId="{9114D8D1-F912-1848-8C14-580DBD9B2E95}" srcOrd="12" destOrd="0" presId="urn:microsoft.com/office/officeart/2005/8/layout/list1"/>
    <dgm:cxn modelId="{01E3F280-9538-8047-8591-32651CA73AD6}" type="presParOf" srcId="{9114D8D1-F912-1848-8C14-580DBD9B2E95}" destId="{36564169-D04E-5048-B61C-2E3E227533A7}" srcOrd="0" destOrd="0" presId="urn:microsoft.com/office/officeart/2005/8/layout/list1"/>
    <dgm:cxn modelId="{0DF31E98-6BB0-0944-92EE-B27AD167ADF1}" type="presParOf" srcId="{9114D8D1-F912-1848-8C14-580DBD9B2E95}" destId="{CF50D905-E79D-2843-90D4-B5C78D0D0CF6}" srcOrd="1" destOrd="0" presId="urn:microsoft.com/office/officeart/2005/8/layout/list1"/>
    <dgm:cxn modelId="{398E51C2-5AFB-4944-A561-69FA1732AA36}" type="presParOf" srcId="{C595FDA5-0FF1-784E-B656-52642C161605}" destId="{5A274AB3-B947-AB4A-BF31-842F2ED9BE60}" srcOrd="13" destOrd="0" presId="urn:microsoft.com/office/officeart/2005/8/layout/list1"/>
    <dgm:cxn modelId="{A6B697FC-4EA0-2344-AC1A-73D715B0EB23}" type="presParOf" srcId="{C595FDA5-0FF1-784E-B656-52642C161605}" destId="{654247D6-4D08-6A4F-8285-2B85F3F4D08D}" srcOrd="14" destOrd="0" presId="urn:microsoft.com/office/officeart/2005/8/layout/list1"/>
    <dgm:cxn modelId="{AE8D5502-C469-754D-8B4F-F335C9CAB52F}" type="presParOf" srcId="{C595FDA5-0FF1-784E-B656-52642C161605}" destId="{546D38AF-FD38-0F43-BF5F-9024F54AA958}" srcOrd="15" destOrd="0" presId="urn:microsoft.com/office/officeart/2005/8/layout/list1"/>
    <dgm:cxn modelId="{41AB8781-73FA-184C-9CA2-1624C1F31FDC}" type="presParOf" srcId="{C595FDA5-0FF1-784E-B656-52642C161605}" destId="{68E289CA-52C9-2948-8F98-FBBABE9E8E56}" srcOrd="16" destOrd="0" presId="urn:microsoft.com/office/officeart/2005/8/layout/list1"/>
    <dgm:cxn modelId="{D97A95F0-7AFF-6541-9EAD-BF00E6C3CA2B}" type="presParOf" srcId="{68E289CA-52C9-2948-8F98-FBBABE9E8E56}" destId="{4CB4B40A-1150-4A40-A9D0-3ED65C32BDDA}" srcOrd="0" destOrd="0" presId="urn:microsoft.com/office/officeart/2005/8/layout/list1"/>
    <dgm:cxn modelId="{F8CB1192-0294-A341-B98E-CB063A980A3F}" type="presParOf" srcId="{68E289CA-52C9-2948-8F98-FBBABE9E8E56}" destId="{B52D4275-9AC5-3243-841B-480BD9714389}" srcOrd="1" destOrd="0" presId="urn:microsoft.com/office/officeart/2005/8/layout/list1"/>
    <dgm:cxn modelId="{1AE6772D-0E6B-1F47-BA31-1F7B6CE767F3}" type="presParOf" srcId="{C595FDA5-0FF1-784E-B656-52642C161605}" destId="{04D324AA-2589-0743-8C08-63EC51981AB9}" srcOrd="17" destOrd="0" presId="urn:microsoft.com/office/officeart/2005/8/layout/list1"/>
    <dgm:cxn modelId="{E234654A-3967-2F48-AA66-C9A4F097CDF1}" type="presParOf" srcId="{C595FDA5-0FF1-784E-B656-52642C161605}" destId="{0EBB7542-FD1C-F549-9613-B3382B57A30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9999D6-D67F-B14E-BEF9-CE0D7F85DD3A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524CAF-37F5-CD45-9065-AFA710D20749}">
      <dgm:prSet phldrT="[Text]"/>
      <dgm:spPr/>
      <dgm:t>
        <a:bodyPr/>
        <a:lstStyle/>
        <a:p>
          <a:pPr rtl="0"/>
          <a:r>
            <a:rPr lang="en-US" dirty="0"/>
            <a:t>Evolution from specialized sequence models to multimodal genomic understanding</a:t>
          </a:r>
        </a:p>
      </dgm:t>
    </dgm:pt>
    <dgm:pt modelId="{40058C11-97E0-7E45-AB3B-29F77AFE28D2}" type="parTrans" cxnId="{D184BF84-AA7D-3043-A166-5157F059F0EA}">
      <dgm:prSet/>
      <dgm:spPr/>
      <dgm:t>
        <a:bodyPr/>
        <a:lstStyle/>
        <a:p>
          <a:endParaRPr lang="en-US"/>
        </a:p>
      </dgm:t>
    </dgm:pt>
    <dgm:pt modelId="{F297F921-E70A-B349-BA2C-9AD64B709ADF}" type="sibTrans" cxnId="{D184BF84-AA7D-3043-A166-5157F059F0EA}">
      <dgm:prSet/>
      <dgm:spPr/>
      <dgm:t>
        <a:bodyPr/>
        <a:lstStyle/>
        <a:p>
          <a:endParaRPr lang="en-US"/>
        </a:p>
      </dgm:t>
    </dgm:pt>
    <dgm:pt modelId="{7D41ACB8-C815-1B4E-A859-F580362F7727}">
      <dgm:prSet phldrT="[Text]"/>
      <dgm:spPr/>
      <dgm:t>
        <a:bodyPr/>
        <a:lstStyle/>
        <a:p>
          <a:pPr rtl="0"/>
          <a:r>
            <a:rPr lang="en-US" dirty="0"/>
            <a:t>Increasing ability to model long-range dependencies in genomic data</a:t>
          </a:r>
        </a:p>
      </dgm:t>
    </dgm:pt>
    <dgm:pt modelId="{53067062-AA89-E442-8FB8-1A731C9566EB}" type="parTrans" cxnId="{6914A0F0-C60C-A048-867F-2A248AA07897}">
      <dgm:prSet/>
      <dgm:spPr/>
      <dgm:t>
        <a:bodyPr/>
        <a:lstStyle/>
        <a:p>
          <a:endParaRPr lang="en-US"/>
        </a:p>
      </dgm:t>
    </dgm:pt>
    <dgm:pt modelId="{12DE88DF-D0DF-E84B-AC4B-98522A41EB09}" type="sibTrans" cxnId="{6914A0F0-C60C-A048-867F-2A248AA07897}">
      <dgm:prSet/>
      <dgm:spPr/>
      <dgm:t>
        <a:bodyPr/>
        <a:lstStyle/>
        <a:p>
          <a:pPr rtl="0"/>
          <a:endParaRPr lang="en-US"/>
        </a:p>
      </dgm:t>
    </dgm:pt>
    <dgm:pt modelId="{A5D3775E-9E62-7A4D-AA9A-1DB42E6C4FEE}">
      <dgm:prSet phldrT="[Text]"/>
      <dgm:spPr/>
      <dgm:t>
        <a:bodyPr/>
        <a:lstStyle/>
        <a:p>
          <a:pPr rtl="0"/>
          <a:r>
            <a:rPr lang="en-US" dirty="0"/>
            <a:t>Transition from prediction to generation capabilities</a:t>
          </a:r>
        </a:p>
      </dgm:t>
    </dgm:pt>
    <dgm:pt modelId="{AC2D159E-CD2D-5F4A-942A-D1A0AD75FE32}" type="parTrans" cxnId="{BF4F5521-8588-DE40-B5EB-26D5B161C145}">
      <dgm:prSet/>
      <dgm:spPr/>
      <dgm:t>
        <a:bodyPr/>
        <a:lstStyle/>
        <a:p>
          <a:endParaRPr lang="en-US"/>
        </a:p>
      </dgm:t>
    </dgm:pt>
    <dgm:pt modelId="{FC5C8166-AD05-A84B-BC27-66413D1F5B42}" type="sibTrans" cxnId="{BF4F5521-8588-DE40-B5EB-26D5B161C145}">
      <dgm:prSet/>
      <dgm:spPr/>
      <dgm:t>
        <a:bodyPr/>
        <a:lstStyle/>
        <a:p>
          <a:endParaRPr lang="en-US"/>
        </a:p>
      </dgm:t>
    </dgm:pt>
    <dgm:pt modelId="{8147E1A7-CF39-2A40-A161-91441BACCBBD}" type="pres">
      <dgm:prSet presAssocID="{529999D6-D67F-B14E-BEF9-CE0D7F85DD3A}" presName="diagram" presStyleCnt="0">
        <dgm:presLayoutVars>
          <dgm:dir/>
          <dgm:resizeHandles val="exact"/>
        </dgm:presLayoutVars>
      </dgm:prSet>
      <dgm:spPr/>
    </dgm:pt>
    <dgm:pt modelId="{C99C7DD5-5D06-A841-9900-D33DB890ADC3}" type="pres">
      <dgm:prSet presAssocID="{25524CAF-37F5-CD45-9065-AFA710D20749}" presName="node" presStyleLbl="node1" presStyleIdx="0" presStyleCnt="3">
        <dgm:presLayoutVars>
          <dgm:bulletEnabled val="1"/>
        </dgm:presLayoutVars>
      </dgm:prSet>
      <dgm:spPr/>
    </dgm:pt>
    <dgm:pt modelId="{0932D660-F8BF-DB49-A328-3106786C9A14}" type="pres">
      <dgm:prSet presAssocID="{F297F921-E70A-B349-BA2C-9AD64B709ADF}" presName="sibTrans" presStyleCnt="0"/>
      <dgm:spPr/>
    </dgm:pt>
    <dgm:pt modelId="{FB2096E4-36C7-A748-ADC1-773B697266B1}" type="pres">
      <dgm:prSet presAssocID="{7D41ACB8-C815-1B4E-A859-F580362F7727}" presName="node" presStyleLbl="node1" presStyleIdx="1" presStyleCnt="3">
        <dgm:presLayoutVars>
          <dgm:bulletEnabled val="1"/>
        </dgm:presLayoutVars>
      </dgm:prSet>
      <dgm:spPr/>
    </dgm:pt>
    <dgm:pt modelId="{26F21498-EAF6-004C-841A-E4362FB06249}" type="pres">
      <dgm:prSet presAssocID="{12DE88DF-D0DF-E84B-AC4B-98522A41EB09}" presName="sibTrans" presStyleCnt="0"/>
      <dgm:spPr/>
    </dgm:pt>
    <dgm:pt modelId="{4E6ACD82-9272-F346-BFB0-5B4F59AD570F}" type="pres">
      <dgm:prSet presAssocID="{A5D3775E-9E62-7A4D-AA9A-1DB42E6C4FEE}" presName="node" presStyleLbl="node1" presStyleIdx="2" presStyleCnt="3">
        <dgm:presLayoutVars>
          <dgm:bulletEnabled val="1"/>
        </dgm:presLayoutVars>
      </dgm:prSet>
      <dgm:spPr/>
    </dgm:pt>
  </dgm:ptLst>
  <dgm:cxnLst>
    <dgm:cxn modelId="{BF4F5521-8588-DE40-B5EB-26D5B161C145}" srcId="{529999D6-D67F-B14E-BEF9-CE0D7F85DD3A}" destId="{A5D3775E-9E62-7A4D-AA9A-1DB42E6C4FEE}" srcOrd="2" destOrd="0" parTransId="{AC2D159E-CD2D-5F4A-942A-D1A0AD75FE32}" sibTransId="{FC5C8166-AD05-A84B-BC27-66413D1F5B42}"/>
    <dgm:cxn modelId="{2ED6C244-1D8A-DD49-9010-52B1D2FC9108}" type="presOf" srcId="{7D41ACB8-C815-1B4E-A859-F580362F7727}" destId="{FB2096E4-36C7-A748-ADC1-773B697266B1}" srcOrd="0" destOrd="0" presId="urn:microsoft.com/office/officeart/2005/8/layout/default"/>
    <dgm:cxn modelId="{890F8377-9187-1B47-85EF-DF30B843A67A}" type="presOf" srcId="{A5D3775E-9E62-7A4D-AA9A-1DB42E6C4FEE}" destId="{4E6ACD82-9272-F346-BFB0-5B4F59AD570F}" srcOrd="0" destOrd="0" presId="urn:microsoft.com/office/officeart/2005/8/layout/default"/>
    <dgm:cxn modelId="{D184BF84-AA7D-3043-A166-5157F059F0EA}" srcId="{529999D6-D67F-B14E-BEF9-CE0D7F85DD3A}" destId="{25524CAF-37F5-CD45-9065-AFA710D20749}" srcOrd="0" destOrd="0" parTransId="{40058C11-97E0-7E45-AB3B-29F77AFE28D2}" sibTransId="{F297F921-E70A-B349-BA2C-9AD64B709ADF}"/>
    <dgm:cxn modelId="{B19600C9-7BB4-9945-9532-324D8B808A15}" type="presOf" srcId="{529999D6-D67F-B14E-BEF9-CE0D7F85DD3A}" destId="{8147E1A7-CF39-2A40-A161-91441BACCBBD}" srcOrd="0" destOrd="0" presId="urn:microsoft.com/office/officeart/2005/8/layout/default"/>
    <dgm:cxn modelId="{BA722ACB-001E-5D40-BA91-036F5AA3D2B3}" type="presOf" srcId="{25524CAF-37F5-CD45-9065-AFA710D20749}" destId="{C99C7DD5-5D06-A841-9900-D33DB890ADC3}" srcOrd="0" destOrd="0" presId="urn:microsoft.com/office/officeart/2005/8/layout/default"/>
    <dgm:cxn modelId="{6914A0F0-C60C-A048-867F-2A248AA07897}" srcId="{529999D6-D67F-B14E-BEF9-CE0D7F85DD3A}" destId="{7D41ACB8-C815-1B4E-A859-F580362F7727}" srcOrd="1" destOrd="0" parTransId="{53067062-AA89-E442-8FB8-1A731C9566EB}" sibTransId="{12DE88DF-D0DF-E84B-AC4B-98522A41EB09}"/>
    <dgm:cxn modelId="{040E3CAE-6524-CE43-A71C-DAB23BB7B8D9}" type="presParOf" srcId="{8147E1A7-CF39-2A40-A161-91441BACCBBD}" destId="{C99C7DD5-5D06-A841-9900-D33DB890ADC3}" srcOrd="0" destOrd="0" presId="urn:microsoft.com/office/officeart/2005/8/layout/default"/>
    <dgm:cxn modelId="{5E9EF90B-4F26-9048-A01C-667528560CEE}" type="presParOf" srcId="{8147E1A7-CF39-2A40-A161-91441BACCBBD}" destId="{0932D660-F8BF-DB49-A328-3106786C9A14}" srcOrd="1" destOrd="0" presId="urn:microsoft.com/office/officeart/2005/8/layout/default"/>
    <dgm:cxn modelId="{DD7196ED-639E-434C-BBAD-A8D4B6883285}" type="presParOf" srcId="{8147E1A7-CF39-2A40-A161-91441BACCBBD}" destId="{FB2096E4-36C7-A748-ADC1-773B697266B1}" srcOrd="2" destOrd="0" presId="urn:microsoft.com/office/officeart/2005/8/layout/default"/>
    <dgm:cxn modelId="{5C84967B-D3B3-0440-A0C7-05BEE067F138}" type="presParOf" srcId="{8147E1A7-CF39-2A40-A161-91441BACCBBD}" destId="{26F21498-EAF6-004C-841A-E4362FB06249}" srcOrd="3" destOrd="0" presId="urn:microsoft.com/office/officeart/2005/8/layout/default"/>
    <dgm:cxn modelId="{CB186851-2A19-2A43-80A3-6D8A5659F596}" type="presParOf" srcId="{8147E1A7-CF39-2A40-A161-91441BACCBBD}" destId="{4E6ACD82-9272-F346-BFB0-5B4F59AD570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161734-E3F3-ED4C-853E-947FA9283A85}" type="doc">
      <dgm:prSet loTypeId="urn:microsoft.com/office/officeart/2005/8/layout/hList1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10CBD04-CC24-9C4F-BA46-ED2ED2CEE230}">
      <dgm:prSet phldrT="[Text]"/>
      <dgm:spPr/>
      <dgm:t>
        <a:bodyPr/>
        <a:lstStyle/>
        <a:p>
          <a:pPr rtl="0"/>
          <a:r>
            <a:rPr lang="en-US" dirty="0"/>
            <a:t>DNA</a:t>
          </a:r>
        </a:p>
        <a:p>
          <a:pPr rtl="0"/>
          <a:r>
            <a:rPr lang="en-US" dirty="0"/>
            <a:t>(Sequence)</a:t>
          </a:r>
        </a:p>
      </dgm:t>
    </dgm:pt>
    <dgm:pt modelId="{65B7F1F8-3086-584C-9FC3-4AB077225B5A}" type="parTrans" cxnId="{5652229D-D1D2-B84B-9F90-587BB9B25542}">
      <dgm:prSet/>
      <dgm:spPr/>
      <dgm:t>
        <a:bodyPr/>
        <a:lstStyle/>
        <a:p>
          <a:endParaRPr lang="en-US"/>
        </a:p>
      </dgm:t>
    </dgm:pt>
    <dgm:pt modelId="{AD9C2A31-8344-2A4D-9F4D-8E223C6FDB3C}" type="sibTrans" cxnId="{5652229D-D1D2-B84B-9F90-587BB9B25542}">
      <dgm:prSet/>
      <dgm:spPr/>
      <dgm:t>
        <a:bodyPr/>
        <a:lstStyle/>
        <a:p>
          <a:endParaRPr lang="en-US"/>
        </a:p>
      </dgm:t>
    </dgm:pt>
    <dgm:pt modelId="{51EB5EF5-7FFD-7547-86B7-FC8695057883}">
      <dgm:prSet phldrT="[Text]"/>
      <dgm:spPr/>
      <dgm:t>
        <a:bodyPr/>
        <a:lstStyle/>
        <a:p>
          <a:pPr rtl="0"/>
          <a:r>
            <a:rPr lang="en-US" dirty="0"/>
            <a:t>Genome-wide variant effects
DNA cis-regulatory regions
DNA methylation
DNA-protein interaction</a:t>
          </a:r>
        </a:p>
      </dgm:t>
    </dgm:pt>
    <dgm:pt modelId="{6899F9F1-AE14-DD45-AA6C-B3E6F6EB38AA}" type="parTrans" cxnId="{9B524D44-804B-F04D-8268-673FBCF1F232}">
      <dgm:prSet/>
      <dgm:spPr/>
      <dgm:t>
        <a:bodyPr/>
        <a:lstStyle/>
        <a:p>
          <a:endParaRPr lang="en-US"/>
        </a:p>
      </dgm:t>
    </dgm:pt>
    <dgm:pt modelId="{39EDF9E8-A8C9-7241-949C-0C7403158838}" type="sibTrans" cxnId="{9B524D44-804B-F04D-8268-673FBCF1F232}">
      <dgm:prSet/>
      <dgm:spPr/>
      <dgm:t>
        <a:bodyPr/>
        <a:lstStyle/>
        <a:p>
          <a:endParaRPr lang="en-US"/>
        </a:p>
      </dgm:t>
    </dgm:pt>
    <dgm:pt modelId="{FC89F52B-B831-8A43-AA46-5AD99D4581EF}">
      <dgm:prSet phldrT="[Text]"/>
      <dgm:spPr/>
      <dgm:t>
        <a:bodyPr/>
        <a:lstStyle/>
        <a:p>
          <a:pPr rtl="0"/>
          <a:r>
            <a:rPr lang="en-US" dirty="0"/>
            <a:t>RNA</a:t>
          </a:r>
        </a:p>
        <a:p>
          <a:pPr rtl="0"/>
          <a:r>
            <a:rPr lang="en-US" dirty="0"/>
            <a:t>(Sequence)</a:t>
          </a:r>
        </a:p>
      </dgm:t>
    </dgm:pt>
    <dgm:pt modelId="{15AA7B4D-4ED4-E444-B7AF-479FC8C14887}" type="parTrans" cxnId="{BD86F420-630B-074F-93FB-1A8E27592F01}">
      <dgm:prSet/>
      <dgm:spPr/>
      <dgm:t>
        <a:bodyPr/>
        <a:lstStyle/>
        <a:p>
          <a:endParaRPr lang="en-US"/>
        </a:p>
      </dgm:t>
    </dgm:pt>
    <dgm:pt modelId="{7F1750A3-4EE2-104A-BF49-DD9F4C173DBE}" type="sibTrans" cxnId="{BD86F420-630B-074F-93FB-1A8E27592F01}">
      <dgm:prSet/>
      <dgm:spPr/>
      <dgm:t>
        <a:bodyPr/>
        <a:lstStyle/>
        <a:p>
          <a:endParaRPr lang="en-US"/>
        </a:p>
      </dgm:t>
    </dgm:pt>
    <dgm:pt modelId="{D9AE3021-8B5D-2744-AF2C-39769516B08F}">
      <dgm:prSet phldrT="[Text]"/>
      <dgm:spPr/>
      <dgm:t>
        <a:bodyPr/>
        <a:lstStyle/>
        <a:p>
          <a:pPr rtl="0"/>
          <a:r>
            <a:rPr lang="en-US" dirty="0"/>
            <a:t>RNA secondary structure</a:t>
          </a:r>
        </a:p>
      </dgm:t>
    </dgm:pt>
    <dgm:pt modelId="{1B6126A4-0C25-8B44-A7AD-043D723E541C}" type="parTrans" cxnId="{2F9B2B94-5868-A744-8B43-87763E261095}">
      <dgm:prSet/>
      <dgm:spPr/>
      <dgm:t>
        <a:bodyPr/>
        <a:lstStyle/>
        <a:p>
          <a:endParaRPr lang="en-US"/>
        </a:p>
      </dgm:t>
    </dgm:pt>
    <dgm:pt modelId="{5EA7DD2F-B551-C543-93E5-86EC3645CF1A}" type="sibTrans" cxnId="{2F9B2B94-5868-A744-8B43-87763E261095}">
      <dgm:prSet/>
      <dgm:spPr/>
      <dgm:t>
        <a:bodyPr/>
        <a:lstStyle/>
        <a:p>
          <a:endParaRPr lang="en-US"/>
        </a:p>
      </dgm:t>
    </dgm:pt>
    <dgm:pt modelId="{13495AED-DF9D-7246-B07F-9DB212B5C7EF}">
      <dgm:prSet phldrT="[Text]"/>
      <dgm:spPr/>
      <dgm:t>
        <a:bodyPr/>
        <a:lstStyle/>
        <a:p>
          <a:pPr rtl="0"/>
          <a:r>
            <a:rPr lang="en-US" dirty="0"/>
            <a:t>Protein</a:t>
          </a:r>
        </a:p>
        <a:p>
          <a:pPr rtl="0"/>
          <a:r>
            <a:rPr lang="en-US" dirty="0"/>
            <a:t>(Seq, Structure)</a:t>
          </a:r>
        </a:p>
      </dgm:t>
    </dgm:pt>
    <dgm:pt modelId="{F6238064-AC53-1D4B-9AA0-B8559AB6E4A3}" type="parTrans" cxnId="{43A2FEDB-AA63-A04A-8D06-B48283FEA55A}">
      <dgm:prSet/>
      <dgm:spPr/>
      <dgm:t>
        <a:bodyPr/>
        <a:lstStyle/>
        <a:p>
          <a:endParaRPr lang="en-US"/>
        </a:p>
      </dgm:t>
    </dgm:pt>
    <dgm:pt modelId="{F58CE0C0-8B2E-9E40-84D7-2A1CB7D15B2C}" type="sibTrans" cxnId="{43A2FEDB-AA63-A04A-8D06-B48283FEA55A}">
      <dgm:prSet/>
      <dgm:spPr/>
      <dgm:t>
        <a:bodyPr/>
        <a:lstStyle/>
        <a:p>
          <a:endParaRPr lang="en-US"/>
        </a:p>
      </dgm:t>
    </dgm:pt>
    <dgm:pt modelId="{EC509DFA-CC01-7C41-8EAA-71B2BF48B871}">
      <dgm:prSet phldrT="[Text]"/>
      <dgm:spPr/>
      <dgm:t>
        <a:bodyPr/>
        <a:lstStyle/>
        <a:p>
          <a:pPr rtl="0"/>
          <a:r>
            <a:rPr lang="en-US" dirty="0"/>
            <a:t>Protein structure prediction</a:t>
          </a:r>
        </a:p>
      </dgm:t>
    </dgm:pt>
    <dgm:pt modelId="{BF88EDBA-7459-2543-9E19-B32FF66ED481}" type="parTrans" cxnId="{CB8DC374-F6C2-B946-8A1B-DC398F32DB2B}">
      <dgm:prSet/>
      <dgm:spPr/>
      <dgm:t>
        <a:bodyPr/>
        <a:lstStyle/>
        <a:p>
          <a:endParaRPr lang="en-US"/>
        </a:p>
      </dgm:t>
    </dgm:pt>
    <dgm:pt modelId="{3B17F7DC-F0A6-4C42-8047-BDF55EB9FCF7}" type="sibTrans" cxnId="{CB8DC374-F6C2-B946-8A1B-DC398F32DB2B}">
      <dgm:prSet/>
      <dgm:spPr/>
      <dgm:t>
        <a:bodyPr/>
        <a:lstStyle/>
        <a:p>
          <a:endParaRPr lang="en-US"/>
        </a:p>
      </dgm:t>
    </dgm:pt>
    <dgm:pt modelId="{8F21DC75-FF3A-DD4C-BCE4-9494744ECEEA}">
      <dgm:prSet phldrT="[Text]"/>
      <dgm:spPr/>
      <dgm:t>
        <a:bodyPr/>
        <a:lstStyle/>
        <a:p>
          <a:pPr rtl="0"/>
          <a:r>
            <a:rPr lang="en-US" dirty="0"/>
            <a:t>RNA splice site prediction</a:t>
          </a:r>
        </a:p>
      </dgm:t>
    </dgm:pt>
    <dgm:pt modelId="{A04CDC50-0876-4746-934B-AB0C7FC74E20}" type="parTrans" cxnId="{F68BD874-4A56-1847-B56F-0E626CA1597E}">
      <dgm:prSet/>
      <dgm:spPr/>
      <dgm:t>
        <a:bodyPr/>
        <a:lstStyle/>
        <a:p>
          <a:endParaRPr lang="en-US"/>
        </a:p>
      </dgm:t>
    </dgm:pt>
    <dgm:pt modelId="{BA3B91FE-269D-2E40-A074-FFC931CDA51F}" type="sibTrans" cxnId="{F68BD874-4A56-1847-B56F-0E626CA1597E}">
      <dgm:prSet/>
      <dgm:spPr/>
      <dgm:t>
        <a:bodyPr/>
        <a:lstStyle/>
        <a:p>
          <a:endParaRPr lang="en-US"/>
        </a:p>
      </dgm:t>
    </dgm:pt>
    <dgm:pt modelId="{52DEBB23-931E-4242-9F81-C037CE2AEAC6}">
      <dgm:prSet phldrT="[Text]"/>
      <dgm:spPr/>
      <dgm:t>
        <a:bodyPr/>
        <a:lstStyle/>
        <a:p>
          <a:pPr rtl="0"/>
          <a:r>
            <a:rPr lang="en-US" dirty="0"/>
            <a:t>RNA modification</a:t>
          </a:r>
        </a:p>
      </dgm:t>
    </dgm:pt>
    <dgm:pt modelId="{7CA00056-381F-D444-ADBA-98EEC56B35D6}" type="parTrans" cxnId="{A8C5E3B5-B5F3-4345-B57F-56C22512FC14}">
      <dgm:prSet/>
      <dgm:spPr/>
      <dgm:t>
        <a:bodyPr/>
        <a:lstStyle/>
        <a:p>
          <a:endParaRPr lang="en-US"/>
        </a:p>
      </dgm:t>
    </dgm:pt>
    <dgm:pt modelId="{8792A52C-B588-4F42-8A3F-0986C246C46A}" type="sibTrans" cxnId="{A8C5E3B5-B5F3-4345-B57F-56C22512FC14}">
      <dgm:prSet/>
      <dgm:spPr/>
      <dgm:t>
        <a:bodyPr/>
        <a:lstStyle/>
        <a:p>
          <a:endParaRPr lang="en-US"/>
        </a:p>
      </dgm:t>
    </dgm:pt>
    <dgm:pt modelId="{125093BF-9942-6347-96C1-91A172B687C6}">
      <dgm:prSet phldrT="[Text]"/>
      <dgm:spPr/>
      <dgm:t>
        <a:bodyPr/>
        <a:lstStyle/>
        <a:p>
          <a:pPr rtl="0"/>
          <a:r>
            <a:rPr lang="en-US" dirty="0"/>
            <a:t>ncRNA and disease association</a:t>
          </a:r>
        </a:p>
      </dgm:t>
    </dgm:pt>
    <dgm:pt modelId="{C48F55FA-B645-7140-ADDF-7D041CFE0718}" type="parTrans" cxnId="{5BCBD1D9-1B32-A24E-ABCE-BAD282116C29}">
      <dgm:prSet/>
      <dgm:spPr/>
      <dgm:t>
        <a:bodyPr/>
        <a:lstStyle/>
        <a:p>
          <a:endParaRPr lang="en-US"/>
        </a:p>
      </dgm:t>
    </dgm:pt>
    <dgm:pt modelId="{60C9AAE4-2963-9641-A2A2-9EB26651120E}" type="sibTrans" cxnId="{5BCBD1D9-1B32-A24E-ABCE-BAD282116C29}">
      <dgm:prSet/>
      <dgm:spPr/>
      <dgm:t>
        <a:bodyPr/>
        <a:lstStyle/>
        <a:p>
          <a:endParaRPr lang="en-US"/>
        </a:p>
      </dgm:t>
    </dgm:pt>
    <dgm:pt modelId="{03BC1407-343F-E540-9259-D2C63EBEF61E}">
      <dgm:prSet phldrT="[Text]"/>
      <dgm:spPr/>
      <dgm:t>
        <a:bodyPr/>
        <a:lstStyle/>
        <a:p>
          <a:pPr rtl="0"/>
          <a:r>
            <a:rPr lang="en-US" dirty="0"/>
            <a:t>Evolution and mutation</a:t>
          </a:r>
        </a:p>
      </dgm:t>
    </dgm:pt>
    <dgm:pt modelId="{353EB71A-7BC9-0944-BBE8-D6A7592AFE68}" type="parTrans" cxnId="{FC9EA19C-3B9A-CC40-B65E-B0CFC449AFEC}">
      <dgm:prSet/>
      <dgm:spPr/>
      <dgm:t>
        <a:bodyPr/>
        <a:lstStyle/>
        <a:p>
          <a:endParaRPr lang="en-US"/>
        </a:p>
      </dgm:t>
    </dgm:pt>
    <dgm:pt modelId="{433A022A-06C4-6642-A049-5AFB44798509}" type="sibTrans" cxnId="{FC9EA19C-3B9A-CC40-B65E-B0CFC449AFEC}">
      <dgm:prSet/>
      <dgm:spPr/>
      <dgm:t>
        <a:bodyPr/>
        <a:lstStyle/>
        <a:p>
          <a:endParaRPr lang="en-US"/>
        </a:p>
      </dgm:t>
    </dgm:pt>
    <dgm:pt modelId="{ACC759B4-EF43-3A4D-B959-78116E2A41ED}">
      <dgm:prSet phldrT="[Text]"/>
      <dgm:spPr/>
      <dgm:t>
        <a:bodyPr/>
        <a:lstStyle/>
        <a:p>
          <a:pPr rtl="0"/>
          <a:r>
            <a:rPr lang="en-US" dirty="0"/>
            <a:t>Protein dynamics</a:t>
          </a:r>
        </a:p>
      </dgm:t>
    </dgm:pt>
    <dgm:pt modelId="{56736028-7E16-8C47-9789-81B89EB4548A}" type="parTrans" cxnId="{2B5F13BC-48AC-A24B-8F48-2729BC29E772}">
      <dgm:prSet/>
      <dgm:spPr/>
      <dgm:t>
        <a:bodyPr/>
        <a:lstStyle/>
        <a:p>
          <a:endParaRPr lang="en-US"/>
        </a:p>
      </dgm:t>
    </dgm:pt>
    <dgm:pt modelId="{275448A6-F5ED-004A-ACA0-4AB9C515416B}" type="sibTrans" cxnId="{2B5F13BC-48AC-A24B-8F48-2729BC29E772}">
      <dgm:prSet/>
      <dgm:spPr/>
      <dgm:t>
        <a:bodyPr/>
        <a:lstStyle/>
        <a:p>
          <a:endParaRPr lang="en-US"/>
        </a:p>
      </dgm:t>
    </dgm:pt>
    <dgm:pt modelId="{1F76CB10-4C6E-D145-B689-E015C2DEC8FE}">
      <dgm:prSet phldrT="[Text]"/>
      <dgm:spPr/>
      <dgm:t>
        <a:bodyPr/>
        <a:lstStyle/>
        <a:p>
          <a:pPr rtl="0"/>
          <a:r>
            <a:rPr lang="en-US" dirty="0"/>
            <a:t>Protein sequence generation</a:t>
          </a:r>
        </a:p>
      </dgm:t>
    </dgm:pt>
    <dgm:pt modelId="{F9AB8076-05C9-EC47-87C8-D9FB6D5DBF2F}" type="parTrans" cxnId="{CBC18B75-B5DD-3348-A0CE-6A1F7C80C629}">
      <dgm:prSet/>
      <dgm:spPr/>
      <dgm:t>
        <a:bodyPr/>
        <a:lstStyle/>
        <a:p>
          <a:endParaRPr lang="en-US"/>
        </a:p>
      </dgm:t>
    </dgm:pt>
    <dgm:pt modelId="{07540EA1-CEC6-A449-ADBB-31A21AADC5FE}" type="sibTrans" cxnId="{CBC18B75-B5DD-3348-A0CE-6A1F7C80C629}">
      <dgm:prSet/>
      <dgm:spPr/>
      <dgm:t>
        <a:bodyPr/>
        <a:lstStyle/>
        <a:p>
          <a:endParaRPr lang="en-US"/>
        </a:p>
      </dgm:t>
    </dgm:pt>
    <dgm:pt modelId="{64E8E1B7-1260-3641-BA85-C073359B8BC2}">
      <dgm:prSet phldrT="[Text]"/>
      <dgm:spPr/>
      <dgm:t>
        <a:bodyPr/>
        <a:lstStyle/>
        <a:p>
          <a:pPr rtl="0"/>
          <a:r>
            <a:rPr lang="en-US" dirty="0"/>
            <a:t>Single Cell</a:t>
          </a:r>
        </a:p>
        <a:p>
          <a:pPr rtl="0"/>
          <a:r>
            <a:rPr lang="en-US" dirty="0"/>
            <a:t>(Data)</a:t>
          </a:r>
        </a:p>
      </dgm:t>
    </dgm:pt>
    <dgm:pt modelId="{33409DD6-E96E-B241-BEA9-841FC86BFADE}" type="parTrans" cxnId="{3F0F2EFE-EF93-1F45-952C-E303F926BA80}">
      <dgm:prSet/>
      <dgm:spPr/>
      <dgm:t>
        <a:bodyPr/>
        <a:lstStyle/>
        <a:p>
          <a:endParaRPr lang="en-US"/>
        </a:p>
      </dgm:t>
    </dgm:pt>
    <dgm:pt modelId="{571756DC-D364-6A4F-95E3-3A6895CB43A4}" type="sibTrans" cxnId="{3F0F2EFE-EF93-1F45-952C-E303F926BA80}">
      <dgm:prSet/>
      <dgm:spPr/>
      <dgm:t>
        <a:bodyPr/>
        <a:lstStyle/>
        <a:p>
          <a:endParaRPr lang="en-US"/>
        </a:p>
      </dgm:t>
    </dgm:pt>
    <dgm:pt modelId="{D1020574-5479-5B4F-943B-30407856A150}">
      <dgm:prSet phldrT="[Text]"/>
      <dgm:spPr/>
      <dgm:t>
        <a:bodyPr/>
        <a:lstStyle/>
        <a:p>
          <a:pPr rtl="0"/>
          <a:r>
            <a:rPr lang="en-US" dirty="0"/>
            <a:t>Cell clustering</a:t>
          </a:r>
        </a:p>
      </dgm:t>
    </dgm:pt>
    <dgm:pt modelId="{EC02A456-C72A-4C4E-84DB-74F81CD04755}" type="parTrans" cxnId="{CA9637BD-3DD2-9F4D-AE7E-D0BAEB18ADE3}">
      <dgm:prSet/>
      <dgm:spPr/>
      <dgm:t>
        <a:bodyPr/>
        <a:lstStyle/>
        <a:p>
          <a:endParaRPr lang="en-US"/>
        </a:p>
      </dgm:t>
    </dgm:pt>
    <dgm:pt modelId="{8B3040C2-6F51-0548-A89A-39F6E7372466}" type="sibTrans" cxnId="{CA9637BD-3DD2-9F4D-AE7E-D0BAEB18ADE3}">
      <dgm:prSet/>
      <dgm:spPr/>
      <dgm:t>
        <a:bodyPr/>
        <a:lstStyle/>
        <a:p>
          <a:endParaRPr lang="en-US"/>
        </a:p>
      </dgm:t>
    </dgm:pt>
    <dgm:pt modelId="{6F022519-748E-2F42-BA38-5A474DC2D9DD}">
      <dgm:prSet phldrT="[Text]"/>
      <dgm:spPr/>
      <dgm:t>
        <a:bodyPr/>
        <a:lstStyle/>
        <a:p>
          <a:pPr rtl="0"/>
          <a:r>
            <a:rPr lang="en-US" dirty="0"/>
            <a:t>Cell type annotation</a:t>
          </a:r>
        </a:p>
      </dgm:t>
    </dgm:pt>
    <dgm:pt modelId="{148AC267-993A-5A4C-988B-E64C61D391DE}" type="parTrans" cxnId="{99D7130B-3FE5-1D4E-8FFD-4C01D2CAB646}">
      <dgm:prSet/>
      <dgm:spPr/>
      <dgm:t>
        <a:bodyPr/>
        <a:lstStyle/>
        <a:p>
          <a:endParaRPr lang="en-US"/>
        </a:p>
      </dgm:t>
    </dgm:pt>
    <dgm:pt modelId="{44164094-9447-EC4F-8573-398009BC2031}" type="sibTrans" cxnId="{99D7130B-3FE5-1D4E-8FFD-4C01D2CAB646}">
      <dgm:prSet/>
      <dgm:spPr/>
      <dgm:t>
        <a:bodyPr/>
        <a:lstStyle/>
        <a:p>
          <a:endParaRPr lang="en-US"/>
        </a:p>
      </dgm:t>
    </dgm:pt>
    <dgm:pt modelId="{3E60CABC-9251-364C-B96F-3708589689C8}">
      <dgm:prSet phldrT="[Text]"/>
      <dgm:spPr/>
      <dgm:t>
        <a:bodyPr/>
        <a:lstStyle/>
        <a:p>
          <a:pPr rtl="0"/>
          <a:r>
            <a:rPr lang="en-US" dirty="0"/>
            <a:t>Multi-omics integration</a:t>
          </a:r>
        </a:p>
      </dgm:t>
    </dgm:pt>
    <dgm:pt modelId="{3AEAC585-8C5F-7741-88A6-18A7E3DD0069}" type="parTrans" cxnId="{3AAFCD7B-2F1C-2348-A789-26A8F794418D}">
      <dgm:prSet/>
      <dgm:spPr/>
      <dgm:t>
        <a:bodyPr/>
        <a:lstStyle/>
        <a:p>
          <a:endParaRPr lang="en-US"/>
        </a:p>
      </dgm:t>
    </dgm:pt>
    <dgm:pt modelId="{3DBAC1B8-393B-AA43-8BEA-AAEAE473A301}" type="sibTrans" cxnId="{3AAFCD7B-2F1C-2348-A789-26A8F794418D}">
      <dgm:prSet/>
      <dgm:spPr/>
      <dgm:t>
        <a:bodyPr/>
        <a:lstStyle/>
        <a:p>
          <a:endParaRPr lang="en-US"/>
        </a:p>
      </dgm:t>
    </dgm:pt>
    <dgm:pt modelId="{164AE016-EBD9-864D-8B63-2975D84F6947}">
      <dgm:prSet phldrT="[Text]"/>
      <dgm:spPr/>
      <dgm:t>
        <a:bodyPr/>
        <a:lstStyle/>
        <a:p>
          <a:pPr rtl="0"/>
          <a:r>
            <a:rPr lang="en-US" dirty="0"/>
            <a:t>Biological network</a:t>
          </a:r>
        </a:p>
      </dgm:t>
    </dgm:pt>
    <dgm:pt modelId="{23482713-1BD2-9946-BB84-EB66537774EF}" type="parTrans" cxnId="{A7981677-9D2C-2A41-B698-92D9E30B76BD}">
      <dgm:prSet/>
      <dgm:spPr/>
      <dgm:t>
        <a:bodyPr/>
        <a:lstStyle/>
        <a:p>
          <a:endParaRPr lang="en-US"/>
        </a:p>
      </dgm:t>
    </dgm:pt>
    <dgm:pt modelId="{F44B0B0F-BED6-144E-A144-6C28E51641DE}" type="sibTrans" cxnId="{A7981677-9D2C-2A41-B698-92D9E30B76BD}">
      <dgm:prSet/>
      <dgm:spPr/>
      <dgm:t>
        <a:bodyPr/>
        <a:lstStyle/>
        <a:p>
          <a:endParaRPr lang="en-US"/>
        </a:p>
      </dgm:t>
    </dgm:pt>
    <dgm:pt modelId="{73235972-8425-5D4B-A53F-68D6C416BBE0}" type="pres">
      <dgm:prSet presAssocID="{A6161734-E3F3-ED4C-853E-947FA9283A85}" presName="Name0" presStyleCnt="0">
        <dgm:presLayoutVars>
          <dgm:dir/>
          <dgm:animLvl val="lvl"/>
          <dgm:resizeHandles val="exact"/>
        </dgm:presLayoutVars>
      </dgm:prSet>
      <dgm:spPr/>
    </dgm:pt>
    <dgm:pt modelId="{C5656A97-163C-4940-86D5-424F7FA099EF}" type="pres">
      <dgm:prSet presAssocID="{E10CBD04-CC24-9C4F-BA46-ED2ED2CEE230}" presName="composite" presStyleCnt="0"/>
      <dgm:spPr/>
    </dgm:pt>
    <dgm:pt modelId="{335A8E02-0D51-7848-96B3-D01F3DE21DC6}" type="pres">
      <dgm:prSet presAssocID="{E10CBD04-CC24-9C4F-BA46-ED2ED2CEE230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BEC649D-BFBA-6042-910B-F6E040BC4BB5}" type="pres">
      <dgm:prSet presAssocID="{E10CBD04-CC24-9C4F-BA46-ED2ED2CEE230}" presName="desTx" presStyleLbl="alignAccFollowNode1" presStyleIdx="0" presStyleCnt="4">
        <dgm:presLayoutVars>
          <dgm:bulletEnabled val="1"/>
        </dgm:presLayoutVars>
      </dgm:prSet>
      <dgm:spPr/>
    </dgm:pt>
    <dgm:pt modelId="{D2D62859-6205-244E-9850-DEECFD7546D4}" type="pres">
      <dgm:prSet presAssocID="{AD9C2A31-8344-2A4D-9F4D-8E223C6FDB3C}" presName="space" presStyleCnt="0"/>
      <dgm:spPr/>
    </dgm:pt>
    <dgm:pt modelId="{EFAB2A7E-543E-5848-85CF-AFD5A6024562}" type="pres">
      <dgm:prSet presAssocID="{FC89F52B-B831-8A43-AA46-5AD99D4581EF}" presName="composite" presStyleCnt="0"/>
      <dgm:spPr/>
    </dgm:pt>
    <dgm:pt modelId="{4C8DCBDC-F299-D240-89B8-E3D0175E863F}" type="pres">
      <dgm:prSet presAssocID="{FC89F52B-B831-8A43-AA46-5AD99D4581E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AD8B1D1-10E2-9D48-BEB4-A0F1AB70C28C}" type="pres">
      <dgm:prSet presAssocID="{FC89F52B-B831-8A43-AA46-5AD99D4581EF}" presName="desTx" presStyleLbl="alignAccFollowNode1" presStyleIdx="1" presStyleCnt="4">
        <dgm:presLayoutVars>
          <dgm:bulletEnabled val="1"/>
        </dgm:presLayoutVars>
      </dgm:prSet>
      <dgm:spPr/>
    </dgm:pt>
    <dgm:pt modelId="{586D93A7-DCB1-B84C-A271-EDB48BDAE865}" type="pres">
      <dgm:prSet presAssocID="{7F1750A3-4EE2-104A-BF49-DD9F4C173DBE}" presName="space" presStyleCnt="0"/>
      <dgm:spPr/>
    </dgm:pt>
    <dgm:pt modelId="{103924BA-352C-5848-9B0A-6627DC24B5A5}" type="pres">
      <dgm:prSet presAssocID="{13495AED-DF9D-7246-B07F-9DB212B5C7EF}" presName="composite" presStyleCnt="0"/>
      <dgm:spPr/>
    </dgm:pt>
    <dgm:pt modelId="{71789C14-D170-EE40-B186-0F81A3724F13}" type="pres">
      <dgm:prSet presAssocID="{13495AED-DF9D-7246-B07F-9DB212B5C7E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F461D04A-C60C-B04C-A0AA-96FA932F3FF5}" type="pres">
      <dgm:prSet presAssocID="{13495AED-DF9D-7246-B07F-9DB212B5C7EF}" presName="desTx" presStyleLbl="alignAccFollowNode1" presStyleIdx="2" presStyleCnt="4">
        <dgm:presLayoutVars>
          <dgm:bulletEnabled val="1"/>
        </dgm:presLayoutVars>
      </dgm:prSet>
      <dgm:spPr/>
    </dgm:pt>
    <dgm:pt modelId="{57D2DE5E-D982-1D45-826D-C1F9B7CFCC87}" type="pres">
      <dgm:prSet presAssocID="{F58CE0C0-8B2E-9E40-84D7-2A1CB7D15B2C}" presName="space" presStyleCnt="0"/>
      <dgm:spPr/>
    </dgm:pt>
    <dgm:pt modelId="{B8476FDE-63C0-0E40-ADF6-0EF60EEA0F22}" type="pres">
      <dgm:prSet presAssocID="{64E8E1B7-1260-3641-BA85-C073359B8BC2}" presName="composite" presStyleCnt="0"/>
      <dgm:spPr/>
    </dgm:pt>
    <dgm:pt modelId="{8AF27496-FD7C-D84A-B995-10CCBE22E95E}" type="pres">
      <dgm:prSet presAssocID="{64E8E1B7-1260-3641-BA85-C073359B8BC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EAC129C-2FD9-404B-B0AA-2D533E7A148B}" type="pres">
      <dgm:prSet presAssocID="{64E8E1B7-1260-3641-BA85-C073359B8BC2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99D7130B-3FE5-1D4E-8FFD-4C01D2CAB646}" srcId="{64E8E1B7-1260-3641-BA85-C073359B8BC2}" destId="{6F022519-748E-2F42-BA38-5A474DC2D9DD}" srcOrd="1" destOrd="0" parTransId="{148AC267-993A-5A4C-988B-E64C61D391DE}" sibTransId="{44164094-9447-EC4F-8573-398009BC2031}"/>
    <dgm:cxn modelId="{41822815-1CCF-374D-AB66-BA68AC95C8C8}" type="presOf" srcId="{A6161734-E3F3-ED4C-853E-947FA9283A85}" destId="{73235972-8425-5D4B-A53F-68D6C416BBE0}" srcOrd="0" destOrd="0" presId="urn:microsoft.com/office/officeart/2005/8/layout/hList1"/>
    <dgm:cxn modelId="{02693419-54D0-EB48-9934-388BD074903F}" type="presOf" srcId="{EC509DFA-CC01-7C41-8EAA-71B2BF48B871}" destId="{F461D04A-C60C-B04C-A0AA-96FA932F3FF5}" srcOrd="0" destOrd="0" presId="urn:microsoft.com/office/officeart/2005/8/layout/hList1"/>
    <dgm:cxn modelId="{BD86F420-630B-074F-93FB-1A8E27592F01}" srcId="{A6161734-E3F3-ED4C-853E-947FA9283A85}" destId="{FC89F52B-B831-8A43-AA46-5AD99D4581EF}" srcOrd="1" destOrd="0" parTransId="{15AA7B4D-4ED4-E444-B7AF-479FC8C14887}" sibTransId="{7F1750A3-4EE2-104A-BF49-DD9F4C173DBE}"/>
    <dgm:cxn modelId="{61BD1D29-1AE0-6C46-9F9E-5669851A4F4E}" type="presOf" srcId="{1F76CB10-4C6E-D145-B689-E015C2DEC8FE}" destId="{F461D04A-C60C-B04C-A0AA-96FA932F3FF5}" srcOrd="0" destOrd="3" presId="urn:microsoft.com/office/officeart/2005/8/layout/hList1"/>
    <dgm:cxn modelId="{49309131-8AAB-8241-9499-16B75A2770A1}" type="presOf" srcId="{52DEBB23-931E-4242-9F81-C037CE2AEAC6}" destId="{0AD8B1D1-10E2-9D48-BEB4-A0F1AB70C28C}" srcOrd="0" destOrd="2" presId="urn:microsoft.com/office/officeart/2005/8/layout/hList1"/>
    <dgm:cxn modelId="{B13C5E34-B447-AA49-833D-2A03606A6BDF}" type="presOf" srcId="{ACC759B4-EF43-3A4D-B959-78116E2A41ED}" destId="{F461D04A-C60C-B04C-A0AA-96FA932F3FF5}" srcOrd="0" destOrd="2" presId="urn:microsoft.com/office/officeart/2005/8/layout/hList1"/>
    <dgm:cxn modelId="{89A47F37-28BA-DE45-8883-591D25E5181E}" type="presOf" srcId="{64E8E1B7-1260-3641-BA85-C073359B8BC2}" destId="{8AF27496-FD7C-D84A-B995-10CCBE22E95E}" srcOrd="0" destOrd="0" presId="urn:microsoft.com/office/officeart/2005/8/layout/hList1"/>
    <dgm:cxn modelId="{9E279638-F555-A744-9590-2FB8C33F3280}" type="presOf" srcId="{51EB5EF5-7FFD-7547-86B7-FC8695057883}" destId="{ABEC649D-BFBA-6042-910B-F6E040BC4BB5}" srcOrd="0" destOrd="0" presId="urn:microsoft.com/office/officeart/2005/8/layout/hList1"/>
    <dgm:cxn modelId="{9B524D44-804B-F04D-8268-673FBCF1F232}" srcId="{E10CBD04-CC24-9C4F-BA46-ED2ED2CEE230}" destId="{51EB5EF5-7FFD-7547-86B7-FC8695057883}" srcOrd="0" destOrd="0" parTransId="{6899F9F1-AE14-DD45-AA6C-B3E6F6EB38AA}" sibTransId="{39EDF9E8-A8C9-7241-949C-0C7403158838}"/>
    <dgm:cxn modelId="{72821C4C-90C6-F746-B0A6-444D63344463}" type="presOf" srcId="{6F022519-748E-2F42-BA38-5A474DC2D9DD}" destId="{2EAC129C-2FD9-404B-B0AA-2D533E7A148B}" srcOrd="0" destOrd="1" presId="urn:microsoft.com/office/officeart/2005/8/layout/hList1"/>
    <dgm:cxn modelId="{C1C3DD51-E7CD-7C4E-B9FE-096396CA3E40}" type="presOf" srcId="{03BC1407-343F-E540-9259-D2C63EBEF61E}" destId="{F461D04A-C60C-B04C-A0AA-96FA932F3FF5}" srcOrd="0" destOrd="1" presId="urn:microsoft.com/office/officeart/2005/8/layout/hList1"/>
    <dgm:cxn modelId="{CB8DC374-F6C2-B946-8A1B-DC398F32DB2B}" srcId="{13495AED-DF9D-7246-B07F-9DB212B5C7EF}" destId="{EC509DFA-CC01-7C41-8EAA-71B2BF48B871}" srcOrd="0" destOrd="0" parTransId="{BF88EDBA-7459-2543-9E19-B32FF66ED481}" sibTransId="{3B17F7DC-F0A6-4C42-8047-BDF55EB9FCF7}"/>
    <dgm:cxn modelId="{F68BD874-4A56-1847-B56F-0E626CA1597E}" srcId="{FC89F52B-B831-8A43-AA46-5AD99D4581EF}" destId="{8F21DC75-FF3A-DD4C-BCE4-9494744ECEEA}" srcOrd="1" destOrd="0" parTransId="{A04CDC50-0876-4746-934B-AB0C7FC74E20}" sibTransId="{BA3B91FE-269D-2E40-A074-FFC931CDA51F}"/>
    <dgm:cxn modelId="{CBC18B75-B5DD-3348-A0CE-6A1F7C80C629}" srcId="{13495AED-DF9D-7246-B07F-9DB212B5C7EF}" destId="{1F76CB10-4C6E-D145-B689-E015C2DEC8FE}" srcOrd="3" destOrd="0" parTransId="{F9AB8076-05C9-EC47-87C8-D9FB6D5DBF2F}" sibTransId="{07540EA1-CEC6-A449-ADBB-31A21AADC5FE}"/>
    <dgm:cxn modelId="{A7981677-9D2C-2A41-B698-92D9E30B76BD}" srcId="{64E8E1B7-1260-3641-BA85-C073359B8BC2}" destId="{164AE016-EBD9-864D-8B63-2975D84F6947}" srcOrd="3" destOrd="0" parTransId="{23482713-1BD2-9946-BB84-EB66537774EF}" sibTransId="{F44B0B0F-BED6-144E-A144-6C28E51641DE}"/>
    <dgm:cxn modelId="{3AAFCD7B-2F1C-2348-A789-26A8F794418D}" srcId="{64E8E1B7-1260-3641-BA85-C073359B8BC2}" destId="{3E60CABC-9251-364C-B96F-3708589689C8}" srcOrd="2" destOrd="0" parTransId="{3AEAC585-8C5F-7741-88A6-18A7E3DD0069}" sibTransId="{3DBAC1B8-393B-AA43-8BEA-AAEAE473A301}"/>
    <dgm:cxn modelId="{6EB35289-B1F3-AD4A-B30F-AF9AAA168C0D}" type="presOf" srcId="{3E60CABC-9251-364C-B96F-3708589689C8}" destId="{2EAC129C-2FD9-404B-B0AA-2D533E7A148B}" srcOrd="0" destOrd="2" presId="urn:microsoft.com/office/officeart/2005/8/layout/hList1"/>
    <dgm:cxn modelId="{D9EEBF8D-1ABC-2C45-A64A-56920BAFEF41}" type="presOf" srcId="{164AE016-EBD9-864D-8B63-2975D84F6947}" destId="{2EAC129C-2FD9-404B-B0AA-2D533E7A148B}" srcOrd="0" destOrd="3" presId="urn:microsoft.com/office/officeart/2005/8/layout/hList1"/>
    <dgm:cxn modelId="{2F9B2B94-5868-A744-8B43-87763E261095}" srcId="{FC89F52B-B831-8A43-AA46-5AD99D4581EF}" destId="{D9AE3021-8B5D-2744-AF2C-39769516B08F}" srcOrd="0" destOrd="0" parTransId="{1B6126A4-0C25-8B44-A7AD-043D723E541C}" sibTransId="{5EA7DD2F-B551-C543-93E5-86EC3645CF1A}"/>
    <dgm:cxn modelId="{410F2699-FF82-8745-8D14-482C3E3F2088}" type="presOf" srcId="{E10CBD04-CC24-9C4F-BA46-ED2ED2CEE230}" destId="{335A8E02-0D51-7848-96B3-D01F3DE21DC6}" srcOrd="0" destOrd="0" presId="urn:microsoft.com/office/officeart/2005/8/layout/hList1"/>
    <dgm:cxn modelId="{FC9EA19C-3B9A-CC40-B65E-B0CFC449AFEC}" srcId="{13495AED-DF9D-7246-B07F-9DB212B5C7EF}" destId="{03BC1407-343F-E540-9259-D2C63EBEF61E}" srcOrd="1" destOrd="0" parTransId="{353EB71A-7BC9-0944-BBE8-D6A7592AFE68}" sibTransId="{433A022A-06C4-6642-A049-5AFB44798509}"/>
    <dgm:cxn modelId="{5652229D-D1D2-B84B-9F90-587BB9B25542}" srcId="{A6161734-E3F3-ED4C-853E-947FA9283A85}" destId="{E10CBD04-CC24-9C4F-BA46-ED2ED2CEE230}" srcOrd="0" destOrd="0" parTransId="{65B7F1F8-3086-584C-9FC3-4AB077225B5A}" sibTransId="{AD9C2A31-8344-2A4D-9F4D-8E223C6FDB3C}"/>
    <dgm:cxn modelId="{A8C5E3B5-B5F3-4345-B57F-56C22512FC14}" srcId="{FC89F52B-B831-8A43-AA46-5AD99D4581EF}" destId="{52DEBB23-931E-4242-9F81-C037CE2AEAC6}" srcOrd="2" destOrd="0" parTransId="{7CA00056-381F-D444-ADBA-98EEC56B35D6}" sibTransId="{8792A52C-B588-4F42-8A3F-0986C246C46A}"/>
    <dgm:cxn modelId="{2B5F13BC-48AC-A24B-8F48-2729BC29E772}" srcId="{13495AED-DF9D-7246-B07F-9DB212B5C7EF}" destId="{ACC759B4-EF43-3A4D-B959-78116E2A41ED}" srcOrd="2" destOrd="0" parTransId="{56736028-7E16-8C47-9789-81B89EB4548A}" sibTransId="{275448A6-F5ED-004A-ACA0-4AB9C515416B}"/>
    <dgm:cxn modelId="{CA9637BD-3DD2-9F4D-AE7E-D0BAEB18ADE3}" srcId="{64E8E1B7-1260-3641-BA85-C073359B8BC2}" destId="{D1020574-5479-5B4F-943B-30407856A150}" srcOrd="0" destOrd="0" parTransId="{EC02A456-C72A-4C4E-84DB-74F81CD04755}" sibTransId="{8B3040C2-6F51-0548-A89A-39F6E7372466}"/>
    <dgm:cxn modelId="{C9AD53BE-6DF6-324C-BC2E-47F9CE30A4DC}" type="presOf" srcId="{13495AED-DF9D-7246-B07F-9DB212B5C7EF}" destId="{71789C14-D170-EE40-B186-0F81A3724F13}" srcOrd="0" destOrd="0" presId="urn:microsoft.com/office/officeart/2005/8/layout/hList1"/>
    <dgm:cxn modelId="{80ED2ECD-0CDC-F245-803C-A0F2ABD7E880}" type="presOf" srcId="{8F21DC75-FF3A-DD4C-BCE4-9494744ECEEA}" destId="{0AD8B1D1-10E2-9D48-BEB4-A0F1AB70C28C}" srcOrd="0" destOrd="1" presId="urn:microsoft.com/office/officeart/2005/8/layout/hList1"/>
    <dgm:cxn modelId="{EF7962D8-E7DB-C54C-8040-ED0D13CDC131}" type="presOf" srcId="{D9AE3021-8B5D-2744-AF2C-39769516B08F}" destId="{0AD8B1D1-10E2-9D48-BEB4-A0F1AB70C28C}" srcOrd="0" destOrd="0" presId="urn:microsoft.com/office/officeart/2005/8/layout/hList1"/>
    <dgm:cxn modelId="{5BCBD1D9-1B32-A24E-ABCE-BAD282116C29}" srcId="{FC89F52B-B831-8A43-AA46-5AD99D4581EF}" destId="{125093BF-9942-6347-96C1-91A172B687C6}" srcOrd="3" destOrd="0" parTransId="{C48F55FA-B645-7140-ADDF-7D041CFE0718}" sibTransId="{60C9AAE4-2963-9641-A2A2-9EB26651120E}"/>
    <dgm:cxn modelId="{43A2FEDB-AA63-A04A-8D06-B48283FEA55A}" srcId="{A6161734-E3F3-ED4C-853E-947FA9283A85}" destId="{13495AED-DF9D-7246-B07F-9DB212B5C7EF}" srcOrd="2" destOrd="0" parTransId="{F6238064-AC53-1D4B-9AA0-B8559AB6E4A3}" sibTransId="{F58CE0C0-8B2E-9E40-84D7-2A1CB7D15B2C}"/>
    <dgm:cxn modelId="{7A43DFE4-543E-CE4F-AA0F-F3A248A1C4EF}" type="presOf" srcId="{D1020574-5479-5B4F-943B-30407856A150}" destId="{2EAC129C-2FD9-404B-B0AA-2D533E7A148B}" srcOrd="0" destOrd="0" presId="urn:microsoft.com/office/officeart/2005/8/layout/hList1"/>
    <dgm:cxn modelId="{6EF39DF9-CDDE-4040-9E43-41603F7936A2}" type="presOf" srcId="{125093BF-9942-6347-96C1-91A172B687C6}" destId="{0AD8B1D1-10E2-9D48-BEB4-A0F1AB70C28C}" srcOrd="0" destOrd="3" presId="urn:microsoft.com/office/officeart/2005/8/layout/hList1"/>
    <dgm:cxn modelId="{7919A7FA-731B-FA40-8FA6-263CC11C1DE8}" type="presOf" srcId="{FC89F52B-B831-8A43-AA46-5AD99D4581EF}" destId="{4C8DCBDC-F299-D240-89B8-E3D0175E863F}" srcOrd="0" destOrd="0" presId="urn:microsoft.com/office/officeart/2005/8/layout/hList1"/>
    <dgm:cxn modelId="{3F0F2EFE-EF93-1F45-952C-E303F926BA80}" srcId="{A6161734-E3F3-ED4C-853E-947FA9283A85}" destId="{64E8E1B7-1260-3641-BA85-C073359B8BC2}" srcOrd="3" destOrd="0" parTransId="{33409DD6-E96E-B241-BEA9-841FC86BFADE}" sibTransId="{571756DC-D364-6A4F-95E3-3A6895CB43A4}"/>
    <dgm:cxn modelId="{08B6FDD6-212D-BE41-A2CD-0E7B73EAE626}" type="presParOf" srcId="{73235972-8425-5D4B-A53F-68D6C416BBE0}" destId="{C5656A97-163C-4940-86D5-424F7FA099EF}" srcOrd="0" destOrd="0" presId="urn:microsoft.com/office/officeart/2005/8/layout/hList1"/>
    <dgm:cxn modelId="{D455FFF7-FAF4-B04B-AAC0-299B95B9314B}" type="presParOf" srcId="{C5656A97-163C-4940-86D5-424F7FA099EF}" destId="{335A8E02-0D51-7848-96B3-D01F3DE21DC6}" srcOrd="0" destOrd="0" presId="urn:microsoft.com/office/officeart/2005/8/layout/hList1"/>
    <dgm:cxn modelId="{B5980209-D5C4-CC44-8182-877EC748F340}" type="presParOf" srcId="{C5656A97-163C-4940-86D5-424F7FA099EF}" destId="{ABEC649D-BFBA-6042-910B-F6E040BC4BB5}" srcOrd="1" destOrd="0" presId="urn:microsoft.com/office/officeart/2005/8/layout/hList1"/>
    <dgm:cxn modelId="{22D28357-9B83-F64E-9EF5-6EE780A57EDB}" type="presParOf" srcId="{73235972-8425-5D4B-A53F-68D6C416BBE0}" destId="{D2D62859-6205-244E-9850-DEECFD7546D4}" srcOrd="1" destOrd="0" presId="urn:microsoft.com/office/officeart/2005/8/layout/hList1"/>
    <dgm:cxn modelId="{55B08F31-0218-EC45-A073-26B7AB4FDC7E}" type="presParOf" srcId="{73235972-8425-5D4B-A53F-68D6C416BBE0}" destId="{EFAB2A7E-543E-5848-85CF-AFD5A6024562}" srcOrd="2" destOrd="0" presId="urn:microsoft.com/office/officeart/2005/8/layout/hList1"/>
    <dgm:cxn modelId="{3939A134-3622-EC48-8942-9CDB244AD4B3}" type="presParOf" srcId="{EFAB2A7E-543E-5848-85CF-AFD5A6024562}" destId="{4C8DCBDC-F299-D240-89B8-E3D0175E863F}" srcOrd="0" destOrd="0" presId="urn:microsoft.com/office/officeart/2005/8/layout/hList1"/>
    <dgm:cxn modelId="{E2F45BD6-4D73-D347-A4C9-9692BD13672B}" type="presParOf" srcId="{EFAB2A7E-543E-5848-85CF-AFD5A6024562}" destId="{0AD8B1D1-10E2-9D48-BEB4-A0F1AB70C28C}" srcOrd="1" destOrd="0" presId="urn:microsoft.com/office/officeart/2005/8/layout/hList1"/>
    <dgm:cxn modelId="{F91C74C4-C391-6540-8610-F119D9F9574B}" type="presParOf" srcId="{73235972-8425-5D4B-A53F-68D6C416BBE0}" destId="{586D93A7-DCB1-B84C-A271-EDB48BDAE865}" srcOrd="3" destOrd="0" presId="urn:microsoft.com/office/officeart/2005/8/layout/hList1"/>
    <dgm:cxn modelId="{4BEDD2B8-13D4-8E4D-92A5-619B8D7C12F6}" type="presParOf" srcId="{73235972-8425-5D4B-A53F-68D6C416BBE0}" destId="{103924BA-352C-5848-9B0A-6627DC24B5A5}" srcOrd="4" destOrd="0" presId="urn:microsoft.com/office/officeart/2005/8/layout/hList1"/>
    <dgm:cxn modelId="{6225D481-6377-8B44-80F1-AD35D84196C5}" type="presParOf" srcId="{103924BA-352C-5848-9B0A-6627DC24B5A5}" destId="{71789C14-D170-EE40-B186-0F81A3724F13}" srcOrd="0" destOrd="0" presId="urn:microsoft.com/office/officeart/2005/8/layout/hList1"/>
    <dgm:cxn modelId="{F42FD62F-6945-0C44-8CF6-DBFFCA3A1426}" type="presParOf" srcId="{103924BA-352C-5848-9B0A-6627DC24B5A5}" destId="{F461D04A-C60C-B04C-A0AA-96FA932F3FF5}" srcOrd="1" destOrd="0" presId="urn:microsoft.com/office/officeart/2005/8/layout/hList1"/>
    <dgm:cxn modelId="{E81ED24A-2238-F443-8AEC-D63CF3DE99A3}" type="presParOf" srcId="{73235972-8425-5D4B-A53F-68D6C416BBE0}" destId="{57D2DE5E-D982-1D45-826D-C1F9B7CFCC87}" srcOrd="5" destOrd="0" presId="urn:microsoft.com/office/officeart/2005/8/layout/hList1"/>
    <dgm:cxn modelId="{E6F37856-BD42-014A-8F1A-2B1FDDDEFE30}" type="presParOf" srcId="{73235972-8425-5D4B-A53F-68D6C416BBE0}" destId="{B8476FDE-63C0-0E40-ADF6-0EF60EEA0F22}" srcOrd="6" destOrd="0" presId="urn:microsoft.com/office/officeart/2005/8/layout/hList1"/>
    <dgm:cxn modelId="{08F881FB-BF7E-F84B-A12A-56E5E5C36111}" type="presParOf" srcId="{B8476FDE-63C0-0E40-ADF6-0EF60EEA0F22}" destId="{8AF27496-FD7C-D84A-B995-10CCBE22E95E}" srcOrd="0" destOrd="0" presId="urn:microsoft.com/office/officeart/2005/8/layout/hList1"/>
    <dgm:cxn modelId="{22C94C88-69B0-7642-8020-2FFB497D1F5E}" type="presParOf" srcId="{B8476FDE-63C0-0E40-ADF6-0EF60EEA0F22}" destId="{2EAC129C-2FD9-404B-B0AA-2D533E7A148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ADE96E-EFEF-1C48-BC39-A98B3C803572}" type="doc">
      <dgm:prSet loTypeId="urn:microsoft.com/office/officeart/2005/8/layout/hList1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E378D4-3400-1A4C-ACA0-D9B41653D175}">
      <dgm:prSet phldrT="[Text]"/>
      <dgm:spPr/>
      <dgm:t>
        <a:bodyPr/>
        <a:lstStyle/>
        <a:p>
          <a:r>
            <a:rPr lang="en-US" dirty="0"/>
            <a:t>Effects of noncoding DNA on gene expression</a:t>
          </a:r>
        </a:p>
      </dgm:t>
    </dgm:pt>
    <dgm:pt modelId="{7397B4C1-13D2-8E49-85AB-745ECBD42EAF}" type="parTrans" cxnId="{635713FD-8B63-C94C-80EB-F5D12A3038A9}">
      <dgm:prSet/>
      <dgm:spPr/>
      <dgm:t>
        <a:bodyPr/>
        <a:lstStyle/>
        <a:p>
          <a:endParaRPr lang="en-US"/>
        </a:p>
      </dgm:t>
    </dgm:pt>
    <dgm:pt modelId="{B4CEF98B-46DD-ED43-9E3B-ECD140DCCCC3}" type="sibTrans" cxnId="{635713FD-8B63-C94C-80EB-F5D12A3038A9}">
      <dgm:prSet/>
      <dgm:spPr/>
      <dgm:t>
        <a:bodyPr/>
        <a:lstStyle/>
        <a:p>
          <a:endParaRPr lang="en-US"/>
        </a:p>
      </dgm:t>
    </dgm:pt>
    <dgm:pt modelId="{22967A0F-923B-BB43-92A3-A45BAD9BB38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DNABERT</a:t>
          </a:r>
          <a:r>
            <a:rPr lang="en-US" dirty="0"/>
            <a:t> captures transferrable understanding of genomic DNA sequences based on up and downstream nucleotide contexts
Predicts promoters, splice sites and TFBS, after fine-tuning using </a:t>
          </a:r>
          <a:r>
            <a:rPr lang="en-US" u="none" dirty="0"/>
            <a:t>small task-specific labeled data</a:t>
          </a:r>
        </a:p>
      </dgm:t>
    </dgm:pt>
    <dgm:pt modelId="{1DF26961-3091-D84B-B0E9-67D8E7C07081}" type="parTrans" cxnId="{6FCE1422-398D-8B4E-B040-61212F9846E8}">
      <dgm:prSet/>
      <dgm:spPr/>
      <dgm:t>
        <a:bodyPr/>
        <a:lstStyle/>
        <a:p>
          <a:endParaRPr lang="en-US"/>
        </a:p>
      </dgm:t>
    </dgm:pt>
    <dgm:pt modelId="{9609349F-FD1F-C34A-A86F-BF9B7CDFF6FC}" type="sibTrans" cxnId="{6FCE1422-398D-8B4E-B040-61212F9846E8}">
      <dgm:prSet/>
      <dgm:spPr/>
      <dgm:t>
        <a:bodyPr/>
        <a:lstStyle/>
        <a:p>
          <a:endParaRPr lang="en-US"/>
        </a:p>
      </dgm:t>
    </dgm:pt>
    <dgm:pt modelId="{C2CF4168-5158-9240-B0A0-582670047138}">
      <dgm:prSet phldrT="[Text]"/>
      <dgm:spPr/>
      <dgm:t>
        <a:bodyPr/>
        <a:lstStyle/>
        <a:p>
          <a:r>
            <a:rPr lang="en-US" dirty="0"/>
            <a:t>Repurposing of existing drugs</a:t>
          </a:r>
        </a:p>
      </dgm:t>
    </dgm:pt>
    <dgm:pt modelId="{CF5FB010-F5B1-B849-8840-0CE5F7FE67E4}" type="parTrans" cxnId="{CC054348-F9C3-154C-ACA2-52AE05F224DE}">
      <dgm:prSet/>
      <dgm:spPr/>
      <dgm:t>
        <a:bodyPr/>
        <a:lstStyle/>
        <a:p>
          <a:endParaRPr lang="en-US"/>
        </a:p>
      </dgm:t>
    </dgm:pt>
    <dgm:pt modelId="{BDD0DAB5-4A7F-5F4A-9AF6-C94FA43B2A90}" type="sibTrans" cxnId="{CC054348-F9C3-154C-ACA2-52AE05F224DE}">
      <dgm:prSet/>
      <dgm:spPr/>
      <dgm:t>
        <a:bodyPr/>
        <a:lstStyle/>
        <a:p>
          <a:endParaRPr lang="en-US"/>
        </a:p>
      </dgm:t>
    </dgm:pt>
    <dgm:pt modelId="{97DDA9D5-622E-B444-967C-FCFFDB6AB073}">
      <dgm:prSet phldrT="[Text]"/>
      <dgm:spPr/>
      <dgm:t>
        <a:bodyPr/>
        <a:lstStyle/>
        <a:p>
          <a:r>
            <a:rPr lang="en-US" dirty="0"/>
            <a:t>Tissue-specific gene network dynamics</a:t>
          </a:r>
        </a:p>
      </dgm:t>
    </dgm:pt>
    <dgm:pt modelId="{A3E66D0D-D54C-AE49-B227-EEC0DB9140AC}" type="parTrans" cxnId="{BE5E42AF-4B0D-D544-98E7-68CB4689EB9D}">
      <dgm:prSet/>
      <dgm:spPr/>
      <dgm:t>
        <a:bodyPr/>
        <a:lstStyle/>
        <a:p>
          <a:endParaRPr lang="en-US"/>
        </a:p>
      </dgm:t>
    </dgm:pt>
    <dgm:pt modelId="{65C25D28-5C64-CD44-8680-DB2B93154480}" type="sibTrans" cxnId="{BE5E42AF-4B0D-D544-98E7-68CB4689EB9D}">
      <dgm:prSet/>
      <dgm:spPr/>
      <dgm:t>
        <a:bodyPr/>
        <a:lstStyle/>
        <a:p>
          <a:endParaRPr lang="en-US"/>
        </a:p>
      </dgm:t>
    </dgm:pt>
    <dgm:pt modelId="{7850E93A-4F3E-5C44-9E92-A9CBAECB7AD9}">
      <dgm:prSet phldrT="[Text]"/>
      <dgm:spPr/>
      <dgm:t>
        <a:bodyPr/>
        <a:lstStyle/>
        <a:p>
          <a:pPr rtl="0"/>
          <a:r>
            <a:rPr lang="en-US" b="1" dirty="0" err="1"/>
            <a:t>Geneformer</a:t>
          </a:r>
          <a:r>
            <a:rPr lang="en-US" dirty="0"/>
            <a:t> make predictions about tissue-specific gene network dynamics from </a:t>
          </a:r>
          <a:r>
            <a:rPr lang="en-US" dirty="0" err="1"/>
            <a:t>scRNA</a:t>
          </a:r>
          <a:r>
            <a:rPr lang="en-US" dirty="0"/>
            <a:t> data
Obtains insights with </a:t>
          </a:r>
          <a:r>
            <a:rPr lang="en-US" i="0" u="sng" dirty="0"/>
            <a:t>limited data</a:t>
          </a:r>
          <a:r>
            <a:rPr lang="en-US" dirty="0"/>
            <a:t>, like rare diseases and difficult-to-access tissues due to transfer learning</a:t>
          </a:r>
        </a:p>
      </dgm:t>
    </dgm:pt>
    <dgm:pt modelId="{7C5782EB-619A-9B4A-A9EC-19F134D0712B}" type="parTrans" cxnId="{706899BA-73E9-D848-91AC-60C231C8E30E}">
      <dgm:prSet/>
      <dgm:spPr/>
      <dgm:t>
        <a:bodyPr/>
        <a:lstStyle/>
        <a:p>
          <a:endParaRPr lang="en-US"/>
        </a:p>
      </dgm:t>
    </dgm:pt>
    <dgm:pt modelId="{F50C6662-BF79-9B47-84D3-A6C8F457DB2B}" type="sibTrans" cxnId="{706899BA-73E9-D848-91AC-60C231C8E30E}">
      <dgm:prSet/>
      <dgm:spPr/>
      <dgm:t>
        <a:bodyPr/>
        <a:lstStyle/>
        <a:p>
          <a:endParaRPr lang="en-US"/>
        </a:p>
      </dgm:t>
    </dgm:pt>
    <dgm:pt modelId="{753C77E1-17F2-4F42-B2D0-70AE58470A50}">
      <dgm:prSet phldrT="[Text]"/>
      <dgm:spPr/>
      <dgm:t>
        <a:bodyPr/>
        <a:lstStyle/>
        <a:p>
          <a:r>
            <a:rPr lang="en-US" dirty="0" err="1"/>
            <a:t>TxGNN</a:t>
          </a:r>
          <a:r>
            <a:rPr lang="en-US" dirty="0"/>
            <a:t> trained on a medical knowledge graph to identify potential new purposes for existing drugs</a:t>
          </a:r>
        </a:p>
      </dgm:t>
    </dgm:pt>
    <dgm:pt modelId="{057CABC8-F5DB-A942-A413-F53832706722}" type="parTrans" cxnId="{8619F342-A72C-F949-BE78-42181EF76F26}">
      <dgm:prSet/>
      <dgm:spPr/>
      <dgm:t>
        <a:bodyPr/>
        <a:lstStyle/>
        <a:p>
          <a:endParaRPr lang="en-US"/>
        </a:p>
      </dgm:t>
    </dgm:pt>
    <dgm:pt modelId="{7B8448BD-C7CB-CB41-9FBA-8DD4FC61002C}" type="sibTrans" cxnId="{8619F342-A72C-F949-BE78-42181EF76F26}">
      <dgm:prSet/>
      <dgm:spPr/>
      <dgm:t>
        <a:bodyPr/>
        <a:lstStyle/>
        <a:p>
          <a:endParaRPr lang="en-US"/>
        </a:p>
      </dgm:t>
    </dgm:pt>
    <dgm:pt modelId="{6DDCCF6D-788F-A045-A4C1-8ABFF6A04458}">
      <dgm:prSet phldrT="[Text]"/>
      <dgm:spPr/>
      <dgm:t>
        <a:bodyPr/>
        <a:lstStyle/>
        <a:p>
          <a:pPr rtl="0"/>
          <a:r>
            <a:rPr lang="en-US" dirty="0"/>
            <a:t>Predictions aligns with current off-label practice, offering a promising exploratory tool for expanding drug indications.</a:t>
          </a:r>
        </a:p>
      </dgm:t>
    </dgm:pt>
    <dgm:pt modelId="{ED571A44-41B2-D64F-BF56-5400B220FCDF}" type="parTrans" cxnId="{D6D8A920-08BC-F446-B2BF-59A4F7F9FC87}">
      <dgm:prSet/>
      <dgm:spPr/>
      <dgm:t>
        <a:bodyPr/>
        <a:lstStyle/>
        <a:p>
          <a:endParaRPr lang="en-US"/>
        </a:p>
      </dgm:t>
    </dgm:pt>
    <dgm:pt modelId="{F2E52823-A4D7-AB4B-9D26-00CFB70FE11D}" type="sibTrans" cxnId="{D6D8A920-08BC-F446-B2BF-59A4F7F9FC87}">
      <dgm:prSet/>
      <dgm:spPr/>
      <dgm:t>
        <a:bodyPr/>
        <a:lstStyle/>
        <a:p>
          <a:endParaRPr lang="en-US"/>
        </a:p>
      </dgm:t>
    </dgm:pt>
    <dgm:pt modelId="{FA2CE277-DB93-F149-B6BF-B1715597F122}">
      <dgm:prSet phldrT="[Text]"/>
      <dgm:spPr/>
      <dgm:t>
        <a:bodyPr/>
        <a:lstStyle/>
        <a:p>
          <a:pPr rtl="0"/>
          <a:r>
            <a:rPr lang="en-US" dirty="0"/>
            <a:t>Mutation Prediction</a:t>
          </a:r>
        </a:p>
      </dgm:t>
    </dgm:pt>
    <dgm:pt modelId="{84136A08-32EF-FF4B-B700-B82289E36F9B}" type="parTrans" cxnId="{B251261D-11BD-5A4A-82EC-945C2A2F73A1}">
      <dgm:prSet/>
      <dgm:spPr/>
      <dgm:t>
        <a:bodyPr/>
        <a:lstStyle/>
        <a:p>
          <a:endParaRPr lang="en-US"/>
        </a:p>
      </dgm:t>
    </dgm:pt>
    <dgm:pt modelId="{85348247-11CE-4F48-B431-7A15D4779980}" type="sibTrans" cxnId="{B251261D-11BD-5A4A-82EC-945C2A2F73A1}">
      <dgm:prSet/>
      <dgm:spPr/>
      <dgm:t>
        <a:bodyPr/>
        <a:lstStyle/>
        <a:p>
          <a:endParaRPr lang="en-US"/>
        </a:p>
      </dgm:t>
    </dgm:pt>
    <dgm:pt modelId="{FC0FE8B4-C00E-E54F-BA44-CE01F39999A6}">
      <dgm:prSet phldrT="[Text]"/>
      <dgm:spPr/>
      <dgm:t>
        <a:bodyPr/>
        <a:lstStyle/>
        <a:p>
          <a:pPr rtl="0"/>
          <a:r>
            <a:rPr lang="en-US" dirty="0"/>
            <a:t>Evo2 achieves &gt;0.87 AUROC (state-of-the-art) in zero-shot variant prediction for BRCA1</a:t>
          </a:r>
        </a:p>
      </dgm:t>
    </dgm:pt>
    <dgm:pt modelId="{54A7B0D3-FCBA-A241-8CF8-2036FEB23BF4}" type="parTrans" cxnId="{17187FA1-9E0C-4944-A93C-66F8FA34C7C7}">
      <dgm:prSet/>
      <dgm:spPr/>
      <dgm:t>
        <a:bodyPr/>
        <a:lstStyle/>
        <a:p>
          <a:endParaRPr lang="en-US"/>
        </a:p>
      </dgm:t>
    </dgm:pt>
    <dgm:pt modelId="{592F1D03-A74A-A540-AE90-AF5BC91B8101}" type="sibTrans" cxnId="{17187FA1-9E0C-4944-A93C-66F8FA34C7C7}">
      <dgm:prSet/>
      <dgm:spPr/>
      <dgm:t>
        <a:bodyPr/>
        <a:lstStyle/>
        <a:p>
          <a:endParaRPr lang="en-US"/>
        </a:p>
      </dgm:t>
    </dgm:pt>
    <dgm:pt modelId="{353931E3-E8F7-844F-9435-D72C88947856}">
      <dgm:prSet phldrT="[Text]"/>
      <dgm:spPr/>
      <dgm:t>
        <a:bodyPr/>
        <a:lstStyle/>
        <a:p>
          <a:pPr rtl="0"/>
          <a:r>
            <a:rPr lang="en-US" dirty="0"/>
            <a:t>Capable of designing entire genomes, including mitochondrial DNA and bacterial genomes, with realistic gene structures and regulatory elements</a:t>
          </a:r>
        </a:p>
      </dgm:t>
    </dgm:pt>
    <dgm:pt modelId="{08FE2C03-28A5-FE48-B4D9-9C7E40B6D27C}" type="parTrans" cxnId="{DE6AD452-8D1C-0448-B1FD-58B86E277227}">
      <dgm:prSet/>
      <dgm:spPr/>
      <dgm:t>
        <a:bodyPr/>
        <a:lstStyle/>
        <a:p>
          <a:endParaRPr lang="en-US"/>
        </a:p>
      </dgm:t>
    </dgm:pt>
    <dgm:pt modelId="{6658ADDA-0C21-FD4A-8479-90D9AF2DB8ED}" type="sibTrans" cxnId="{DE6AD452-8D1C-0448-B1FD-58B86E277227}">
      <dgm:prSet/>
      <dgm:spPr/>
      <dgm:t>
        <a:bodyPr/>
        <a:lstStyle/>
        <a:p>
          <a:endParaRPr lang="en-US"/>
        </a:p>
      </dgm:t>
    </dgm:pt>
    <dgm:pt modelId="{4FC2892E-AC2B-0841-A3C0-39A54CAE61FC}" type="pres">
      <dgm:prSet presAssocID="{96ADE96E-EFEF-1C48-BC39-A98B3C803572}" presName="Name0" presStyleCnt="0">
        <dgm:presLayoutVars>
          <dgm:dir/>
          <dgm:animLvl val="lvl"/>
          <dgm:resizeHandles val="exact"/>
        </dgm:presLayoutVars>
      </dgm:prSet>
      <dgm:spPr/>
    </dgm:pt>
    <dgm:pt modelId="{0EDF6F78-6DBA-E945-8B9D-0AC97CD2EA79}" type="pres">
      <dgm:prSet presAssocID="{8FE378D4-3400-1A4C-ACA0-D9B41653D175}" presName="composite" presStyleCnt="0"/>
      <dgm:spPr/>
    </dgm:pt>
    <dgm:pt modelId="{48DC86B0-4E80-9344-B617-AA61F5F1A7B2}" type="pres">
      <dgm:prSet presAssocID="{8FE378D4-3400-1A4C-ACA0-D9B41653D17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9EC0FA6-6D2A-154A-8321-37CE7903AC1D}" type="pres">
      <dgm:prSet presAssocID="{8FE378D4-3400-1A4C-ACA0-D9B41653D175}" presName="desTx" presStyleLbl="alignAccFollowNode1" presStyleIdx="0" presStyleCnt="4">
        <dgm:presLayoutVars>
          <dgm:bulletEnabled val="1"/>
        </dgm:presLayoutVars>
      </dgm:prSet>
      <dgm:spPr/>
    </dgm:pt>
    <dgm:pt modelId="{EC662A92-6A91-E948-AA82-0D9D8F9913DC}" type="pres">
      <dgm:prSet presAssocID="{B4CEF98B-46DD-ED43-9E3B-ECD140DCCCC3}" presName="space" presStyleCnt="0"/>
      <dgm:spPr/>
    </dgm:pt>
    <dgm:pt modelId="{AE1B14B2-AE89-B24C-BA85-16CCBEAE6217}" type="pres">
      <dgm:prSet presAssocID="{C2CF4168-5158-9240-B0A0-582670047138}" presName="composite" presStyleCnt="0"/>
      <dgm:spPr/>
    </dgm:pt>
    <dgm:pt modelId="{4A8021B2-6493-1445-B0E3-8B96A9608741}" type="pres">
      <dgm:prSet presAssocID="{C2CF4168-5158-9240-B0A0-58267004713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7B7E2E80-E657-C241-BD7F-4711EF517187}" type="pres">
      <dgm:prSet presAssocID="{C2CF4168-5158-9240-B0A0-582670047138}" presName="desTx" presStyleLbl="alignAccFollowNode1" presStyleIdx="1" presStyleCnt="4">
        <dgm:presLayoutVars>
          <dgm:bulletEnabled val="1"/>
        </dgm:presLayoutVars>
      </dgm:prSet>
      <dgm:spPr/>
    </dgm:pt>
    <dgm:pt modelId="{C86721E0-C73E-2746-AF65-8400DBED95BA}" type="pres">
      <dgm:prSet presAssocID="{BDD0DAB5-4A7F-5F4A-9AF6-C94FA43B2A90}" presName="space" presStyleCnt="0"/>
      <dgm:spPr/>
    </dgm:pt>
    <dgm:pt modelId="{9A3A5423-6953-0648-B877-B5174AA8B57F}" type="pres">
      <dgm:prSet presAssocID="{97DDA9D5-622E-B444-967C-FCFFDB6AB073}" presName="composite" presStyleCnt="0"/>
      <dgm:spPr/>
    </dgm:pt>
    <dgm:pt modelId="{3945EC42-A062-0744-A47A-48C193DF9F9F}" type="pres">
      <dgm:prSet presAssocID="{97DDA9D5-622E-B444-967C-FCFFDB6AB07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501F76F4-A447-C24A-81A4-BE6A1F2789BB}" type="pres">
      <dgm:prSet presAssocID="{97DDA9D5-622E-B444-967C-FCFFDB6AB073}" presName="desTx" presStyleLbl="alignAccFollowNode1" presStyleIdx="2" presStyleCnt="4">
        <dgm:presLayoutVars>
          <dgm:bulletEnabled val="1"/>
        </dgm:presLayoutVars>
      </dgm:prSet>
      <dgm:spPr/>
    </dgm:pt>
    <dgm:pt modelId="{7CEE9CB9-7BF4-464C-8648-3F2C083CC035}" type="pres">
      <dgm:prSet presAssocID="{65C25D28-5C64-CD44-8680-DB2B93154480}" presName="space" presStyleCnt="0"/>
      <dgm:spPr/>
    </dgm:pt>
    <dgm:pt modelId="{03E46769-FF77-3E48-AA98-087AEB989C6F}" type="pres">
      <dgm:prSet presAssocID="{FA2CE277-DB93-F149-B6BF-B1715597F122}" presName="composite" presStyleCnt="0"/>
      <dgm:spPr/>
    </dgm:pt>
    <dgm:pt modelId="{64DF03D9-CF17-2E43-A5B0-69A05C2B8414}" type="pres">
      <dgm:prSet presAssocID="{FA2CE277-DB93-F149-B6BF-B1715597F12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A341A50-6EE4-3E44-8FEC-5D3AE3FF618E}" type="pres">
      <dgm:prSet presAssocID="{FA2CE277-DB93-F149-B6BF-B1715597F122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0D35080E-3C8B-D047-96CA-3153987C0D55}" type="presOf" srcId="{753C77E1-17F2-4F42-B2D0-70AE58470A50}" destId="{7B7E2E80-E657-C241-BD7F-4711EF517187}" srcOrd="0" destOrd="0" presId="urn:microsoft.com/office/officeart/2005/8/layout/hList1"/>
    <dgm:cxn modelId="{B251261D-11BD-5A4A-82EC-945C2A2F73A1}" srcId="{96ADE96E-EFEF-1C48-BC39-A98B3C803572}" destId="{FA2CE277-DB93-F149-B6BF-B1715597F122}" srcOrd="3" destOrd="0" parTransId="{84136A08-32EF-FF4B-B700-B82289E36F9B}" sibTransId="{85348247-11CE-4F48-B431-7A15D4779980}"/>
    <dgm:cxn modelId="{D6D8A920-08BC-F446-B2BF-59A4F7F9FC87}" srcId="{C2CF4168-5158-9240-B0A0-582670047138}" destId="{6DDCCF6D-788F-A045-A4C1-8ABFF6A04458}" srcOrd="1" destOrd="0" parTransId="{ED571A44-41B2-D64F-BF56-5400B220FCDF}" sibTransId="{F2E52823-A4D7-AB4B-9D26-00CFB70FE11D}"/>
    <dgm:cxn modelId="{6FCE1422-398D-8B4E-B040-61212F9846E8}" srcId="{8FE378D4-3400-1A4C-ACA0-D9B41653D175}" destId="{22967A0F-923B-BB43-92A3-A45BAD9BB38C}" srcOrd="0" destOrd="0" parTransId="{1DF26961-3091-D84B-B0E9-67D8E7C07081}" sibTransId="{9609349F-FD1F-C34A-A86F-BF9B7CDFF6FC}"/>
    <dgm:cxn modelId="{8619F342-A72C-F949-BE78-42181EF76F26}" srcId="{C2CF4168-5158-9240-B0A0-582670047138}" destId="{753C77E1-17F2-4F42-B2D0-70AE58470A50}" srcOrd="0" destOrd="0" parTransId="{057CABC8-F5DB-A942-A413-F53832706722}" sibTransId="{7B8448BD-C7CB-CB41-9FBA-8DD4FC61002C}"/>
    <dgm:cxn modelId="{45FE5447-68C8-4D4A-8877-DFC60B6F59CC}" type="presOf" srcId="{97DDA9D5-622E-B444-967C-FCFFDB6AB073}" destId="{3945EC42-A062-0744-A47A-48C193DF9F9F}" srcOrd="0" destOrd="0" presId="urn:microsoft.com/office/officeart/2005/8/layout/hList1"/>
    <dgm:cxn modelId="{CC054348-F9C3-154C-ACA2-52AE05F224DE}" srcId="{96ADE96E-EFEF-1C48-BC39-A98B3C803572}" destId="{C2CF4168-5158-9240-B0A0-582670047138}" srcOrd="1" destOrd="0" parTransId="{CF5FB010-F5B1-B849-8840-0CE5F7FE67E4}" sibTransId="{BDD0DAB5-4A7F-5F4A-9AF6-C94FA43B2A90}"/>
    <dgm:cxn modelId="{0873F44F-7817-764C-89EA-8A83BC376559}" type="presOf" srcId="{7850E93A-4F3E-5C44-9E92-A9CBAECB7AD9}" destId="{501F76F4-A447-C24A-81A4-BE6A1F2789BB}" srcOrd="0" destOrd="0" presId="urn:microsoft.com/office/officeart/2005/8/layout/hList1"/>
    <dgm:cxn modelId="{DE6AD452-8D1C-0448-B1FD-58B86E277227}" srcId="{FA2CE277-DB93-F149-B6BF-B1715597F122}" destId="{353931E3-E8F7-844F-9435-D72C88947856}" srcOrd="1" destOrd="0" parTransId="{08FE2C03-28A5-FE48-B4D9-9C7E40B6D27C}" sibTransId="{6658ADDA-0C21-FD4A-8479-90D9AF2DB8ED}"/>
    <dgm:cxn modelId="{8FC09971-25A2-AA4D-9FDF-AA1F51B72B95}" type="presOf" srcId="{6DDCCF6D-788F-A045-A4C1-8ABFF6A04458}" destId="{7B7E2E80-E657-C241-BD7F-4711EF517187}" srcOrd="0" destOrd="1" presId="urn:microsoft.com/office/officeart/2005/8/layout/hList1"/>
    <dgm:cxn modelId="{4F4AFB73-71F8-6440-B16A-77CC6797295C}" type="presOf" srcId="{8FE378D4-3400-1A4C-ACA0-D9B41653D175}" destId="{48DC86B0-4E80-9344-B617-AA61F5F1A7B2}" srcOrd="0" destOrd="0" presId="urn:microsoft.com/office/officeart/2005/8/layout/hList1"/>
    <dgm:cxn modelId="{5DB60285-42B9-364F-8E13-5F8B4231B862}" type="presOf" srcId="{22967A0F-923B-BB43-92A3-A45BAD9BB38C}" destId="{E9EC0FA6-6D2A-154A-8321-37CE7903AC1D}" srcOrd="0" destOrd="0" presId="urn:microsoft.com/office/officeart/2005/8/layout/hList1"/>
    <dgm:cxn modelId="{0D5A7289-C8F2-2544-A6F7-2CDD9E2857C9}" type="presOf" srcId="{FC0FE8B4-C00E-E54F-BA44-CE01F39999A6}" destId="{5A341A50-6EE4-3E44-8FEC-5D3AE3FF618E}" srcOrd="0" destOrd="0" presId="urn:microsoft.com/office/officeart/2005/8/layout/hList1"/>
    <dgm:cxn modelId="{4E321391-F97A-BE4F-84E3-38F3FF4EB7FB}" type="presOf" srcId="{FA2CE277-DB93-F149-B6BF-B1715597F122}" destId="{64DF03D9-CF17-2E43-A5B0-69A05C2B8414}" srcOrd="0" destOrd="0" presId="urn:microsoft.com/office/officeart/2005/8/layout/hList1"/>
    <dgm:cxn modelId="{17187FA1-9E0C-4944-A93C-66F8FA34C7C7}" srcId="{FA2CE277-DB93-F149-B6BF-B1715597F122}" destId="{FC0FE8B4-C00E-E54F-BA44-CE01F39999A6}" srcOrd="0" destOrd="0" parTransId="{54A7B0D3-FCBA-A241-8CF8-2036FEB23BF4}" sibTransId="{592F1D03-A74A-A540-AE90-AF5BC91B8101}"/>
    <dgm:cxn modelId="{BE5E42AF-4B0D-D544-98E7-68CB4689EB9D}" srcId="{96ADE96E-EFEF-1C48-BC39-A98B3C803572}" destId="{97DDA9D5-622E-B444-967C-FCFFDB6AB073}" srcOrd="2" destOrd="0" parTransId="{A3E66D0D-D54C-AE49-B227-EEC0DB9140AC}" sibTransId="{65C25D28-5C64-CD44-8680-DB2B93154480}"/>
    <dgm:cxn modelId="{EC1A97B5-CD60-9144-8508-92C8DDB70E93}" type="presOf" srcId="{C2CF4168-5158-9240-B0A0-582670047138}" destId="{4A8021B2-6493-1445-B0E3-8B96A9608741}" srcOrd="0" destOrd="0" presId="urn:microsoft.com/office/officeart/2005/8/layout/hList1"/>
    <dgm:cxn modelId="{706899BA-73E9-D848-91AC-60C231C8E30E}" srcId="{97DDA9D5-622E-B444-967C-FCFFDB6AB073}" destId="{7850E93A-4F3E-5C44-9E92-A9CBAECB7AD9}" srcOrd="0" destOrd="0" parTransId="{7C5782EB-619A-9B4A-A9EC-19F134D0712B}" sibTransId="{F50C6662-BF79-9B47-84D3-A6C8F457DB2B}"/>
    <dgm:cxn modelId="{296B22E0-2A69-B94D-B145-4C3E6BA44794}" type="presOf" srcId="{96ADE96E-EFEF-1C48-BC39-A98B3C803572}" destId="{4FC2892E-AC2B-0841-A3C0-39A54CAE61FC}" srcOrd="0" destOrd="0" presId="urn:microsoft.com/office/officeart/2005/8/layout/hList1"/>
    <dgm:cxn modelId="{6CB714FC-9CE8-B442-88B0-614FE56356B6}" type="presOf" srcId="{353931E3-E8F7-844F-9435-D72C88947856}" destId="{5A341A50-6EE4-3E44-8FEC-5D3AE3FF618E}" srcOrd="0" destOrd="1" presId="urn:microsoft.com/office/officeart/2005/8/layout/hList1"/>
    <dgm:cxn modelId="{635713FD-8B63-C94C-80EB-F5D12A3038A9}" srcId="{96ADE96E-EFEF-1C48-BC39-A98B3C803572}" destId="{8FE378D4-3400-1A4C-ACA0-D9B41653D175}" srcOrd="0" destOrd="0" parTransId="{7397B4C1-13D2-8E49-85AB-745ECBD42EAF}" sibTransId="{B4CEF98B-46DD-ED43-9E3B-ECD140DCCCC3}"/>
    <dgm:cxn modelId="{9472C5A2-59CE-8E4D-A526-03178EEF6C49}" type="presParOf" srcId="{4FC2892E-AC2B-0841-A3C0-39A54CAE61FC}" destId="{0EDF6F78-6DBA-E945-8B9D-0AC97CD2EA79}" srcOrd="0" destOrd="0" presId="urn:microsoft.com/office/officeart/2005/8/layout/hList1"/>
    <dgm:cxn modelId="{F8C187B1-88BC-4549-B867-DCCDA1FF8945}" type="presParOf" srcId="{0EDF6F78-6DBA-E945-8B9D-0AC97CD2EA79}" destId="{48DC86B0-4E80-9344-B617-AA61F5F1A7B2}" srcOrd="0" destOrd="0" presId="urn:microsoft.com/office/officeart/2005/8/layout/hList1"/>
    <dgm:cxn modelId="{6CC233FC-2BBB-694A-AE37-FA1281F5EFA9}" type="presParOf" srcId="{0EDF6F78-6DBA-E945-8B9D-0AC97CD2EA79}" destId="{E9EC0FA6-6D2A-154A-8321-37CE7903AC1D}" srcOrd="1" destOrd="0" presId="urn:microsoft.com/office/officeart/2005/8/layout/hList1"/>
    <dgm:cxn modelId="{785B8FCE-3E66-A345-8B06-C751914E4D41}" type="presParOf" srcId="{4FC2892E-AC2B-0841-A3C0-39A54CAE61FC}" destId="{EC662A92-6A91-E948-AA82-0D9D8F9913DC}" srcOrd="1" destOrd="0" presId="urn:microsoft.com/office/officeart/2005/8/layout/hList1"/>
    <dgm:cxn modelId="{F34A8AD2-DBA8-974D-876B-73D68B234707}" type="presParOf" srcId="{4FC2892E-AC2B-0841-A3C0-39A54CAE61FC}" destId="{AE1B14B2-AE89-B24C-BA85-16CCBEAE6217}" srcOrd="2" destOrd="0" presId="urn:microsoft.com/office/officeart/2005/8/layout/hList1"/>
    <dgm:cxn modelId="{3825A65F-2774-FC4B-BB86-05991EDE8079}" type="presParOf" srcId="{AE1B14B2-AE89-B24C-BA85-16CCBEAE6217}" destId="{4A8021B2-6493-1445-B0E3-8B96A9608741}" srcOrd="0" destOrd="0" presId="urn:microsoft.com/office/officeart/2005/8/layout/hList1"/>
    <dgm:cxn modelId="{C74B8FA5-C817-8749-87ED-EA8EF3F6C10A}" type="presParOf" srcId="{AE1B14B2-AE89-B24C-BA85-16CCBEAE6217}" destId="{7B7E2E80-E657-C241-BD7F-4711EF517187}" srcOrd="1" destOrd="0" presId="urn:microsoft.com/office/officeart/2005/8/layout/hList1"/>
    <dgm:cxn modelId="{10C73C24-AAE1-F14D-831A-9B73C08808D0}" type="presParOf" srcId="{4FC2892E-AC2B-0841-A3C0-39A54CAE61FC}" destId="{C86721E0-C73E-2746-AF65-8400DBED95BA}" srcOrd="3" destOrd="0" presId="urn:microsoft.com/office/officeart/2005/8/layout/hList1"/>
    <dgm:cxn modelId="{5AE5700D-CCD8-7642-8F5D-F230F8666D0A}" type="presParOf" srcId="{4FC2892E-AC2B-0841-A3C0-39A54CAE61FC}" destId="{9A3A5423-6953-0648-B877-B5174AA8B57F}" srcOrd="4" destOrd="0" presId="urn:microsoft.com/office/officeart/2005/8/layout/hList1"/>
    <dgm:cxn modelId="{8A8271CC-FF66-CF47-B47E-3F253BC0267D}" type="presParOf" srcId="{9A3A5423-6953-0648-B877-B5174AA8B57F}" destId="{3945EC42-A062-0744-A47A-48C193DF9F9F}" srcOrd="0" destOrd="0" presId="urn:microsoft.com/office/officeart/2005/8/layout/hList1"/>
    <dgm:cxn modelId="{4D6808EE-CD13-6347-93A5-03BC1520FEF4}" type="presParOf" srcId="{9A3A5423-6953-0648-B877-B5174AA8B57F}" destId="{501F76F4-A447-C24A-81A4-BE6A1F2789BB}" srcOrd="1" destOrd="0" presId="urn:microsoft.com/office/officeart/2005/8/layout/hList1"/>
    <dgm:cxn modelId="{532E14E0-E396-4447-973D-45FDBDFEDD3C}" type="presParOf" srcId="{4FC2892E-AC2B-0841-A3C0-39A54CAE61FC}" destId="{7CEE9CB9-7BF4-464C-8648-3F2C083CC035}" srcOrd="5" destOrd="0" presId="urn:microsoft.com/office/officeart/2005/8/layout/hList1"/>
    <dgm:cxn modelId="{66326209-D013-B546-A60A-F0FE9D8ADF27}" type="presParOf" srcId="{4FC2892E-AC2B-0841-A3C0-39A54CAE61FC}" destId="{03E46769-FF77-3E48-AA98-087AEB989C6F}" srcOrd="6" destOrd="0" presId="urn:microsoft.com/office/officeart/2005/8/layout/hList1"/>
    <dgm:cxn modelId="{1D654ED9-48C2-4F4D-9494-43DD31D62311}" type="presParOf" srcId="{03E46769-FF77-3E48-AA98-087AEB989C6F}" destId="{64DF03D9-CF17-2E43-A5B0-69A05C2B8414}" srcOrd="0" destOrd="0" presId="urn:microsoft.com/office/officeart/2005/8/layout/hList1"/>
    <dgm:cxn modelId="{428005AC-52DF-9344-B491-DCA880037EC9}" type="presParOf" srcId="{03E46769-FF77-3E48-AA98-087AEB989C6F}" destId="{5A341A50-6EE4-3E44-8FEC-5D3AE3FF618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DF3DF-6D17-2D4F-A8B6-B080C9E03618}">
      <dsp:nvSpPr>
        <dsp:cNvPr id="0" name=""/>
        <dsp:cNvSpPr/>
      </dsp:nvSpPr>
      <dsp:spPr>
        <a:xfrm>
          <a:off x="0" y="724345"/>
          <a:ext cx="7227957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10DC2-8383-A74F-85BB-943CC3164583}">
      <dsp:nvSpPr>
        <dsp:cNvPr id="0" name=""/>
        <dsp:cNvSpPr/>
      </dsp:nvSpPr>
      <dsp:spPr>
        <a:xfrm>
          <a:off x="361397" y="488185"/>
          <a:ext cx="50595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From Multilayer NN to Large Language Models</a:t>
          </a:r>
        </a:p>
      </dsp:txBody>
      <dsp:txXfrm>
        <a:off x="384454" y="511242"/>
        <a:ext cx="5013455" cy="426206"/>
      </dsp:txXfrm>
    </dsp:sp>
    <dsp:sp modelId="{97D1A5F6-CD55-E84B-A06C-AC806A87BF68}">
      <dsp:nvSpPr>
        <dsp:cNvPr id="0" name=""/>
        <dsp:cNvSpPr/>
      </dsp:nvSpPr>
      <dsp:spPr>
        <a:xfrm>
          <a:off x="0" y="1450105"/>
          <a:ext cx="7227957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FBD46-0DA2-5641-A6F1-74D37ADF13AD}">
      <dsp:nvSpPr>
        <dsp:cNvPr id="0" name=""/>
        <dsp:cNvSpPr/>
      </dsp:nvSpPr>
      <dsp:spPr>
        <a:xfrm>
          <a:off x="361397" y="1213945"/>
          <a:ext cx="50595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What is a Genomic Foundation Model</a:t>
          </a:r>
        </a:p>
      </dsp:txBody>
      <dsp:txXfrm>
        <a:off x="384454" y="1237002"/>
        <a:ext cx="5013455" cy="426206"/>
      </dsp:txXfrm>
    </dsp:sp>
    <dsp:sp modelId="{155FF732-8A9C-F04B-B2DE-97015F823B06}">
      <dsp:nvSpPr>
        <dsp:cNvPr id="0" name=""/>
        <dsp:cNvSpPr/>
      </dsp:nvSpPr>
      <dsp:spPr>
        <a:xfrm>
          <a:off x="0" y="2175865"/>
          <a:ext cx="7227957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5514F-46A9-2944-BBC6-39E9C76305CC}">
      <dsp:nvSpPr>
        <dsp:cNvPr id="0" name=""/>
        <dsp:cNvSpPr/>
      </dsp:nvSpPr>
      <dsp:spPr>
        <a:xfrm>
          <a:off x="361397" y="1939705"/>
          <a:ext cx="50595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Evolution of Genomic Foundation Models</a:t>
          </a:r>
        </a:p>
      </dsp:txBody>
      <dsp:txXfrm>
        <a:off x="384454" y="1962762"/>
        <a:ext cx="5013455" cy="426206"/>
      </dsp:txXfrm>
    </dsp:sp>
    <dsp:sp modelId="{654247D6-4D08-6A4F-8285-2B85F3F4D08D}">
      <dsp:nvSpPr>
        <dsp:cNvPr id="0" name=""/>
        <dsp:cNvSpPr/>
      </dsp:nvSpPr>
      <dsp:spPr>
        <a:xfrm>
          <a:off x="0" y="2901625"/>
          <a:ext cx="7227957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0D905-E79D-2843-90D4-B5C78D0D0CF6}">
      <dsp:nvSpPr>
        <dsp:cNvPr id="0" name=""/>
        <dsp:cNvSpPr/>
      </dsp:nvSpPr>
      <dsp:spPr>
        <a:xfrm>
          <a:off x="361397" y="2665465"/>
          <a:ext cx="50595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Traditional ML models vs Genomic Foundation Models</a:t>
          </a:r>
        </a:p>
      </dsp:txBody>
      <dsp:txXfrm>
        <a:off x="384454" y="2688522"/>
        <a:ext cx="5013455" cy="426206"/>
      </dsp:txXfrm>
    </dsp:sp>
    <dsp:sp modelId="{0EBB7542-FD1C-F549-9613-B3382B57A30B}">
      <dsp:nvSpPr>
        <dsp:cNvPr id="0" name=""/>
        <dsp:cNvSpPr/>
      </dsp:nvSpPr>
      <dsp:spPr>
        <a:xfrm>
          <a:off x="0" y="3627385"/>
          <a:ext cx="7227957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D4275-9AC5-3243-841B-480BD9714389}">
      <dsp:nvSpPr>
        <dsp:cNvPr id="0" name=""/>
        <dsp:cNvSpPr/>
      </dsp:nvSpPr>
      <dsp:spPr>
        <a:xfrm>
          <a:off x="361397" y="3391225"/>
          <a:ext cx="505956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240" tIns="0" rIns="19124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Key Biological Applications &amp; Research Impact</a:t>
          </a:r>
        </a:p>
      </dsp:txBody>
      <dsp:txXfrm>
        <a:off x="384454" y="3414282"/>
        <a:ext cx="5013455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C7DD5-5D06-A841-9900-D33DB890ADC3}">
      <dsp:nvSpPr>
        <dsp:cNvPr id="0" name=""/>
        <dsp:cNvSpPr/>
      </dsp:nvSpPr>
      <dsp:spPr>
        <a:xfrm>
          <a:off x="814215" y="804"/>
          <a:ext cx="2196141" cy="13176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Evolution from specialized sequence models to multimodal genomic understanding</a:t>
          </a:r>
        </a:p>
      </dsp:txBody>
      <dsp:txXfrm>
        <a:off x="814215" y="804"/>
        <a:ext cx="2196141" cy="1317684"/>
      </dsp:txXfrm>
    </dsp:sp>
    <dsp:sp modelId="{FB2096E4-36C7-A748-ADC1-773B697266B1}">
      <dsp:nvSpPr>
        <dsp:cNvPr id="0" name=""/>
        <dsp:cNvSpPr/>
      </dsp:nvSpPr>
      <dsp:spPr>
        <a:xfrm>
          <a:off x="814215" y="1538104"/>
          <a:ext cx="2196141" cy="1317684"/>
        </a:xfrm>
        <a:prstGeom prst="rect">
          <a:avLst/>
        </a:prstGeom>
        <a:solidFill>
          <a:schemeClr val="accent2">
            <a:hueOff val="-5426363"/>
            <a:satOff val="-12160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Increasing ability to model long-range dependencies in genomic data</a:t>
          </a:r>
        </a:p>
      </dsp:txBody>
      <dsp:txXfrm>
        <a:off x="814215" y="1538104"/>
        <a:ext cx="2196141" cy="1317684"/>
      </dsp:txXfrm>
    </dsp:sp>
    <dsp:sp modelId="{4E6ACD82-9272-F346-BFB0-5B4F59AD570F}">
      <dsp:nvSpPr>
        <dsp:cNvPr id="0" name=""/>
        <dsp:cNvSpPr/>
      </dsp:nvSpPr>
      <dsp:spPr>
        <a:xfrm>
          <a:off x="814215" y="3075403"/>
          <a:ext cx="2196141" cy="1317684"/>
        </a:xfrm>
        <a:prstGeom prst="rec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Transition from prediction to generation capabilities</a:t>
          </a:r>
        </a:p>
      </dsp:txBody>
      <dsp:txXfrm>
        <a:off x="814215" y="3075403"/>
        <a:ext cx="2196141" cy="1317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5A8E02-0D51-7848-96B3-D01F3DE21DC6}">
      <dsp:nvSpPr>
        <dsp:cNvPr id="0" name=""/>
        <dsp:cNvSpPr/>
      </dsp:nvSpPr>
      <dsp:spPr>
        <a:xfrm>
          <a:off x="3523" y="274046"/>
          <a:ext cx="2118903" cy="8305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DNA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(Sequence)</a:t>
          </a:r>
        </a:p>
      </dsp:txBody>
      <dsp:txXfrm>
        <a:off x="3523" y="274046"/>
        <a:ext cx="2118903" cy="830588"/>
      </dsp:txXfrm>
    </dsp:sp>
    <dsp:sp modelId="{ABEC649D-BFBA-6042-910B-F6E040BC4BB5}">
      <dsp:nvSpPr>
        <dsp:cNvPr id="0" name=""/>
        <dsp:cNvSpPr/>
      </dsp:nvSpPr>
      <dsp:spPr>
        <a:xfrm>
          <a:off x="3523" y="1104635"/>
          <a:ext cx="2118903" cy="324253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Genome-wide variant effects
DNA cis-regulatory regions
DNA methylation
DNA-protein interaction</a:t>
          </a:r>
        </a:p>
      </dsp:txBody>
      <dsp:txXfrm>
        <a:off x="3523" y="1104635"/>
        <a:ext cx="2118903" cy="3242531"/>
      </dsp:txXfrm>
    </dsp:sp>
    <dsp:sp modelId="{4C8DCBDC-F299-D240-89B8-E3D0175E863F}">
      <dsp:nvSpPr>
        <dsp:cNvPr id="0" name=""/>
        <dsp:cNvSpPr/>
      </dsp:nvSpPr>
      <dsp:spPr>
        <a:xfrm>
          <a:off x="2419073" y="274046"/>
          <a:ext cx="2118903" cy="830588"/>
        </a:xfrm>
        <a:prstGeom prst="rect">
          <a:avLst/>
        </a:prstGeom>
        <a:solidFill>
          <a:schemeClr val="accent2">
            <a:hueOff val="-3617575"/>
            <a:satOff val="-8106"/>
            <a:lumOff val="-2876"/>
            <a:alphaOff val="0"/>
          </a:schemeClr>
        </a:solidFill>
        <a:ln w="12700" cap="flat" cmpd="sng" algn="ctr">
          <a:solidFill>
            <a:schemeClr val="accent2">
              <a:hueOff val="-3617575"/>
              <a:satOff val="-8106"/>
              <a:lumOff val="-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RNA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(Sequence)</a:t>
          </a:r>
        </a:p>
      </dsp:txBody>
      <dsp:txXfrm>
        <a:off x="2419073" y="274046"/>
        <a:ext cx="2118903" cy="830588"/>
      </dsp:txXfrm>
    </dsp:sp>
    <dsp:sp modelId="{0AD8B1D1-10E2-9D48-BEB4-A0F1AB70C28C}">
      <dsp:nvSpPr>
        <dsp:cNvPr id="0" name=""/>
        <dsp:cNvSpPr/>
      </dsp:nvSpPr>
      <dsp:spPr>
        <a:xfrm>
          <a:off x="2419073" y="1104635"/>
          <a:ext cx="2118903" cy="3242531"/>
        </a:xfrm>
        <a:prstGeom prst="rect">
          <a:avLst/>
        </a:prstGeom>
        <a:solidFill>
          <a:schemeClr val="accent2">
            <a:tint val="40000"/>
            <a:alpha val="90000"/>
            <a:hueOff val="-3947238"/>
            <a:satOff val="-6888"/>
            <a:lumOff val="-8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947238"/>
              <a:satOff val="-6888"/>
              <a:lumOff val="-8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RNA secondary structure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RNA splice site prediction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RNA modification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ncRNA and disease association</a:t>
          </a:r>
        </a:p>
      </dsp:txBody>
      <dsp:txXfrm>
        <a:off x="2419073" y="1104635"/>
        <a:ext cx="2118903" cy="3242531"/>
      </dsp:txXfrm>
    </dsp:sp>
    <dsp:sp modelId="{71789C14-D170-EE40-B186-0F81A3724F13}">
      <dsp:nvSpPr>
        <dsp:cNvPr id="0" name=""/>
        <dsp:cNvSpPr/>
      </dsp:nvSpPr>
      <dsp:spPr>
        <a:xfrm>
          <a:off x="4834623" y="274046"/>
          <a:ext cx="2118903" cy="830588"/>
        </a:xfrm>
        <a:prstGeom prst="rect">
          <a:avLst/>
        </a:prstGeom>
        <a:solidFill>
          <a:schemeClr val="accent2">
            <a:hueOff val="-7235150"/>
            <a:satOff val="-16213"/>
            <a:lumOff val="-5752"/>
            <a:alphaOff val="0"/>
          </a:schemeClr>
        </a:solidFill>
        <a:ln w="12700" cap="flat" cmpd="sng" algn="ctr">
          <a:solidFill>
            <a:schemeClr val="accent2">
              <a:hueOff val="-7235150"/>
              <a:satOff val="-16213"/>
              <a:lumOff val="-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Protein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(Seq, Structure)</a:t>
          </a:r>
        </a:p>
      </dsp:txBody>
      <dsp:txXfrm>
        <a:off x="4834623" y="274046"/>
        <a:ext cx="2118903" cy="830588"/>
      </dsp:txXfrm>
    </dsp:sp>
    <dsp:sp modelId="{F461D04A-C60C-B04C-A0AA-96FA932F3FF5}">
      <dsp:nvSpPr>
        <dsp:cNvPr id="0" name=""/>
        <dsp:cNvSpPr/>
      </dsp:nvSpPr>
      <dsp:spPr>
        <a:xfrm>
          <a:off x="4834623" y="1104635"/>
          <a:ext cx="2118903" cy="3242531"/>
        </a:xfrm>
        <a:prstGeom prst="rect">
          <a:avLst/>
        </a:prstGeom>
        <a:solidFill>
          <a:schemeClr val="accent2">
            <a:tint val="40000"/>
            <a:alpha val="90000"/>
            <a:hueOff val="-7894476"/>
            <a:satOff val="-13775"/>
            <a:lumOff val="-1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894476"/>
              <a:satOff val="-13775"/>
              <a:lumOff val="-1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Protein structure prediction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Evolution and mutation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Protein dynamics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Protein sequence generation</a:t>
          </a:r>
        </a:p>
      </dsp:txBody>
      <dsp:txXfrm>
        <a:off x="4834623" y="1104635"/>
        <a:ext cx="2118903" cy="3242531"/>
      </dsp:txXfrm>
    </dsp:sp>
    <dsp:sp modelId="{8AF27496-FD7C-D84A-B995-10CCBE22E95E}">
      <dsp:nvSpPr>
        <dsp:cNvPr id="0" name=""/>
        <dsp:cNvSpPr/>
      </dsp:nvSpPr>
      <dsp:spPr>
        <a:xfrm>
          <a:off x="7250172" y="274046"/>
          <a:ext cx="2118903" cy="830588"/>
        </a:xfrm>
        <a:prstGeom prst="rec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accent2">
              <a:hueOff val="-10852725"/>
              <a:satOff val="-24319"/>
              <a:lumOff val="-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Single Cell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(Data)</a:t>
          </a:r>
        </a:p>
      </dsp:txBody>
      <dsp:txXfrm>
        <a:off x="7250172" y="274046"/>
        <a:ext cx="2118903" cy="830588"/>
      </dsp:txXfrm>
    </dsp:sp>
    <dsp:sp modelId="{2EAC129C-2FD9-404B-B0AA-2D533E7A148B}">
      <dsp:nvSpPr>
        <dsp:cNvPr id="0" name=""/>
        <dsp:cNvSpPr/>
      </dsp:nvSpPr>
      <dsp:spPr>
        <a:xfrm>
          <a:off x="7250172" y="1104635"/>
          <a:ext cx="2118903" cy="3242531"/>
        </a:xfrm>
        <a:prstGeom prst="rect">
          <a:avLst/>
        </a:prstGeom>
        <a:solidFill>
          <a:schemeClr val="accent2">
            <a:tint val="40000"/>
            <a:alpha val="90000"/>
            <a:hueOff val="-11841714"/>
            <a:satOff val="-20663"/>
            <a:lumOff val="-25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841714"/>
              <a:satOff val="-20663"/>
              <a:lumOff val="-25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Cell clustering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Cell type annotation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Multi-omics integration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Biological network</a:t>
          </a:r>
        </a:p>
      </dsp:txBody>
      <dsp:txXfrm>
        <a:off x="7250172" y="1104635"/>
        <a:ext cx="2118903" cy="32425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DC86B0-4E80-9344-B617-AA61F5F1A7B2}">
      <dsp:nvSpPr>
        <dsp:cNvPr id="0" name=""/>
        <dsp:cNvSpPr/>
      </dsp:nvSpPr>
      <dsp:spPr>
        <a:xfrm>
          <a:off x="3523" y="175605"/>
          <a:ext cx="2118903" cy="8113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Effects of noncoding DNA on gene expression</a:t>
          </a:r>
        </a:p>
      </dsp:txBody>
      <dsp:txXfrm>
        <a:off x="3523" y="175605"/>
        <a:ext cx="2118903" cy="811302"/>
      </dsp:txXfrm>
    </dsp:sp>
    <dsp:sp modelId="{E9EC0FA6-6D2A-154A-8321-37CE7903AC1D}">
      <dsp:nvSpPr>
        <dsp:cNvPr id="0" name=""/>
        <dsp:cNvSpPr/>
      </dsp:nvSpPr>
      <dsp:spPr>
        <a:xfrm>
          <a:off x="3523" y="986907"/>
          <a:ext cx="2118903" cy="345869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dirty="0"/>
            <a:t>DNABERT</a:t>
          </a:r>
          <a:r>
            <a:rPr lang="en-US" sz="1600" kern="1200" dirty="0"/>
            <a:t> captures transferrable understanding of genomic DNA sequences based on up and downstream nucleotide contexts
Predicts promoters, splice sites and TFBS, after fine-tuning using </a:t>
          </a:r>
          <a:r>
            <a:rPr lang="en-US" sz="1600" u="none" kern="1200" dirty="0"/>
            <a:t>small task-specific labeled data</a:t>
          </a:r>
        </a:p>
      </dsp:txBody>
      <dsp:txXfrm>
        <a:off x="3523" y="986907"/>
        <a:ext cx="2118903" cy="3458699"/>
      </dsp:txXfrm>
    </dsp:sp>
    <dsp:sp modelId="{4A8021B2-6493-1445-B0E3-8B96A9608741}">
      <dsp:nvSpPr>
        <dsp:cNvPr id="0" name=""/>
        <dsp:cNvSpPr/>
      </dsp:nvSpPr>
      <dsp:spPr>
        <a:xfrm>
          <a:off x="2419073" y="175605"/>
          <a:ext cx="2118903" cy="811302"/>
        </a:xfrm>
        <a:prstGeom prst="rect">
          <a:avLst/>
        </a:prstGeom>
        <a:solidFill>
          <a:schemeClr val="accent2">
            <a:hueOff val="-3617575"/>
            <a:satOff val="-8106"/>
            <a:lumOff val="-2876"/>
            <a:alphaOff val="0"/>
          </a:schemeClr>
        </a:solidFill>
        <a:ln w="12700" cap="flat" cmpd="sng" algn="ctr">
          <a:solidFill>
            <a:schemeClr val="accent2">
              <a:hueOff val="-3617575"/>
              <a:satOff val="-8106"/>
              <a:lumOff val="-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Repurposing of existing drugs</a:t>
          </a:r>
        </a:p>
      </dsp:txBody>
      <dsp:txXfrm>
        <a:off x="2419073" y="175605"/>
        <a:ext cx="2118903" cy="811302"/>
      </dsp:txXfrm>
    </dsp:sp>
    <dsp:sp modelId="{7B7E2E80-E657-C241-BD7F-4711EF517187}">
      <dsp:nvSpPr>
        <dsp:cNvPr id="0" name=""/>
        <dsp:cNvSpPr/>
      </dsp:nvSpPr>
      <dsp:spPr>
        <a:xfrm>
          <a:off x="2419073" y="986907"/>
          <a:ext cx="2118903" cy="3458699"/>
        </a:xfrm>
        <a:prstGeom prst="rect">
          <a:avLst/>
        </a:prstGeom>
        <a:solidFill>
          <a:schemeClr val="accent2">
            <a:tint val="40000"/>
            <a:alpha val="90000"/>
            <a:hueOff val="-3947238"/>
            <a:satOff val="-6888"/>
            <a:lumOff val="-8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947238"/>
              <a:satOff val="-6888"/>
              <a:lumOff val="-8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TxGNN</a:t>
          </a:r>
          <a:r>
            <a:rPr lang="en-US" sz="1600" kern="1200" dirty="0"/>
            <a:t> trained on a medical knowledge graph to identify potential new purposes for existing drugs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Predictions aligns with current off-label practice, offering a promising exploratory tool for expanding drug indications.</a:t>
          </a:r>
        </a:p>
      </dsp:txBody>
      <dsp:txXfrm>
        <a:off x="2419073" y="986907"/>
        <a:ext cx="2118903" cy="3458699"/>
      </dsp:txXfrm>
    </dsp:sp>
    <dsp:sp modelId="{3945EC42-A062-0744-A47A-48C193DF9F9F}">
      <dsp:nvSpPr>
        <dsp:cNvPr id="0" name=""/>
        <dsp:cNvSpPr/>
      </dsp:nvSpPr>
      <dsp:spPr>
        <a:xfrm>
          <a:off x="4834623" y="175605"/>
          <a:ext cx="2118903" cy="811302"/>
        </a:xfrm>
        <a:prstGeom prst="rect">
          <a:avLst/>
        </a:prstGeom>
        <a:solidFill>
          <a:schemeClr val="accent2">
            <a:hueOff val="-7235150"/>
            <a:satOff val="-16213"/>
            <a:lumOff val="-5752"/>
            <a:alphaOff val="0"/>
          </a:schemeClr>
        </a:solidFill>
        <a:ln w="12700" cap="flat" cmpd="sng" algn="ctr">
          <a:solidFill>
            <a:schemeClr val="accent2">
              <a:hueOff val="-7235150"/>
              <a:satOff val="-16213"/>
              <a:lumOff val="-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Tissue-specific gene network dynamics</a:t>
          </a:r>
        </a:p>
      </dsp:txBody>
      <dsp:txXfrm>
        <a:off x="4834623" y="175605"/>
        <a:ext cx="2118903" cy="811302"/>
      </dsp:txXfrm>
    </dsp:sp>
    <dsp:sp modelId="{501F76F4-A447-C24A-81A4-BE6A1F2789BB}">
      <dsp:nvSpPr>
        <dsp:cNvPr id="0" name=""/>
        <dsp:cNvSpPr/>
      </dsp:nvSpPr>
      <dsp:spPr>
        <a:xfrm>
          <a:off x="4834623" y="986907"/>
          <a:ext cx="2118903" cy="3458699"/>
        </a:xfrm>
        <a:prstGeom prst="rect">
          <a:avLst/>
        </a:prstGeom>
        <a:solidFill>
          <a:schemeClr val="accent2">
            <a:tint val="40000"/>
            <a:alpha val="90000"/>
            <a:hueOff val="-7894476"/>
            <a:satOff val="-13775"/>
            <a:lumOff val="-1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894476"/>
              <a:satOff val="-13775"/>
              <a:lumOff val="-1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/>
            <a:t>Geneformer</a:t>
          </a:r>
          <a:r>
            <a:rPr lang="en-US" sz="1600" kern="1200" dirty="0"/>
            <a:t> make predictions about tissue-specific gene network dynamics from </a:t>
          </a:r>
          <a:r>
            <a:rPr lang="en-US" sz="1600" kern="1200" dirty="0" err="1"/>
            <a:t>scRNA</a:t>
          </a:r>
          <a:r>
            <a:rPr lang="en-US" sz="1600" kern="1200" dirty="0"/>
            <a:t> data
Obtains insights with </a:t>
          </a:r>
          <a:r>
            <a:rPr lang="en-US" sz="1600" i="0" u="sng" kern="1200" dirty="0"/>
            <a:t>limited data</a:t>
          </a:r>
          <a:r>
            <a:rPr lang="en-US" sz="1600" kern="1200" dirty="0"/>
            <a:t>, like rare diseases and difficult-to-access tissues due to transfer learning</a:t>
          </a:r>
        </a:p>
      </dsp:txBody>
      <dsp:txXfrm>
        <a:off x="4834623" y="986907"/>
        <a:ext cx="2118903" cy="3458699"/>
      </dsp:txXfrm>
    </dsp:sp>
    <dsp:sp modelId="{64DF03D9-CF17-2E43-A5B0-69A05C2B8414}">
      <dsp:nvSpPr>
        <dsp:cNvPr id="0" name=""/>
        <dsp:cNvSpPr/>
      </dsp:nvSpPr>
      <dsp:spPr>
        <a:xfrm>
          <a:off x="7250172" y="175605"/>
          <a:ext cx="2118903" cy="811302"/>
        </a:xfrm>
        <a:prstGeom prst="rec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accent2">
              <a:hueOff val="-10852725"/>
              <a:satOff val="-24319"/>
              <a:lumOff val="-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Mutation Prediction</a:t>
          </a:r>
        </a:p>
      </dsp:txBody>
      <dsp:txXfrm>
        <a:off x="7250172" y="175605"/>
        <a:ext cx="2118903" cy="811302"/>
      </dsp:txXfrm>
    </dsp:sp>
    <dsp:sp modelId="{5A341A50-6EE4-3E44-8FEC-5D3AE3FF618E}">
      <dsp:nvSpPr>
        <dsp:cNvPr id="0" name=""/>
        <dsp:cNvSpPr/>
      </dsp:nvSpPr>
      <dsp:spPr>
        <a:xfrm>
          <a:off x="7250172" y="986907"/>
          <a:ext cx="2118903" cy="3458699"/>
        </a:xfrm>
        <a:prstGeom prst="rect">
          <a:avLst/>
        </a:prstGeom>
        <a:solidFill>
          <a:schemeClr val="accent2">
            <a:tint val="40000"/>
            <a:alpha val="90000"/>
            <a:hueOff val="-11841714"/>
            <a:satOff val="-20663"/>
            <a:lumOff val="-25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841714"/>
              <a:satOff val="-20663"/>
              <a:lumOff val="-25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Evo2 achieves &gt;0.87 AUROC (state-of-the-art) in zero-shot variant prediction for BRCA1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Capable of designing entire genomes, including mitochondrial DNA and bacterial genomes, with realistic gene structures and regulatory elements</a:t>
          </a:r>
        </a:p>
      </dsp:txBody>
      <dsp:txXfrm>
        <a:off x="7250172" y="986907"/>
        <a:ext cx="2118903" cy="3458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2/10/26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2/10/26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A" dirty="0"/>
              <a:t>Inductive bias -&gt; locality, </a:t>
            </a:r>
            <a:r>
              <a:rPr lang="en-US" dirty="0"/>
              <a:t>Translation equivariance, hierarchical composition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56981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DPO (Direct Preference Optimization) is a method for aligning large language models with human preferences without using reinforcement learning (RL)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73034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4C95-6353-BABF-4879-8BA789E0B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7E86B-5C5C-F1B6-E5E6-4A86285D5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D613B-CDFC-2E57-B838-DBBA8C4FE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C4FD1-1781-C05D-7914-2FCDA5880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6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89092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TFs don’t bind to a single exact DNA sequence—they bind to </a:t>
            </a:r>
            <a:r>
              <a:rPr lang="en-US" b="1" dirty="0"/>
              <a:t>families of similar sequences</a:t>
            </a:r>
            <a:r>
              <a:rPr lang="en-US" dirty="0"/>
              <a:t>. A PWM captures this variability and helps </a:t>
            </a:r>
            <a:r>
              <a:rPr lang="en-US" b="1" dirty="0"/>
              <a:t>score new sequences</a:t>
            </a:r>
            <a:r>
              <a:rPr lang="en-US" dirty="0"/>
              <a:t> based on how well they match the known motif.</a:t>
            </a: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744541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CNN trained on human liver enhancers (e.g.,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typically fails on mouse brain enhancers without retraining because it overfits to species-specific background biases</a:t>
            </a:r>
          </a:p>
          <a:p>
            <a:r>
              <a:rPr lang="en-US" b="1" dirty="0"/>
              <a:t>Bias:</a:t>
            </a:r>
            <a:r>
              <a:rPr lang="en-US" dirty="0"/>
              <a:t> Error due to overly simple assumptions (may miss some patterns).</a:t>
            </a:r>
          </a:p>
          <a:p>
            <a:r>
              <a:rPr lang="en-US" b="1" dirty="0"/>
              <a:t>Variance:</a:t>
            </a:r>
            <a:r>
              <a:rPr lang="en-US" dirty="0"/>
              <a:t> Error due to sensitivity to the specific training data (may overfit).</a:t>
            </a:r>
          </a:p>
          <a:p>
            <a:r>
              <a:rPr lang="en-US" dirty="0"/>
              <a:t>So, </a:t>
            </a:r>
            <a:r>
              <a:rPr lang="en-US" b="1" dirty="0"/>
              <a:t>small, narrow datasets favor models with lower variance</a:t>
            </a:r>
            <a:r>
              <a:rPr lang="en-US" dirty="0"/>
              <a:t>, which is why traditional ML sometimes beats GFMs in such cases.</a:t>
            </a: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60764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Answer: C. They learn rich representations transferable to multiple tasks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Foundation models learn generalizable representations from large amounts of data that can be efficiently adapted to multiple downstream tasks through fine-tuning, reducing the need for task-specific data collection and annotation.</a:t>
            </a: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424166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Off-label practice</a:t>
            </a:r>
            <a:r>
              <a:rPr lang="en-US" dirty="0"/>
              <a:t> means doctors sometimes use drugs to treat conditions they weren’t originally approved for, based on their experience or new evidence.</a:t>
            </a:r>
          </a:p>
          <a:p>
            <a:endParaRPr lang="en-SA" dirty="0"/>
          </a:p>
          <a:p>
            <a:r>
              <a:rPr lang="en-US" dirty="0"/>
              <a:t>Check link for more examples https://</a:t>
            </a:r>
            <a:r>
              <a:rPr lang="en-US" dirty="0" err="1"/>
              <a:t>watershed.bio</a:t>
            </a:r>
            <a:r>
              <a:rPr lang="en-US" dirty="0"/>
              <a:t>/resources/foundation-models-for-biomedical-research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581638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D1CD-7D45-E315-2A55-8D9E4120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6E564-36C0-A37E-BE45-510F0184F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93ECE-D5FA-291E-35E3-A5E3B58F0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56FE-3FF5-7283-ED17-8EDCD4463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81805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SA" b="1" dirty="0"/>
              <a:t>🧠 </a:t>
            </a:r>
            <a:r>
              <a:rPr lang="en-US" b="1" dirty="0"/>
              <a:t>Traditional ML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Kelley et al., 2016</a:t>
            </a:r>
            <a:r>
              <a:rPr lang="en-US" dirty="0"/>
              <a:t> – </a:t>
            </a:r>
            <a:r>
              <a:rPr lang="en-US" i="1" dirty="0"/>
              <a:t>Basset: Learning the regulatory code of the accessible genome with deep CNNs.</a:t>
            </a:r>
            <a:r>
              <a:rPr lang="en-US" dirty="0"/>
              <a:t> Genome Research.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Ghandi et al., 2014</a:t>
            </a:r>
            <a:r>
              <a:rPr lang="en-US" dirty="0"/>
              <a:t> – </a:t>
            </a:r>
            <a:r>
              <a:rPr lang="en-US" i="1" dirty="0"/>
              <a:t>Enhanced regulatory sequence prediction using gapped k-</a:t>
            </a:r>
            <a:r>
              <a:rPr lang="en-US" i="1" dirty="0" err="1"/>
              <a:t>mer</a:t>
            </a:r>
            <a:r>
              <a:rPr lang="en-US" i="1" dirty="0"/>
              <a:t> features.</a:t>
            </a:r>
            <a:r>
              <a:rPr lang="en-US" dirty="0"/>
              <a:t> </a:t>
            </a:r>
            <a:r>
              <a:rPr lang="en-US" dirty="0" err="1"/>
              <a:t>PLoS</a:t>
            </a:r>
            <a:r>
              <a:rPr lang="en-US" dirty="0"/>
              <a:t> </a:t>
            </a:r>
            <a:r>
              <a:rPr lang="en-US" dirty="0" err="1"/>
              <a:t>Comput</a:t>
            </a:r>
            <a:r>
              <a:rPr lang="en-US" dirty="0"/>
              <a:t> Biol.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Zhou &amp; </a:t>
            </a:r>
            <a:r>
              <a:rPr lang="en-US" b="1" dirty="0" err="1"/>
              <a:t>Troyanskaya</a:t>
            </a:r>
            <a:r>
              <a:rPr lang="en-US" b="1" dirty="0"/>
              <a:t>, 2015</a:t>
            </a:r>
            <a:r>
              <a:rPr lang="en-US" dirty="0"/>
              <a:t> – </a:t>
            </a:r>
            <a:r>
              <a:rPr lang="en-US" i="1" dirty="0"/>
              <a:t>Predicting effects of noncoding variants with deep learning-based sequence model.</a:t>
            </a:r>
            <a:r>
              <a:rPr lang="en-US" dirty="0"/>
              <a:t> Nature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Ernst &amp; Kellis, 2012</a:t>
            </a:r>
            <a:r>
              <a:rPr lang="en-US" dirty="0"/>
              <a:t> – </a:t>
            </a:r>
            <a:r>
              <a:rPr lang="en-US" i="1" dirty="0" err="1"/>
              <a:t>ChromHMM</a:t>
            </a:r>
            <a:r>
              <a:rPr lang="en-US" i="1" dirty="0"/>
              <a:t>: automating chromatin-state discovery and characterization.</a:t>
            </a:r>
            <a:r>
              <a:rPr lang="en-US" dirty="0"/>
              <a:t> Nature Methods.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SA" b="1" dirty="0"/>
              <a:t>🧬 </a:t>
            </a:r>
            <a:r>
              <a:rPr lang="en-US" b="1" dirty="0"/>
              <a:t>Foundation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Avsec et al., 2021</a:t>
            </a:r>
            <a:r>
              <a:rPr lang="en-US" dirty="0"/>
              <a:t> – </a:t>
            </a:r>
            <a:r>
              <a:rPr lang="en-US" i="1" dirty="0"/>
              <a:t>Effective gene expression prediction from sequence using </a:t>
            </a:r>
            <a:r>
              <a:rPr lang="en-US" i="1" dirty="0" err="1"/>
              <a:t>Enformer</a:t>
            </a:r>
            <a:r>
              <a:rPr lang="en-US" i="1" dirty="0"/>
              <a:t>.</a:t>
            </a:r>
            <a:r>
              <a:rPr lang="en-US" dirty="0"/>
              <a:t> Nature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Ji et al., 2021</a:t>
            </a:r>
            <a:r>
              <a:rPr lang="en-US" dirty="0"/>
              <a:t> – </a:t>
            </a:r>
            <a:r>
              <a:rPr lang="en-US" i="1" dirty="0"/>
              <a:t>DNABERT: pre-trained bidirectional encoder representations from transformers for DNA-language.</a:t>
            </a:r>
            <a:r>
              <a:rPr lang="en-US" dirty="0"/>
              <a:t> Bioinformatics.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Nijkamp et al., 2023</a:t>
            </a:r>
            <a:r>
              <a:rPr lang="en-US" dirty="0"/>
              <a:t> – </a:t>
            </a:r>
            <a:r>
              <a:rPr lang="en-US" i="1" dirty="0"/>
              <a:t>A survey of foundation models for protein and genomic sequences.</a:t>
            </a:r>
            <a:r>
              <a:rPr lang="en-US" dirty="0"/>
              <a:t> </a:t>
            </a:r>
            <a:r>
              <a:rPr lang="en-US" dirty="0" err="1"/>
              <a:t>arXiv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Ferruz</a:t>
            </a:r>
            <a:r>
              <a:rPr lang="en-US" b="1" dirty="0"/>
              <a:t> et al., 2023</a:t>
            </a:r>
            <a:r>
              <a:rPr lang="en-US" dirty="0"/>
              <a:t> – </a:t>
            </a:r>
            <a:r>
              <a:rPr lang="en-US" i="1" dirty="0"/>
              <a:t>Nucleotide Transformer: building and evaluating robust foundation models for human genomics.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Zou et al., 2023</a:t>
            </a:r>
            <a:r>
              <a:rPr lang="en-US" dirty="0"/>
              <a:t> – </a:t>
            </a:r>
            <a:r>
              <a:rPr lang="en-US" i="1" dirty="0"/>
              <a:t>Toward species-generalizable genomic foundation models.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Zhou et al., 2023</a:t>
            </a:r>
            <a:r>
              <a:rPr lang="en-US" dirty="0"/>
              <a:t> – </a:t>
            </a:r>
            <a:r>
              <a:rPr lang="en-US" i="1" dirty="0"/>
              <a:t>Biological insights from foundation models of regulatory genomics.</a:t>
            </a:r>
            <a:endParaRPr lang="en-US" dirty="0"/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21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47441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00200" y="0"/>
            <a:ext cx="50292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oseup of plant shoot" title="Slide Design Pictur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0567" y="2057400"/>
            <a:ext cx="2060767" cy="38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3019706"/>
            <a:ext cx="4846320" cy="23876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777" y="5381894"/>
            <a:ext cx="4846320" cy="44805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51777" y="2263913"/>
            <a:ext cx="7199696" cy="218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777" y="2263913"/>
            <a:ext cx="6949440" cy="2188355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0851" y="4524522"/>
            <a:ext cx="7220622" cy="44952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4610099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6281"/>
            <a:ext cx="4609775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6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699" y="1554480"/>
            <a:ext cx="4608576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9699" y="2378392"/>
            <a:ext cx="4608576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4610100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8392"/>
            <a:ext cx="4610100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1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87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79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699" y="915923"/>
            <a:ext cx="5216979" cy="506577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79" y="3446396"/>
            <a:ext cx="4155622" cy="2535303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5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80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15923"/>
            <a:ext cx="6626677" cy="5065776"/>
          </a:xfrm>
        </p:spPr>
        <p:txBody>
          <a:bodyPr tIns="1371600">
            <a:norm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80" y="3446397"/>
            <a:ext cx="4155622" cy="2535304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7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0500"/>
            <a:ext cx="2057400" cy="5986463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00"/>
            <a:ext cx="7734300" cy="5986463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0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29400"/>
            <a:ext cx="1499616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9344" y="6629400"/>
            <a:ext cx="10582656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0026" y="276087"/>
            <a:ext cx="9371949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27" y="1566001"/>
            <a:ext cx="9371948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4104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CD8D479-8942-46E8-A226-A4E01F7A105C}" type="slidenum">
              <a:rPr/>
              <a:p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101" y="6629400"/>
            <a:ext cx="100066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7716" y="6629400"/>
            <a:ext cx="91442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dirty="0"/>
              <a:t>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76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05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8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24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19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E43459-5AD6-05A7-68C8-F3E8FBC3CB19}"/>
              </a:ext>
            </a:extLst>
          </p:cNvPr>
          <p:cNvSpPr/>
          <p:nvPr/>
        </p:nvSpPr>
        <p:spPr>
          <a:xfrm>
            <a:off x="6705600" y="2036618"/>
            <a:ext cx="5486400" cy="40316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Genomic Foundation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Ikram Ullah, Staff Scientist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58AC2-6818-6EFB-B085-929213EE1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09794"/>
            <a:ext cx="2711359" cy="40316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DA2E77-8433-8039-37B0-94FB05392400}"/>
              </a:ext>
            </a:extLst>
          </p:cNvPr>
          <p:cNvSpPr txBox="1"/>
          <p:nvPr/>
        </p:nvSpPr>
        <p:spPr>
          <a:xfrm>
            <a:off x="933914" y="6347072"/>
            <a:ext cx="91244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 taken from – Tang, Lin. "Large models for genomics."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20.12 (2023): 1868-1868.</a:t>
            </a:r>
            <a:endParaRPr lang="en-SA" sz="1200" dirty="0"/>
          </a:p>
        </p:txBody>
      </p:sp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FA6A-8F52-70E4-545F-001D1650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Agenda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CC5D2BE-02E5-9BCD-B80A-9A97F7164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796925"/>
              </p:ext>
            </p:extLst>
          </p:nvPr>
        </p:nvGraphicFramePr>
        <p:xfrm>
          <a:off x="1540563" y="1588861"/>
          <a:ext cx="7227957" cy="4518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FDDDFE0-24A9-8615-9CE4-16E3D0C3E2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1589" y="2083443"/>
            <a:ext cx="2998149" cy="3221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A93968-4040-7EA2-D2D3-3348BE32EA65}"/>
              </a:ext>
            </a:extLst>
          </p:cNvPr>
          <p:cNvSpPr txBox="1"/>
          <p:nvPr/>
        </p:nvSpPr>
        <p:spPr>
          <a:xfrm>
            <a:off x="9499040" y="5305138"/>
            <a:ext cx="20232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dirty="0">
                <a:solidFill>
                  <a:srgbClr val="222222"/>
                </a:solidFill>
                <a:effectLst/>
                <a:latin typeface="Harding"/>
              </a:rPr>
              <a:t>UMAP visualization of the pretrained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Harding"/>
              </a:rPr>
              <a:t>scGPT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Harding"/>
              </a:rPr>
              <a:t> cell embeddings (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Harding"/>
              </a:rPr>
              <a:t>emb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Harding"/>
              </a:rPr>
              <a:t>; a random 10% subset), colored by major cell types</a:t>
            </a:r>
            <a:endParaRPr lang="en-SA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1A0DA-5FF3-A5EF-75F7-81D921B4EB0A}"/>
              </a:ext>
            </a:extLst>
          </p:cNvPr>
          <p:cNvSpPr txBox="1"/>
          <p:nvPr/>
        </p:nvSpPr>
        <p:spPr>
          <a:xfrm>
            <a:off x="1475294" y="6120746"/>
            <a:ext cx="7358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Cui, Haotian, et al. "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scGPT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toward building a foundation model for single-cell multi-omics using generative AI."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21.8 (2024): 1470-1480.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13757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9B34-6F80-A401-6F87-BFFE909E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Enabling Foundation Models: </a:t>
            </a:r>
            <a:br>
              <a:rPr lang="en-US" dirty="0"/>
            </a:br>
            <a:r>
              <a:rPr lang="en-US" dirty="0"/>
              <a:t>Key Breakthroughs in Deep Learning</a:t>
            </a:r>
            <a:endParaRPr lang="en-SA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012B03A-5245-04FC-CCAD-87BAD3E07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6340" y="2364732"/>
            <a:ext cx="10481039" cy="3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3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87C4-D340-182D-3EA4-9D7D80D0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What is a Large Language Model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3CADBD-8891-7D6B-CEBB-59C2DA6FD9FD}"/>
              </a:ext>
            </a:extLst>
          </p:cNvPr>
          <p:cNvSpPr/>
          <p:nvPr/>
        </p:nvSpPr>
        <p:spPr>
          <a:xfrm>
            <a:off x="1315748" y="1589245"/>
            <a:ext cx="6126773" cy="1666189"/>
          </a:xfrm>
          <a:prstGeom prst="roundRect">
            <a:avLst>
              <a:gd name="adj" fmla="val 8772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 Large Language Model (LLM) is 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(Mostly) Transformer-based neural network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Trained on large-scale text (or multimodal)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token probabilities,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(typically) by minimizing cross-entropy loss over tokens</a:t>
            </a:r>
            <a:endParaRPr lang="en-S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7A97A-EB5C-AE4C-D502-7887335A9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10" y="3336481"/>
            <a:ext cx="3343797" cy="31208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65F0A3-D7CD-4FC4-1BB4-709369A8F6ED}"/>
                  </a:ext>
                </a:extLst>
              </p:cNvPr>
              <p:cNvSpPr txBox="1"/>
              <p:nvPr/>
            </p:nvSpPr>
            <p:spPr>
              <a:xfrm>
                <a:off x="1315748" y="3429000"/>
                <a:ext cx="6126772" cy="2860373"/>
              </a:xfrm>
              <a:prstGeom prst="roundRect">
                <a:avLst>
                  <a:gd name="adj" fmla="val 10527"/>
                </a:avLst>
              </a:prstGeom>
              <a:solidFill>
                <a:schemeClr val="accent4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Serves as adaptable starting points for downstream tasks via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A" dirty="0">
                    <a:solidFill>
                      <a:schemeClr val="bg1"/>
                    </a:solidFill>
                  </a:rPr>
                  <a:t>Fine-tuning </a:t>
                </a:r>
                <a:r>
                  <a:rPr lang="en-US" dirty="0">
                    <a:solidFill>
                      <a:schemeClr val="bg1"/>
                    </a:solidFill>
                  </a:rPr>
                  <a:t>(continued training on task-specific data)</a:t>
                </a:r>
                <a:endParaRPr lang="en-SA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Prompting (zero-shot/few-shot inference)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Alignment (RLHF, DPO, etc. to align with human preferences)</a:t>
                </a:r>
              </a:p>
              <a:p>
                <a:endParaRPr lang="en-SA" dirty="0">
                  <a:solidFill>
                    <a:schemeClr val="bg1"/>
                  </a:solidFill>
                </a:endParaRPr>
              </a:p>
              <a:p>
                <a:r>
                  <a:rPr lang="en-SA" dirty="0">
                    <a:solidFill>
                      <a:schemeClr val="bg1"/>
                    </a:solidFill>
                  </a:rPr>
                  <a:t>Mathematically (for auto-regressive models)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𝑙𝑜𝑔𝑃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𝑐𝑜𝑛𝑡𝑒𝑥𝑡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65F0A3-D7CD-4FC4-1BB4-709369A8F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748" y="3429000"/>
                <a:ext cx="6126772" cy="2860373"/>
              </a:xfrm>
              <a:prstGeom prst="roundRect">
                <a:avLst>
                  <a:gd name="adj" fmla="val 10527"/>
                </a:avLst>
              </a:prstGeom>
              <a:blipFill>
                <a:blip r:embed="rId4"/>
                <a:stretch>
                  <a:fillRect b="-42920"/>
                </a:stretch>
              </a:blipFill>
            </p:spPr>
            <p:txBody>
              <a:bodyPr/>
              <a:lstStyle/>
              <a:p>
                <a:r>
                  <a:rPr lang="en-S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The best Large Language Models (LLMs) of 2024 | TechRadar">
            <a:extLst>
              <a:ext uri="{FF2B5EF4-FFF2-40B4-BE49-F238E27FC236}">
                <a16:creationId xmlns:a16="http://schemas.microsoft.com/office/drawing/2014/main" id="{10C02234-233C-F8A8-1855-F13644E9F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733" y="1589245"/>
            <a:ext cx="2962114" cy="166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6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CFD9-B126-8FF9-7610-CCC0BCAF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History of Large Language Models</a:t>
            </a:r>
            <a:endParaRPr lang="en-S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073431-D8CC-75EF-B9E9-23FE34510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700" y="2635555"/>
            <a:ext cx="9372600" cy="248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45342-8B4F-A193-ACBE-64A0C2FE4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5ABB8E-225F-4852-6593-D46C6A02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 Models in Bioinformatics</a:t>
            </a:r>
            <a:endParaRPr lang="en-SA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A60D97-CC56-3C6A-47A2-7697CE5642BA}"/>
              </a:ext>
            </a:extLst>
          </p:cNvPr>
          <p:cNvGrpSpPr/>
          <p:nvPr/>
        </p:nvGrpSpPr>
        <p:grpSpPr>
          <a:xfrm>
            <a:off x="1305854" y="2119492"/>
            <a:ext cx="4801297" cy="1851259"/>
            <a:chOff x="1398874" y="1941281"/>
            <a:chExt cx="4801297" cy="185125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1744C67-5668-2DD1-D460-A8EC8AF156EF}"/>
                </a:ext>
              </a:extLst>
            </p:cNvPr>
            <p:cNvSpPr/>
            <p:nvPr/>
          </p:nvSpPr>
          <p:spPr>
            <a:xfrm>
              <a:off x="1410024" y="2150650"/>
              <a:ext cx="4790147" cy="1641890"/>
            </a:xfrm>
            <a:prstGeom prst="roundRect">
              <a:avLst>
                <a:gd name="adj" fmla="val 8772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600" dirty="0">
                <a:solidFill>
                  <a:schemeClr val="tx1"/>
                </a:solidFill>
              </a:endParaRPr>
            </a:p>
            <a:p>
              <a:r>
                <a:rPr lang="en-US" sz="1600" dirty="0">
                  <a:solidFill>
                    <a:schemeClr val="tx1"/>
                  </a:solidFill>
                </a:rPr>
                <a:t>Foundation Models in Bioinformatics are </a:t>
              </a:r>
              <a:r>
                <a:rPr lang="en-US" sz="1600" dirty="0">
                  <a:solidFill>
                    <a:srgbClr val="7030A0"/>
                  </a:solidFill>
                </a:rPr>
                <a:t>large-scale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machine learning models</a:t>
              </a:r>
              <a:r>
                <a:rPr lang="en-US" sz="1600" dirty="0">
                  <a:solidFill>
                    <a:schemeClr val="tx1"/>
                  </a:solidFill>
                </a:rPr>
                <a:t> trained on </a:t>
              </a:r>
              <a:r>
                <a:rPr lang="en-US" sz="1600" dirty="0">
                  <a:solidFill>
                    <a:srgbClr val="7030A0"/>
                  </a:solidFill>
                </a:rPr>
                <a:t>vast biological datasets (e.g., DNA, protein sequences, single-cell data) </a:t>
              </a:r>
              <a:r>
                <a:rPr lang="en-US" sz="1600" dirty="0">
                  <a:solidFill>
                    <a:schemeClr val="tx1"/>
                  </a:solidFill>
                </a:rPr>
                <a:t>that can be </a:t>
              </a:r>
              <a:r>
                <a:rPr lang="en-US" sz="1600" dirty="0">
                  <a:solidFill>
                    <a:srgbClr val="FF0000"/>
                  </a:solidFill>
                </a:rPr>
                <a:t>adapted to a wide range of downstream tasks</a:t>
              </a:r>
              <a:r>
                <a:rPr lang="en-US" sz="1600" dirty="0">
                  <a:solidFill>
                    <a:schemeClr val="tx1"/>
                  </a:solidFill>
                </a:rPr>
                <a:t> with </a:t>
              </a:r>
              <a:r>
                <a:rPr lang="en-US" sz="1600" dirty="0">
                  <a:solidFill>
                    <a:srgbClr val="7030A0"/>
                  </a:solidFill>
                </a:rPr>
                <a:t>limited additional training</a:t>
              </a:r>
              <a:endParaRPr lang="en-SA" sz="1600" dirty="0">
                <a:solidFill>
                  <a:srgbClr val="7030A0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D83BA80-F826-5FE8-E81D-132D2E1D17A7}"/>
                </a:ext>
              </a:extLst>
            </p:cNvPr>
            <p:cNvSpPr/>
            <p:nvPr/>
          </p:nvSpPr>
          <p:spPr>
            <a:xfrm>
              <a:off x="1398874" y="1941281"/>
              <a:ext cx="2262443" cy="418736"/>
            </a:xfrm>
            <a:prstGeom prst="roundRect">
              <a:avLst>
                <a:gd name="adj" fmla="val 8772"/>
              </a:avLst>
            </a:prstGeom>
            <a:solidFill>
              <a:schemeClr val="tx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SA" dirty="0">
                  <a:solidFill>
                    <a:schemeClr val="bg1"/>
                  </a:solidFill>
                </a:rPr>
                <a:t>Definition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FA54C5-0D67-F637-F45A-7AA1DD2FFD35}"/>
              </a:ext>
            </a:extLst>
          </p:cNvPr>
          <p:cNvGrpSpPr/>
          <p:nvPr/>
        </p:nvGrpSpPr>
        <p:grpSpPr>
          <a:xfrm>
            <a:off x="1295957" y="4097949"/>
            <a:ext cx="4800043" cy="1906750"/>
            <a:chOff x="6266984" y="1941281"/>
            <a:chExt cx="4800043" cy="190675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9D47ECE-5440-8726-912E-934689D2A7CC}"/>
                </a:ext>
              </a:extLst>
            </p:cNvPr>
            <p:cNvSpPr/>
            <p:nvPr/>
          </p:nvSpPr>
          <p:spPr>
            <a:xfrm>
              <a:off x="6276881" y="2150650"/>
              <a:ext cx="4790146" cy="1697381"/>
            </a:xfrm>
            <a:prstGeom prst="roundRect">
              <a:avLst>
                <a:gd name="adj" fmla="val 8772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Courier New" panose="02070309020205020404" pitchFamily="49" charset="0"/>
                <a:buChar char="o"/>
              </a:pPr>
              <a:endParaRPr lang="en-US" sz="1600" dirty="0">
                <a:solidFill>
                  <a:schemeClr val="tx1"/>
                </a:solidFill>
              </a:endParaRP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600" dirty="0">
                  <a:solidFill>
                    <a:schemeClr val="tx1"/>
                  </a:solidFill>
                </a:rPr>
                <a:t>Pre-trained on large, diverse multi-omics data </a:t>
              </a: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600" dirty="0">
                  <a:solidFill>
                    <a:schemeClr val="tx1"/>
                  </a:solidFill>
                </a:rPr>
                <a:t>Self-supervised learning objectives </a:t>
              </a: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600" dirty="0">
                  <a:solidFill>
                    <a:schemeClr val="tx1"/>
                  </a:solidFill>
                </a:rPr>
                <a:t>Capture complex biological patterns and relationships</a:t>
              </a:r>
            </a:p>
            <a:p>
              <a:pPr marL="285750" indent="-285750">
                <a:buFont typeface="Courier New" panose="02070309020205020404" pitchFamily="49" charset="0"/>
                <a:buChar char="o"/>
              </a:pPr>
              <a:r>
                <a:rPr lang="en-US" sz="1600" dirty="0">
                  <a:solidFill>
                    <a:schemeClr val="tx1"/>
                  </a:solidFill>
                </a:rPr>
                <a:t>Diverse applications through transfer learning 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3C94320-6F34-AC47-E581-CA5DF3D1D876}"/>
                </a:ext>
              </a:extLst>
            </p:cNvPr>
            <p:cNvSpPr/>
            <p:nvPr/>
          </p:nvSpPr>
          <p:spPr>
            <a:xfrm>
              <a:off x="6266984" y="1941281"/>
              <a:ext cx="2262443" cy="418736"/>
            </a:xfrm>
            <a:prstGeom prst="roundRect">
              <a:avLst>
                <a:gd name="adj" fmla="val 8772"/>
              </a:avLst>
            </a:prstGeom>
            <a:solidFill>
              <a:schemeClr val="tx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chemeClr val="bg1"/>
                  </a:solidFill>
                </a:rPr>
                <a:t>Key Characteristics</a:t>
              </a:r>
              <a:endParaRPr lang="en-SA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C0B267-0374-C31F-1D8B-DD33D7FE3EE6}"/>
              </a:ext>
            </a:extLst>
          </p:cNvPr>
          <p:cNvGrpSpPr/>
          <p:nvPr/>
        </p:nvGrpSpPr>
        <p:grpSpPr>
          <a:xfrm>
            <a:off x="6379676" y="2119492"/>
            <a:ext cx="5812324" cy="4751034"/>
            <a:chOff x="6379676" y="2119492"/>
            <a:chExt cx="5812324" cy="475103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EBCB2B-B8D2-1D65-521D-6041FB093D71}"/>
                </a:ext>
              </a:extLst>
            </p:cNvPr>
            <p:cNvSpPr txBox="1"/>
            <p:nvPr/>
          </p:nvSpPr>
          <p:spPr>
            <a:xfrm>
              <a:off x="6870613" y="6624305"/>
              <a:ext cx="53213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Guo, Fei, et al. "Foundation models in bioinformatics." National Science Review (2025): nwaf028.</a:t>
              </a:r>
              <a:endParaRPr lang="en-SA" sz="1000" dirty="0"/>
            </a:p>
          </p:txBody>
        </p:sp>
        <p:pic>
          <p:nvPicPr>
            <p:cNvPr id="4098" name="Picture 2" descr="Foundation models in bioinformatics.">
              <a:extLst>
                <a:ext uri="{FF2B5EF4-FFF2-40B4-BE49-F238E27FC236}">
                  <a16:creationId xmlns:a16="http://schemas.microsoft.com/office/drawing/2014/main" id="{3C12D6B3-4355-A83C-7BBD-2E788E6D25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9676" y="2119492"/>
              <a:ext cx="5321387" cy="3346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4960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AE35-D85C-A34D-3FAE-8CE71365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Evolution of Genomic Foundation Models </a:t>
            </a:r>
          </a:p>
        </p:txBody>
      </p:sp>
      <p:pic>
        <p:nvPicPr>
          <p:cNvPr id="6148" name="Picture 4" descr="Evolution of FMs in bioinformatics.">
            <a:extLst>
              <a:ext uri="{FF2B5EF4-FFF2-40B4-BE49-F238E27FC236}">
                <a16:creationId xmlns:a16="http://schemas.microsoft.com/office/drawing/2014/main" id="{8499CE70-09F4-F405-AB40-9A55365F4A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599" y="1659666"/>
            <a:ext cx="6154890" cy="452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F00A467-296D-2DAF-CAF9-430ED53A14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694733"/>
              </p:ext>
            </p:extLst>
          </p:nvPr>
        </p:nvGraphicFramePr>
        <p:xfrm>
          <a:off x="1410026" y="1659665"/>
          <a:ext cx="3824573" cy="4393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44D95DC-C29D-94D0-B5AD-F13019B86976}"/>
              </a:ext>
            </a:extLst>
          </p:cNvPr>
          <p:cNvSpPr txBox="1"/>
          <p:nvPr/>
        </p:nvSpPr>
        <p:spPr>
          <a:xfrm>
            <a:off x="5439545" y="6611779"/>
            <a:ext cx="80154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Chen, Ziyu, Lin Wei, and Ge Gao. "Foundation models for bioinformatics."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Quantitative Biology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12.4 (2024): 339-344.</a:t>
            </a:r>
            <a:endParaRPr lang="en-SA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8A729-E64B-B3BB-EFE9-E9CF870D6984}"/>
              </a:ext>
            </a:extLst>
          </p:cNvPr>
          <p:cNvSpPr txBox="1"/>
          <p:nvPr/>
        </p:nvSpPr>
        <p:spPr>
          <a:xfrm>
            <a:off x="1410025" y="6199078"/>
            <a:ext cx="9371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We will be focusing on genomic foundation models in this workshop</a:t>
            </a:r>
          </a:p>
        </p:txBody>
      </p:sp>
    </p:spTree>
    <p:extLst>
      <p:ext uri="{BB962C8B-B14F-4D97-AF65-F5344CB8AC3E}">
        <p14:creationId xmlns:p14="http://schemas.microsoft.com/office/powerpoint/2010/main" val="340589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77F1-C78C-E787-5CAB-AB70AF4A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025" y="2837217"/>
            <a:ext cx="9371949" cy="118356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SA" sz="4000" dirty="0"/>
              <a:t>Traditional ML vs Genomic Foundation Models</a:t>
            </a:r>
          </a:p>
        </p:txBody>
      </p:sp>
    </p:spTree>
    <p:extLst>
      <p:ext uri="{BB962C8B-B14F-4D97-AF65-F5344CB8AC3E}">
        <p14:creationId xmlns:p14="http://schemas.microsoft.com/office/powerpoint/2010/main" val="412944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62F9-CA61-A5D2-CAF1-CE398A67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Scope: The Fundamental Difference</a:t>
            </a:r>
            <a:r>
              <a:rPr lang="en-SA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BA967-A882-54F2-860E-B94B1EA35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5901" y="2085636"/>
            <a:ext cx="4610099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Traditional ML</a:t>
            </a:r>
          </a:p>
          <a:p>
            <a:r>
              <a:rPr lang="en-US" dirty="0"/>
              <a:t>Usually one model per genomic task</a:t>
            </a:r>
          </a:p>
          <a:p>
            <a:pPr lvl="1"/>
            <a:r>
              <a:rPr lang="en-US" dirty="0"/>
              <a:t>Random Forest for enhancer prediction</a:t>
            </a:r>
          </a:p>
          <a:p>
            <a:pPr lvl="1"/>
            <a:r>
              <a:rPr lang="en-US" dirty="0"/>
              <a:t>CNN for transcription factor (TF) binding site prediction</a:t>
            </a:r>
          </a:p>
          <a:p>
            <a:pPr lvl="1"/>
            <a:r>
              <a:rPr lang="en-US" dirty="0"/>
              <a:t>SVM for gene expression classification</a:t>
            </a:r>
            <a:endParaRPr lang="en-S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0ADA9B-45BC-F2CC-9991-AA24B6AE3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1" y="2085636"/>
            <a:ext cx="4609775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Foundation Models</a:t>
            </a:r>
          </a:p>
          <a:p>
            <a:r>
              <a:rPr lang="en-US" dirty="0"/>
              <a:t>One model for many downstream genomic tasks</a:t>
            </a:r>
          </a:p>
          <a:p>
            <a:pPr lvl="1"/>
            <a:r>
              <a:rPr lang="en-US" dirty="0" err="1"/>
              <a:t>HyenaDNA</a:t>
            </a:r>
            <a:r>
              <a:rPr lang="en-US" dirty="0"/>
              <a:t>: Long-range chromatin profiling and genomic modeling [1]</a:t>
            </a:r>
          </a:p>
          <a:p>
            <a:pPr lvl="1"/>
            <a:r>
              <a:rPr lang="en-US" dirty="0"/>
              <a:t>DNABERT: Local semantic features like promoter prediction and TF binding sites detection [2]</a:t>
            </a:r>
            <a:endParaRPr lang="en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4D19A-6356-25EA-BC1F-20B068D5BD8E}"/>
              </a:ext>
            </a:extLst>
          </p:cNvPr>
          <p:cNvSpPr txBox="1"/>
          <p:nvPr/>
        </p:nvSpPr>
        <p:spPr>
          <a:xfrm>
            <a:off x="1485901" y="4677609"/>
            <a:ext cx="9296074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Key Impact</a:t>
            </a:r>
          </a:p>
          <a:p>
            <a:pPr algn="ctr"/>
            <a:r>
              <a:rPr lang="en-US" sz="2400" dirty="0"/>
              <a:t>Specialized tools → Swiss Army knife</a:t>
            </a:r>
            <a:endParaRPr lang="en-SA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B9749-B92A-DFE6-49CC-CCEDA821715C}"/>
              </a:ext>
            </a:extLst>
          </p:cNvPr>
          <p:cNvSpPr txBox="1"/>
          <p:nvPr/>
        </p:nvSpPr>
        <p:spPr>
          <a:xfrm>
            <a:off x="1410025" y="5694962"/>
            <a:ext cx="9371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GFMs require </a:t>
            </a:r>
            <a:r>
              <a:rPr lang="en-US" b="1" dirty="0">
                <a:solidFill>
                  <a:srgbClr val="C00000"/>
                </a:solidFill>
              </a:rPr>
              <a:t>significant infrastructure and expertise</a:t>
            </a:r>
            <a:r>
              <a:rPr lang="en-US" dirty="0">
                <a:solidFill>
                  <a:srgbClr val="C00000"/>
                </a:solidFill>
              </a:rPr>
              <a:t> to pretrain and serve. A  well-designed SVM or RF model is still practical and efficient for small labs</a:t>
            </a:r>
          </a:p>
        </p:txBody>
      </p:sp>
    </p:spTree>
    <p:extLst>
      <p:ext uri="{BB962C8B-B14F-4D97-AF65-F5344CB8AC3E}">
        <p14:creationId xmlns:p14="http://schemas.microsoft.com/office/powerpoint/2010/main" val="87615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7A82-D25D-907C-7B4B-B914D768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D495-1DD7-20F4-021E-D052C80E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Representation: How Models “See” DNA</a:t>
            </a:r>
            <a:endParaRPr lang="en-S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5B1F0-22F9-DF03-F1CC-3AFACE799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5901" y="2085636"/>
            <a:ext cx="4610099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Traditional ML</a:t>
            </a:r>
          </a:p>
          <a:p>
            <a:r>
              <a:rPr lang="en-US" dirty="0"/>
              <a:t>Hand-crafted biological features</a:t>
            </a:r>
          </a:p>
          <a:p>
            <a:pPr lvl="1"/>
            <a:r>
              <a:rPr lang="en-US" dirty="0"/>
              <a:t>k-</a:t>
            </a:r>
            <a:r>
              <a:rPr lang="en-US" dirty="0" err="1"/>
              <a:t>mers</a:t>
            </a:r>
            <a:r>
              <a:rPr lang="en-US" dirty="0"/>
              <a:t>, GC content, Position Weight Matrix (PWM) scores</a:t>
            </a:r>
          </a:p>
          <a:p>
            <a:pPr lvl="1"/>
            <a:r>
              <a:rPr lang="en-US" dirty="0"/>
              <a:t>Typically, 10–100 dimensions</a:t>
            </a:r>
          </a:p>
          <a:p>
            <a:pPr lvl="1"/>
            <a:r>
              <a:rPr lang="en-US" dirty="0"/>
              <a:t>Requires expert biological knowledge</a:t>
            </a:r>
            <a:endParaRPr lang="en-S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B2FCF4-C32D-FA6D-B486-80663EEF6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1" y="2085636"/>
            <a:ext cx="4609775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Foundation Models</a:t>
            </a:r>
          </a:p>
          <a:p>
            <a:r>
              <a:rPr lang="en-US" dirty="0"/>
              <a:t>Learned sequence embeddings</a:t>
            </a:r>
          </a:p>
          <a:p>
            <a:pPr lvl="1"/>
            <a:r>
              <a:rPr lang="en-US" dirty="0"/>
              <a:t>Context-aware, position-informed representations</a:t>
            </a:r>
          </a:p>
          <a:p>
            <a:pPr lvl="1"/>
            <a:r>
              <a:rPr lang="en-US" dirty="0"/>
              <a:t>512–4096+ dimensional dense vectors</a:t>
            </a:r>
          </a:p>
          <a:p>
            <a:pPr lvl="1"/>
            <a:r>
              <a:rPr lang="en-US" dirty="0"/>
              <a:t>Automatically learns hierarchical patterns (e.g., motif grammar, regulatory syntax)"</a:t>
            </a:r>
            <a:endParaRPr lang="en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0CF65-73F3-F971-EFDC-FC943C3C618D}"/>
              </a:ext>
            </a:extLst>
          </p:cNvPr>
          <p:cNvSpPr txBox="1"/>
          <p:nvPr/>
        </p:nvSpPr>
        <p:spPr>
          <a:xfrm>
            <a:off x="1410026" y="4828908"/>
            <a:ext cx="9296074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Key Impact</a:t>
            </a:r>
          </a:p>
          <a:p>
            <a:pPr algn="ctr"/>
            <a:r>
              <a:rPr lang="en-US" sz="2400" dirty="0"/>
              <a:t>Humans design features → AI discovers patterns</a:t>
            </a:r>
            <a:endParaRPr lang="en-SA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C2499-4A88-6581-B713-C1745406A1C2}"/>
              </a:ext>
            </a:extLst>
          </p:cNvPr>
          <p:cNvSpPr txBox="1"/>
          <p:nvPr/>
        </p:nvSpPr>
        <p:spPr>
          <a:xfrm>
            <a:off x="1447963" y="5811205"/>
            <a:ext cx="9371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Supervised Deep Learning (e.g., CNNs) also learns features, but they are task-specific. Foundation Models learn universal representations applicable to many tasks</a:t>
            </a:r>
          </a:p>
        </p:txBody>
      </p:sp>
    </p:spTree>
    <p:extLst>
      <p:ext uri="{BB962C8B-B14F-4D97-AF65-F5344CB8AC3E}">
        <p14:creationId xmlns:p14="http://schemas.microsoft.com/office/powerpoint/2010/main" val="303448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D77A-D910-0D89-7C3B-779EBABB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F394-E02A-FC96-6B14-C6F3146B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 strategy: Annotation to Computation</a:t>
            </a:r>
            <a:endParaRPr lang="en-S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A625A-F81F-C2C9-DCA6-8F57AFDE0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5901" y="2085636"/>
            <a:ext cx="4610099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Traditional ML</a:t>
            </a:r>
          </a:p>
          <a:p>
            <a:r>
              <a:rPr lang="en-US" dirty="0"/>
              <a:t>Labeled data bottleneck</a:t>
            </a:r>
          </a:p>
          <a:p>
            <a:pPr lvl="1"/>
            <a:r>
              <a:rPr lang="en-US" dirty="0"/>
              <a:t>Supervised training needs curated annotations per task</a:t>
            </a:r>
          </a:p>
          <a:p>
            <a:pPr lvl="1"/>
            <a:r>
              <a:rPr lang="en-US" dirty="0"/>
              <a:t>Difficult to scale across tissues/species</a:t>
            </a:r>
          </a:p>
          <a:p>
            <a:pPr lvl="1"/>
            <a:r>
              <a:rPr lang="en-US" dirty="0"/>
              <a:t>Suffers from class imbalance (e.g., rare enhancer vs. background)</a:t>
            </a:r>
            <a:endParaRPr lang="en-S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263546-F7EE-1441-8519-B54F635BC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1" y="2085636"/>
            <a:ext cx="4609775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Foundation Models</a:t>
            </a:r>
          </a:p>
          <a:p>
            <a:r>
              <a:rPr lang="en-US" dirty="0"/>
              <a:t>Unlabeled data advantage</a:t>
            </a:r>
          </a:p>
          <a:p>
            <a:pPr lvl="1"/>
            <a:r>
              <a:rPr lang="en-US" dirty="0"/>
              <a:t>Self-supervised learning (Masked Language Modeling)</a:t>
            </a:r>
          </a:p>
          <a:p>
            <a:pPr lvl="1"/>
            <a:r>
              <a:rPr lang="en-US" dirty="0"/>
              <a:t>Can pretrain on entire genome sequences</a:t>
            </a:r>
          </a:p>
          <a:p>
            <a:pPr lvl="1"/>
            <a:r>
              <a:rPr lang="en-US" dirty="0"/>
              <a:t>Fine-tuning requires relatively smaller labeled data (few-shot learning)</a:t>
            </a:r>
            <a:endParaRPr lang="en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3790D-E47D-3211-4054-C3816E5B4803}"/>
              </a:ext>
            </a:extLst>
          </p:cNvPr>
          <p:cNvSpPr txBox="1"/>
          <p:nvPr/>
        </p:nvSpPr>
        <p:spPr>
          <a:xfrm>
            <a:off x="1485901" y="4980208"/>
            <a:ext cx="9296074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Key Impact</a:t>
            </a:r>
          </a:p>
          <a:p>
            <a:pPr algn="ctr"/>
            <a:r>
              <a:rPr lang="en-US" sz="2400" dirty="0"/>
              <a:t>Annotation-hungry → Raw sequence-powered</a:t>
            </a:r>
            <a:endParaRPr lang="en-SA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96B40-80CE-2522-58F2-C6467EA40FF1}"/>
              </a:ext>
            </a:extLst>
          </p:cNvPr>
          <p:cNvSpPr txBox="1"/>
          <p:nvPr/>
        </p:nvSpPr>
        <p:spPr>
          <a:xfrm>
            <a:off x="1485902" y="5935582"/>
            <a:ext cx="9296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Larger data processing usually requires larger infrastructure and may not be practical for most research labs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417572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D7E3-471F-7311-0FE9-0132B326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04B8-5A4E-D474-D504-4C651B24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Transfer Learning: Knowledge Sharing Across Contexts</a:t>
            </a:r>
            <a:endParaRPr lang="en-S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8716A-4005-8883-4C4F-8C87B4D5F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5901" y="2085636"/>
            <a:ext cx="4610099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Traditional ML</a:t>
            </a:r>
          </a:p>
          <a:p>
            <a:r>
              <a:rPr lang="en-US" dirty="0"/>
              <a:t>Context-locked models</a:t>
            </a:r>
          </a:p>
          <a:p>
            <a:pPr lvl="1"/>
            <a:r>
              <a:rPr lang="en-US" dirty="0"/>
              <a:t>Trained separately per tissue, cell type, or species</a:t>
            </a:r>
          </a:p>
          <a:p>
            <a:pPr lvl="1"/>
            <a:r>
              <a:rPr lang="en-US" dirty="0"/>
              <a:t>No transferability; each new context = new model</a:t>
            </a:r>
          </a:p>
          <a:p>
            <a:pPr lvl="1"/>
            <a:r>
              <a:rPr lang="en-US" dirty="0"/>
              <a:t>Computationally and manually intensive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9A13EC-0864-853E-2B09-2C6148951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1" y="2085636"/>
            <a:ext cx="4609775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Foundation Models</a:t>
            </a:r>
          </a:p>
          <a:p>
            <a:r>
              <a:rPr lang="en-US" dirty="0"/>
              <a:t>Cross-context generalization</a:t>
            </a:r>
          </a:p>
          <a:p>
            <a:pPr lvl="1"/>
            <a:r>
              <a:rPr lang="en-US" dirty="0"/>
              <a:t>Pretrained representations work across human, mouse, plant genomes</a:t>
            </a:r>
          </a:p>
          <a:p>
            <a:pPr lvl="1"/>
            <a:r>
              <a:rPr lang="en-US" dirty="0"/>
              <a:t>Learns universal regulatory syntax (e.g., motif logic) shared across evolution</a:t>
            </a:r>
          </a:p>
          <a:p>
            <a:pPr lvl="1"/>
            <a:r>
              <a:rPr lang="en-US" dirty="0"/>
              <a:t>Supports zero-shot or few-shot transfer</a:t>
            </a:r>
            <a:endParaRPr lang="en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75811-AAF6-B430-DCAF-2872D41D5A02}"/>
              </a:ext>
            </a:extLst>
          </p:cNvPr>
          <p:cNvSpPr txBox="1"/>
          <p:nvPr/>
        </p:nvSpPr>
        <p:spPr>
          <a:xfrm>
            <a:off x="1485901" y="4828908"/>
            <a:ext cx="9296074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Key Impact</a:t>
            </a:r>
          </a:p>
          <a:p>
            <a:pPr algn="ctr"/>
            <a:r>
              <a:rPr lang="en-US" sz="2400" dirty="0"/>
              <a:t>Isolated Knowledge → Sharing Knowledge</a:t>
            </a:r>
            <a:endParaRPr lang="en-SA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9953E-AEBB-CC41-8D9D-AFB7D941DC9D}"/>
              </a:ext>
            </a:extLst>
          </p:cNvPr>
          <p:cNvSpPr txBox="1"/>
          <p:nvPr/>
        </p:nvSpPr>
        <p:spPr>
          <a:xfrm>
            <a:off x="1485901" y="5811205"/>
            <a:ext cx="9296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While traditional transfer learning relied heavily on </a:t>
            </a:r>
            <a:r>
              <a:rPr lang="en-US" b="1" dirty="0">
                <a:solidFill>
                  <a:srgbClr val="C00000"/>
                </a:solidFill>
              </a:rPr>
              <a:t>feature reuse,</a:t>
            </a:r>
            <a:r>
              <a:rPr lang="en-US" dirty="0">
                <a:solidFill>
                  <a:srgbClr val="C00000"/>
                </a:solidFill>
              </a:rPr>
              <a:t> foundation Models enable </a:t>
            </a:r>
            <a:r>
              <a:rPr lang="en-US" b="1" dirty="0">
                <a:solidFill>
                  <a:srgbClr val="C00000"/>
                </a:solidFill>
              </a:rPr>
              <a:t>model reuse</a:t>
            </a:r>
            <a:r>
              <a:rPr lang="en-US" dirty="0">
                <a:solidFill>
                  <a:srgbClr val="C00000"/>
                </a:solidFill>
              </a:rPr>
              <a:t> via fine-tuning &amp; prompting</a:t>
            </a:r>
          </a:p>
        </p:txBody>
      </p:sp>
    </p:spTree>
    <p:extLst>
      <p:ext uri="{BB962C8B-B14F-4D97-AF65-F5344CB8AC3E}">
        <p14:creationId xmlns:p14="http://schemas.microsoft.com/office/powerpoint/2010/main" val="64934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F882-6110-1F57-A58E-D6430275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394C-CF1B-CF80-DF32-F7F0257B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Scalability: Handling Genomic Scale</a:t>
            </a:r>
            <a:endParaRPr lang="en-S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58A-77F2-0712-07B9-D8F69379F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5901" y="2085636"/>
            <a:ext cx="4610099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Traditional ML</a:t>
            </a:r>
          </a:p>
          <a:p>
            <a:r>
              <a:rPr lang="en-US" dirty="0"/>
              <a:t>Computational limitations</a:t>
            </a:r>
          </a:p>
          <a:p>
            <a:pPr lvl="1"/>
            <a:r>
              <a:rPr lang="en-US" dirty="0"/>
              <a:t>Performance usually stagnates with large datasets</a:t>
            </a:r>
          </a:p>
          <a:p>
            <a:pPr lvl="1"/>
            <a:r>
              <a:rPr lang="en-US" dirty="0"/>
              <a:t>Manual feature engineering doesn’t scale</a:t>
            </a:r>
          </a:p>
          <a:p>
            <a:pPr lvl="1"/>
            <a:r>
              <a:rPr lang="en-US" dirty="0"/>
              <a:t>Typically handles short sequences (≤1000 bp). Examples are SVM, RF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C8789F-378B-B3D5-D329-F796F7789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1" y="2085636"/>
            <a:ext cx="4609775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Foundation Models</a:t>
            </a:r>
          </a:p>
          <a:p>
            <a:r>
              <a:rPr lang="en-US" dirty="0"/>
              <a:t>Genome-scale distributed learning</a:t>
            </a:r>
          </a:p>
          <a:p>
            <a:pPr lvl="1"/>
            <a:r>
              <a:rPr lang="en-US" dirty="0"/>
              <a:t>Uses transformer or efficient variants (e.g., Hyena, Mamba)</a:t>
            </a:r>
          </a:p>
          <a:p>
            <a:pPr lvl="1"/>
            <a:r>
              <a:rPr lang="en-US" dirty="0"/>
              <a:t>Trained on full chromosomes (up to millions of base pairs)</a:t>
            </a:r>
          </a:p>
          <a:p>
            <a:pPr lvl="1"/>
            <a:r>
              <a:rPr lang="en-US" dirty="0"/>
              <a:t>Supports multi-GPU and TPUs for scaling</a:t>
            </a:r>
            <a:endParaRPr lang="en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6FCBE8-4325-8A57-A880-7465DA7A13C3}"/>
              </a:ext>
            </a:extLst>
          </p:cNvPr>
          <p:cNvSpPr txBox="1"/>
          <p:nvPr/>
        </p:nvSpPr>
        <p:spPr>
          <a:xfrm>
            <a:off x="1485901" y="4765430"/>
            <a:ext cx="9296074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Key Impact</a:t>
            </a:r>
          </a:p>
          <a:p>
            <a:pPr algn="ctr"/>
            <a:r>
              <a:rPr lang="en-US" sz="2400" dirty="0"/>
              <a:t>Hits ceiling quickly → Scales with genomic complexity</a:t>
            </a:r>
            <a:endParaRPr lang="en-SA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F7531-7EED-29F9-B822-01E68B8B09B4}"/>
              </a:ext>
            </a:extLst>
          </p:cNvPr>
          <p:cNvSpPr txBox="1"/>
          <p:nvPr/>
        </p:nvSpPr>
        <p:spPr>
          <a:xfrm>
            <a:off x="1485901" y="5790616"/>
            <a:ext cx="9296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Traditional ML models can </a:t>
            </a:r>
            <a:r>
              <a:rPr lang="en-US" b="1" dirty="0">
                <a:solidFill>
                  <a:srgbClr val="C00000"/>
                </a:solidFill>
              </a:rPr>
              <a:t>outperform GFMs</a:t>
            </a:r>
            <a:r>
              <a:rPr lang="en-US" dirty="0">
                <a:solidFill>
                  <a:srgbClr val="C00000"/>
                </a:solidFill>
              </a:rPr>
              <a:t> in limited data or narrow biological task cases. GFM may overfit or under-perform on small tasks</a:t>
            </a:r>
          </a:p>
        </p:txBody>
      </p:sp>
    </p:spTree>
    <p:extLst>
      <p:ext uri="{BB962C8B-B14F-4D97-AF65-F5344CB8AC3E}">
        <p14:creationId xmlns:p14="http://schemas.microsoft.com/office/powerpoint/2010/main" val="55248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5BCD-8824-A9E7-E8FD-54D93296A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D4DC-B212-768D-8CF7-A3252EB0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Biological Insight: Interpretability vs Discovery Trade-off</a:t>
            </a:r>
            <a:endParaRPr lang="en-S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73542-D357-C50F-0B96-AD59E22AA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5901" y="2085636"/>
            <a:ext cx="4610099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Traditional ML</a:t>
            </a:r>
          </a:p>
          <a:p>
            <a:r>
              <a:rPr lang="en-US" dirty="0"/>
              <a:t>Explicit interpretability</a:t>
            </a:r>
          </a:p>
          <a:p>
            <a:pPr lvl="1"/>
            <a:r>
              <a:rPr lang="en-US" dirty="0"/>
              <a:t>Feature importance scores are straightforward</a:t>
            </a:r>
          </a:p>
          <a:p>
            <a:pPr lvl="1"/>
            <a:r>
              <a:rPr lang="en-US" dirty="0"/>
              <a:t>Model coefficients and tree structures are inspectable</a:t>
            </a:r>
          </a:p>
          <a:p>
            <a:pPr lvl="1"/>
            <a:r>
              <a:rPr lang="en-US" dirty="0"/>
              <a:t>Easy to trace to known motifs and biological mechanisms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04C9F6-0ECC-8433-19A6-260203556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1" y="2085636"/>
            <a:ext cx="4609775" cy="25919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Foundation Models</a:t>
            </a:r>
          </a:p>
          <a:p>
            <a:r>
              <a:rPr lang="en-US" dirty="0"/>
              <a:t>Emergent understanding</a:t>
            </a:r>
          </a:p>
          <a:p>
            <a:pPr lvl="1"/>
            <a:r>
              <a:rPr lang="en-US" dirty="0"/>
              <a:t>Learns regulatory syntax</a:t>
            </a:r>
          </a:p>
          <a:p>
            <a:pPr lvl="1"/>
            <a:r>
              <a:rPr lang="en-US" dirty="0"/>
              <a:t>Identifies unknown long-range dependencies</a:t>
            </a:r>
          </a:p>
          <a:p>
            <a:pPr lvl="1"/>
            <a:r>
              <a:rPr lang="en-US" dirty="0"/>
              <a:t>Less transparent, but deeper insight when probed (e.g., attention)</a:t>
            </a:r>
            <a:endParaRPr lang="en-S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CD9A9-A922-BE15-E6F4-1ABA3224B97F}"/>
              </a:ext>
            </a:extLst>
          </p:cNvPr>
          <p:cNvSpPr txBox="1"/>
          <p:nvPr/>
        </p:nvSpPr>
        <p:spPr>
          <a:xfrm>
            <a:off x="1485901" y="4980208"/>
            <a:ext cx="9296074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Key Impact</a:t>
            </a:r>
          </a:p>
          <a:p>
            <a:pPr algn="ctr"/>
            <a:r>
              <a:rPr lang="en-US" sz="2400" dirty="0"/>
              <a:t>Explains the known → Discovers the unknown</a:t>
            </a:r>
            <a:endParaRPr lang="en-SA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8C805-1F13-2B82-7486-2304C32E20D7}"/>
              </a:ext>
            </a:extLst>
          </p:cNvPr>
          <p:cNvSpPr txBox="1"/>
          <p:nvPr/>
        </p:nvSpPr>
        <p:spPr>
          <a:xfrm>
            <a:off x="1485901" y="5929138"/>
            <a:ext cx="9296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Interpretability remains the </a:t>
            </a:r>
            <a:r>
              <a:rPr lang="en-US" b="1" dirty="0">
                <a:solidFill>
                  <a:srgbClr val="C00000"/>
                </a:solidFill>
              </a:rPr>
              <a:t>trust bottleneck</a:t>
            </a:r>
            <a:r>
              <a:rPr lang="en-US" dirty="0">
                <a:solidFill>
                  <a:srgbClr val="C00000"/>
                </a:solidFill>
              </a:rPr>
              <a:t> for clinical adoption, despite the power of discovery</a:t>
            </a:r>
          </a:p>
        </p:txBody>
      </p:sp>
    </p:spTree>
    <p:extLst>
      <p:ext uri="{BB962C8B-B14F-4D97-AF65-F5344CB8AC3E}">
        <p14:creationId xmlns:p14="http://schemas.microsoft.com/office/powerpoint/2010/main" val="153505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D490-FBAC-0C58-B36A-75967E28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Quick Check: Biological Foundation Models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9A114-B1B6-5C4D-F08B-50E6DAF3C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What is the primary advantage of biological foundation models over traditional task-specific models?</a:t>
            </a:r>
          </a:p>
          <a:p>
            <a:endParaRPr lang="en-US" sz="2400" dirty="0"/>
          </a:p>
          <a:p>
            <a:pPr marL="283464" lvl="1" indent="0">
              <a:buNone/>
            </a:pPr>
            <a:r>
              <a:rPr lang="en-US" sz="2000" dirty="0"/>
              <a:t>A. They require less computational resources</a:t>
            </a:r>
          </a:p>
          <a:p>
            <a:pPr marL="283464" lvl="1" indent="0">
              <a:buNone/>
            </a:pPr>
            <a:r>
              <a:rPr lang="en-US" sz="2000" dirty="0"/>
              <a:t>B. They eliminate the need for labeled data entirely</a:t>
            </a:r>
          </a:p>
          <a:p>
            <a:pPr marL="283464" lvl="1" indent="0">
              <a:buNone/>
            </a:pPr>
            <a:r>
              <a:rPr lang="en-US" sz="2000" dirty="0"/>
              <a:t>C. They learn rich representations transferable to multiple tasks</a:t>
            </a:r>
          </a:p>
          <a:p>
            <a:pPr marL="283464" lvl="1" indent="0">
              <a:buNone/>
            </a:pPr>
            <a:r>
              <a:rPr lang="en-US" sz="2000" dirty="0"/>
              <a:t>D. They are always more accurate than specialized models</a:t>
            </a:r>
          </a:p>
          <a:p>
            <a:pPr lvl="1"/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0FA3F-19A8-3B61-D66C-B94AD45971E3}"/>
              </a:ext>
            </a:extLst>
          </p:cNvPr>
          <p:cNvSpPr txBox="1"/>
          <p:nvPr/>
        </p:nvSpPr>
        <p:spPr>
          <a:xfrm>
            <a:off x="1410025" y="4691834"/>
            <a:ext cx="9007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C. They learn rich representations transferable to multiple tasks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Foundation models learn generalizable representations from large amounts of data that can be efficiently adapted to multiple downstream tasks through fine-tuning, reducing the need for task-specific data collection and annotation.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14825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C300-68DB-DDDE-D868-80F19A4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Biological Applications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D11338-46C7-3A84-8198-0FD7EF95A1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408404"/>
              </p:ext>
            </p:extLst>
          </p:nvPr>
        </p:nvGraphicFramePr>
        <p:xfrm>
          <a:off x="1409700" y="1565275"/>
          <a:ext cx="93726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F38A0E-78D1-5D0A-8609-78373DCCA3F5}"/>
              </a:ext>
            </a:extLst>
          </p:cNvPr>
          <p:cNvSpPr txBox="1"/>
          <p:nvPr/>
        </p:nvSpPr>
        <p:spPr>
          <a:xfrm>
            <a:off x="1409700" y="6168999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Guo, Fei, et al. "Foundation models in bioinformatics."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National Science Review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(2025): nwaf028.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338763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4FB0-26A8-48EB-EDFC-4ED02685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Impact: Case Studies</a:t>
            </a:r>
            <a:endParaRPr lang="en-SA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D7DE5E5-8EA3-6353-4F26-C9A416056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15646"/>
              </p:ext>
            </p:extLst>
          </p:nvPr>
        </p:nvGraphicFramePr>
        <p:xfrm>
          <a:off x="1409700" y="1565275"/>
          <a:ext cx="93726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2E5AFF8-0356-3555-42D9-FC4B01E4386A}"/>
              </a:ext>
            </a:extLst>
          </p:cNvPr>
          <p:cNvSpPr txBox="1"/>
          <p:nvPr/>
        </p:nvSpPr>
        <p:spPr>
          <a:xfrm>
            <a:off x="1409700" y="6140188"/>
            <a:ext cx="963238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Ji, </a:t>
            </a:r>
            <a:r>
              <a:rPr lang="en-US" sz="1000" dirty="0" err="1"/>
              <a:t>Yanrong</a:t>
            </a:r>
            <a:r>
              <a:rPr lang="en-US" sz="1000" dirty="0"/>
              <a:t>, et al. "DNABERT: pre-trained Bidirectional Encoder Representations from Transformers model for DNA-language in genome." Bioinformatics 37.15 (2021): 2112-2120.</a:t>
            </a:r>
          </a:p>
          <a:p>
            <a:r>
              <a:rPr lang="en-US" sz="1000" dirty="0"/>
              <a:t>Huang, Kexin, et al. "A foundation model for clinician-centered drug repurposing." Nature Medicine 30.12 (2024): 3601-3613.</a:t>
            </a:r>
          </a:p>
          <a:p>
            <a:r>
              <a:rPr lang="en-US" sz="1000" dirty="0" err="1"/>
              <a:t>Theodoris</a:t>
            </a:r>
            <a:r>
              <a:rPr lang="en-US" sz="1000" dirty="0"/>
              <a:t>, Christina V., et al. "Transfer learning enables predictions in network biology." Nature 618.7965 (2023): 616-624.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207779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B83A-EE41-227F-41A0-EEC7EEC8B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8067-16C5-8D5E-670F-51445637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Quick Check: Genomic Foundation Models Applications</a:t>
            </a:r>
            <a:endParaRPr lang="en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9B296-59D8-FED9-74B7-CBE83F775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Which of these applications would benefit MOST from the long-range dependency modeling capabilities of genomic foundation models?</a:t>
            </a:r>
          </a:p>
          <a:p>
            <a:endParaRPr lang="en-US" sz="2400" dirty="0"/>
          </a:p>
          <a:p>
            <a:pPr marL="283464" lvl="1" indent="0">
              <a:buNone/>
            </a:pPr>
            <a:r>
              <a:rPr lang="en-US" sz="2000" dirty="0"/>
              <a:t>A. SNP genotyping</a:t>
            </a:r>
          </a:p>
          <a:p>
            <a:pPr marL="283464" lvl="1" indent="0">
              <a:buNone/>
            </a:pPr>
            <a:r>
              <a:rPr lang="en-US" sz="2000" dirty="0"/>
              <a:t>B. Enhancer-promoter interaction prediction</a:t>
            </a:r>
          </a:p>
          <a:p>
            <a:pPr marL="283464" lvl="1" indent="0">
              <a:buNone/>
            </a:pPr>
            <a:r>
              <a:rPr lang="en-US" sz="2000" dirty="0"/>
              <a:t>C. Basic sequence alignment</a:t>
            </a:r>
          </a:p>
          <a:p>
            <a:pPr marL="283464" lvl="1" indent="0">
              <a:buNone/>
            </a:pPr>
            <a:r>
              <a:rPr lang="en-US" sz="2000" dirty="0"/>
              <a:t>D. Simple gene counting</a:t>
            </a: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305E6-52A1-BA5C-A020-89D3B35AD512}"/>
              </a:ext>
            </a:extLst>
          </p:cNvPr>
          <p:cNvSpPr txBox="1"/>
          <p:nvPr/>
        </p:nvSpPr>
        <p:spPr>
          <a:xfrm>
            <a:off x="1410025" y="4691834"/>
            <a:ext cx="9007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b="1" i="0" dirty="0">
                <a:solidFill>
                  <a:srgbClr val="00B050"/>
                </a:solidFill>
                <a:effectLst/>
                <a:latin typeface="Segoe UI" panose="020B0502040204020203" pitchFamily="34" charset="0"/>
              </a:rPr>
              <a:t>Answer: </a:t>
            </a:r>
            <a:r>
              <a:rPr lang="en-US" b="1" dirty="0">
                <a:solidFill>
                  <a:srgbClr val="00B050"/>
                </a:solidFill>
                <a:latin typeface="Segoe UI" panose="020B0502040204020203" pitchFamily="34" charset="0"/>
              </a:rPr>
              <a:t>B. Enhancer-promoter interaction prediction</a:t>
            </a:r>
            <a:endParaRPr lang="en-US" b="1" i="0" dirty="0">
              <a:solidFill>
                <a:srgbClr val="00B050"/>
              </a:solidFill>
              <a:effectLst/>
              <a:latin typeface="Segoe UI" panose="020B0502040204020203" pitchFamily="34" charset="0"/>
            </a:endParaRPr>
          </a:p>
          <a:p>
            <a:pPr lvl="0">
              <a:defRPr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Enhancer-promoter distance can vary significantly, ranging from a few hundred base pairs to several million base pairs. Traditional models (like CNNs or RNNs) struggle to connect distant genomic elements due to limited receptive fields.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94059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3B7158-8FBF-9AC7-DCE5-9AD20D93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SA" dirty="0"/>
              <a:t>Questions &amp; Comments</a:t>
            </a:r>
          </a:p>
        </p:txBody>
      </p:sp>
    </p:spTree>
    <p:extLst>
      <p:ext uri="{BB962C8B-B14F-4D97-AF65-F5344CB8AC3E}">
        <p14:creationId xmlns:p14="http://schemas.microsoft.com/office/powerpoint/2010/main" val="53824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DCB1-728B-F4E1-8F1E-492D566C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4551-A438-8915-5098-D3C1E366A0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252A2-A72A-9AED-9582-DB42E1121E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17450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06BB-DDB8-95E8-CF8B-CA3BD931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ML vs Genomic Foundations Models</a:t>
            </a:r>
            <a:endParaRPr lang="en-S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4DD0B6D-51D0-B44C-87D8-34B311536D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81022350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849146068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269882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Concept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Traditional ML in Genomics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Genomic Foundation Models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867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Model Scope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Task-specific models trained independently for each application (e.g., random forests for enhancer prediction, CNNs for TF binding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Pretrained general-purpose models transferable across tasks and contexts (e.g., </a:t>
                      </a:r>
                      <a:r>
                        <a:rPr lang="en-US" sz="1200" dirty="0" err="1"/>
                        <a:t>HyenaDNA</a:t>
                      </a:r>
                      <a:r>
                        <a:rPr lang="en-US" sz="1200" dirty="0"/>
                        <a:t> for Chromatin Profile Prediction and Species classification)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258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Feature Representation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Manual or shallow features (e.g., k-</a:t>
                      </a:r>
                      <a:r>
                        <a:rPr lang="en-US" sz="1200" dirty="0" err="1"/>
                        <a:t>mers</a:t>
                      </a:r>
                      <a:r>
                        <a:rPr lang="en-US" sz="1200" dirty="0"/>
                        <a:t>, GC content, PWM motif scores)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High-dimensional, context-aware sequence embeddings from genomic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16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Data Requirements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Requires labeled datasets per task; often constrained by annotation availability and class imbalance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Leverages large-scale unlabeled sequence data via self-supervised learning; needs minimal labeled data for 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9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Transferability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Limited to trained context (e.g., one tissue, one species); retraining needed for new tasks.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Cross-context generalization across cell types, tissues, and even species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409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Scalability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Computationally bounded; performance often plateaus without task-specific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Scales to full-genome or multi-modal modeling using distributed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528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Biological Insight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Interpretation via model coefficients, feature importance, or motif matches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Embeddings uncover regulatory logic, long-range interactions, and evolutionary 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72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16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EC9E49B7-4EF5-484D-A5C3-E44E8A0091EA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18307F-863E-465D-9426-B14DA0CBD25E}">
  <ds:schemaRefs>
    <ds:schemaRef ds:uri="http://schemas.microsoft.com/sharepoint/v3"/>
    <ds:schemaRef ds:uri="16c05727-aa75-4e4a-9b5f-8a80a1165891"/>
    <ds:schemaRef ds:uri="http://schemas.microsoft.com/office/2006/metadata/properties"/>
    <ds:schemaRef ds:uri="http://www.w3.org/XML/1998/namespace"/>
    <ds:schemaRef ds:uri="230e9df3-be65-4c73-a93b-d1236ebd677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8F2847D-96C7-4634-93AB-D232DDB6E5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4F6EFD-5A76-4C77-A0A3-4BA9EAEE14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23648</TotalTime>
  <Words>2094</Words>
  <Application>Microsoft Macintosh PowerPoint</Application>
  <PresentationFormat>Widescreen</PresentationFormat>
  <Paragraphs>240</Paragraphs>
  <Slides>21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Cambria Math</vt:lpstr>
      <vt:lpstr>Corbel</vt:lpstr>
      <vt:lpstr>Courier New</vt:lpstr>
      <vt:lpstr>Harding</vt:lpstr>
      <vt:lpstr>Segoe UI</vt:lpstr>
      <vt:lpstr>Custom</vt:lpstr>
      <vt:lpstr>Introduction to Genomic Foundation Models</vt:lpstr>
      <vt:lpstr>Agenda</vt:lpstr>
      <vt:lpstr>Enabling Foundation Models:  Key Breakthroughs in Deep Learning</vt:lpstr>
      <vt:lpstr>What is a Large Language Model</vt:lpstr>
      <vt:lpstr>Brief History of Large Language Models</vt:lpstr>
      <vt:lpstr>Foundation Models in Bioinformatics</vt:lpstr>
      <vt:lpstr>Evolution of Genomic Foundation Models </vt:lpstr>
      <vt:lpstr>Traditional ML vs Genomic Foundation Models</vt:lpstr>
      <vt:lpstr>Model Scope: The Fundamental Difference </vt:lpstr>
      <vt:lpstr>Feature Representation: How Models “See” DNA</vt:lpstr>
      <vt:lpstr>Training strategy: Annotation to Computation</vt:lpstr>
      <vt:lpstr>Transfer Learning: Knowledge Sharing Across Contexts</vt:lpstr>
      <vt:lpstr>Scalability: Handling Genomic Scale</vt:lpstr>
      <vt:lpstr>Biological Insight: Interpretability vs Discovery Trade-off</vt:lpstr>
      <vt:lpstr>Quick Check: Biological Foundation Models</vt:lpstr>
      <vt:lpstr>Key Biological Applications</vt:lpstr>
      <vt:lpstr>Research Impact: Case Studies</vt:lpstr>
      <vt:lpstr>Quick Check: Genomic Foundation Models Applications</vt:lpstr>
      <vt:lpstr>Questions &amp; Comments</vt:lpstr>
      <vt:lpstr>PowerPoint Presentation</vt:lpstr>
      <vt:lpstr>Traditional ML vs Genomic Foundations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Ikram Ullah</cp:lastModifiedBy>
  <cp:revision>757</cp:revision>
  <cp:lastPrinted>2025-05-18T13:30:56Z</cp:lastPrinted>
  <dcterms:created xsi:type="dcterms:W3CDTF">2025-04-08T12:26:15Z</dcterms:created>
  <dcterms:modified xsi:type="dcterms:W3CDTF">2026-02-10T12:44:30Z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